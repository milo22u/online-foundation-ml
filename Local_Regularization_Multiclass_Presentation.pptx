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notesMasterIdLst>
    <p:notesMasterId r:id="rId2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24" Type="http://schemas.openxmlformats.org/officeDocument/2006/relationships/viewProps" Target="viewProps.xml"/><Relationship Id="rId25" Type="http://schemas.openxmlformats.org/officeDocument/2006/relationships/theme" Target="theme/theme1.xml"/><Relationship Id="rId2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image" Target="../media/image-18-3.png"/><Relationship Id="rId4" Type="http://schemas.openxmlformats.org/officeDocument/2006/relationships/image" Target="../media/image-1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Shape 1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548640"/>
            <a:ext cx="21945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COLT 2024 — OPEN PROBLEM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640080" y="1280160"/>
            <a:ext cx="777240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Can Local Regularization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Learn All Multiclass Problems?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640080" y="2926080"/>
            <a:ext cx="22860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2004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B0B8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Julian Asilis  •  Siddartha Devic  •  Shaddin Dughmi  •  Vatsal Sharan  •  Shang-Hua Teng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3749040"/>
            <a:ext cx="7772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i="1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40080" y="443484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Proceedings of Machine Learning Research, Vol. 196, 2024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Presentation Outline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280160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280160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868680" y="1280160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417320"/>
            <a:ext cx="320040" cy="32004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74520" y="1298448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Motivation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874520" y="1581912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study multiclass learning beyond ERM?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40080" y="1993392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40080" y="1993392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1993392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2130552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874520" y="201168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Related Work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1874520" y="229514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OIGs, DS dimension, and existing learners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2706624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640080" y="2706624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7" name="Text 13"/>
          <p:cNvSpPr/>
          <p:nvPr/>
        </p:nvSpPr>
        <p:spPr>
          <a:xfrm>
            <a:off x="868680" y="2706624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pic>
        <p:nvPicPr>
          <p:cNvPr id="18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" y="2843784"/>
            <a:ext cx="320040" cy="32004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1874520" y="2724912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Framework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1874520" y="3008376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as an algorithmic template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640080" y="3419856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2" name="Shape 17"/>
          <p:cNvSpPr/>
          <p:nvPr/>
        </p:nvSpPr>
        <p:spPr>
          <a:xfrm>
            <a:off x="640080" y="3419856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3" name="Text 18"/>
          <p:cNvSpPr/>
          <p:nvPr/>
        </p:nvSpPr>
        <p:spPr>
          <a:xfrm>
            <a:off x="868680" y="3419856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" y="3557016"/>
            <a:ext cx="320040" cy="32004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1874520" y="3438144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Candidate Counterexample</a:t>
            </a:r>
            <a:endParaRPr lang="en-US" sz="1500" dirty="0"/>
          </a:p>
        </p:txBody>
      </p:sp>
      <p:sp>
        <p:nvSpPr>
          <p:cNvPr id="26" name="Text 20"/>
          <p:cNvSpPr/>
          <p:nvPr/>
        </p:nvSpPr>
        <p:spPr>
          <a:xfrm>
            <a:off x="187452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class H△ and experimental intuition</a:t>
            </a:r>
            <a:endParaRPr lang="en-US" sz="1100" dirty="0"/>
          </a:p>
        </p:txBody>
      </p:sp>
      <p:sp>
        <p:nvSpPr>
          <p:cNvPr id="27" name="Shape 21"/>
          <p:cNvSpPr/>
          <p:nvPr/>
        </p:nvSpPr>
        <p:spPr>
          <a:xfrm>
            <a:off x="640080" y="4133088"/>
            <a:ext cx="7863840" cy="5943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4133088"/>
            <a:ext cx="54864" cy="5943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9" name="Text 23"/>
          <p:cNvSpPr/>
          <p:nvPr/>
        </p:nvSpPr>
        <p:spPr>
          <a:xfrm>
            <a:off x="868680" y="4133088"/>
            <a:ext cx="502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" y="4270248"/>
            <a:ext cx="320040" cy="320040"/>
          </a:xfrm>
          <a:prstGeom prst="rect">
            <a:avLst/>
          </a:prstGeom>
        </p:spPr>
      </p:pic>
      <p:sp>
        <p:nvSpPr>
          <p:cNvPr id="31" name="Text 24"/>
          <p:cNvSpPr/>
          <p:nvPr/>
        </p:nvSpPr>
        <p:spPr>
          <a:xfrm>
            <a:off x="1874520" y="4151376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 &amp; Open Problems</a:t>
            </a:r>
            <a:endParaRPr lang="en-US" sz="1500" dirty="0"/>
          </a:p>
        </p:txBody>
      </p:sp>
      <p:sp>
        <p:nvSpPr>
          <p:cNvPr id="32" name="Text 25"/>
          <p:cNvSpPr/>
          <p:nvPr/>
        </p:nvSpPr>
        <p:spPr>
          <a:xfrm>
            <a:off x="1874520" y="44348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remains to be resolved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Classification: The Basics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463040"/>
            <a:ext cx="3840480" cy="310896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set |Y| = 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Characterized by VC dimension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is optimal and sufficient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Well-understood since the 1980s</a:t>
            </a:r>
            <a:endParaRPr lang="en-US" sz="1300" dirty="0"/>
          </a:p>
        </p:txBody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66160" y="3840480"/>
            <a:ext cx="365760" cy="36576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4846320" y="1463040"/>
            <a:ext cx="3840480" cy="310896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600200"/>
            <a:ext cx="3474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</a:t>
            </a:r>
            <a:endParaRPr lang="en-US" sz="1600" dirty="0"/>
          </a:p>
        </p:txBody>
      </p:sp>
      <p:sp>
        <p:nvSpPr>
          <p:cNvPr id="11" name="Text 8"/>
          <p:cNvSpPr/>
          <p:nvPr/>
        </p:nvSpPr>
        <p:spPr>
          <a:xfrm>
            <a:off x="5029200" y="2103120"/>
            <a:ext cx="34747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 set |Y| ≥ 2 (possibly infinite)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Learnability characterized only in 2022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fails — improper learning required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simple optimal learning rule known</a:t>
            </a:r>
            <a:endParaRPr lang="en-US" sz="13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3840480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457200" y="470916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we find a simple algorithmic template for multiclass learning — like ERM for binary?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Does ERM Fail for Multiclass?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73152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32588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4630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71600" y="1325880"/>
            <a:ext cx="69494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 (2014): There exist learnable multiclass classes where every learner must output hypotheses outside of H.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514600"/>
            <a:ext cx="320040" cy="32004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2588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039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Learners (ERM)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822960" y="30175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h ∈ H only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Optimizes: argmin_{h∈H} L_S(h)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Sufficient for binary classification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Insufficient for multiclass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4846320" y="2377440"/>
            <a:ext cx="3657600" cy="21945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20640" y="2514600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532120" y="251460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8A5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Learners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5029200" y="3017520"/>
            <a:ext cx="329184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output h ∉ H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"Stitches together" hypotheses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Necessary for multiclass learning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Required: a new algorithmic template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 MOTIVATION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Central Question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914400" y="1554480"/>
            <a:ext cx="7315200" cy="6858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914400" y="155448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5544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200400" y="16002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Empirical Risk Minimization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00400" y="18928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only — fails on multiclass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97680" y="2304288"/>
            <a:ext cx="320040" cy="320040"/>
          </a:xfrm>
          <a:prstGeom prst="ellipse">
            <a:avLst/>
          </a:prstGeom>
          <a:solidFill>
            <a:srgbClr val="E8913A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52544" y="2350008"/>
            <a:ext cx="210312" cy="210312"/>
          </a:xfrm>
          <a:prstGeom prst="rect">
            <a:avLst/>
          </a:prstGeom>
        </p:spPr>
      </p:pic>
      <p:sp>
        <p:nvSpPr>
          <p:cNvPr id="12" name="Shape 9"/>
          <p:cNvSpPr/>
          <p:nvPr/>
        </p:nvSpPr>
        <p:spPr>
          <a:xfrm>
            <a:off x="914400" y="2468880"/>
            <a:ext cx="7315200" cy="6858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3" name="Shape 10"/>
          <p:cNvSpPr/>
          <p:nvPr/>
        </p:nvSpPr>
        <p:spPr>
          <a:xfrm>
            <a:off x="914400" y="2468880"/>
            <a:ext cx="54864" cy="68580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4" name="Text 11"/>
          <p:cNvSpPr/>
          <p:nvPr/>
        </p:nvSpPr>
        <p:spPr>
          <a:xfrm>
            <a:off x="1188720" y="24688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SRM</a:t>
            </a:r>
            <a:endParaRPr lang="en-US" sz="1600" dirty="0"/>
          </a:p>
        </p:txBody>
      </p:sp>
      <p:sp>
        <p:nvSpPr>
          <p:cNvPr id="15" name="Text 12"/>
          <p:cNvSpPr/>
          <p:nvPr/>
        </p:nvSpPr>
        <p:spPr>
          <a:xfrm>
            <a:off x="3200400" y="25146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Structural Risk Minimization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3200400" y="28072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E888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proper (single regularizer ψ(h)) — fails</a:t>
            </a:r>
            <a:endParaRPr lang="en-US" sz="1200" dirty="0"/>
          </a:p>
        </p:txBody>
      </p:sp>
      <p:sp>
        <p:nvSpPr>
          <p:cNvPr id="17" name="Shape 14"/>
          <p:cNvSpPr/>
          <p:nvPr/>
        </p:nvSpPr>
        <p:spPr>
          <a:xfrm>
            <a:off x="4297680" y="3218688"/>
            <a:ext cx="320040" cy="320040"/>
          </a:xfrm>
          <a:prstGeom prst="ellipse">
            <a:avLst/>
          </a:prstGeom>
          <a:solidFill>
            <a:srgbClr val="E8913A"/>
          </a:solidFill>
          <a:ln/>
        </p:spPr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2544" y="3264408"/>
            <a:ext cx="210312" cy="210312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914400" y="3383280"/>
            <a:ext cx="7315200" cy="6858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20" name="Shape 16"/>
          <p:cNvSpPr/>
          <p:nvPr/>
        </p:nvSpPr>
        <p:spPr>
          <a:xfrm>
            <a:off x="914400" y="3383280"/>
            <a:ext cx="54864" cy="685800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21" name="Text 17"/>
          <p:cNvSpPr/>
          <p:nvPr/>
        </p:nvSpPr>
        <p:spPr>
          <a:xfrm>
            <a:off x="1188720" y="3383280"/>
            <a:ext cx="201168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600" dirty="0"/>
          </a:p>
        </p:txBody>
      </p:sp>
      <p:sp>
        <p:nvSpPr>
          <p:cNvPr id="22" name="Text 18"/>
          <p:cNvSpPr/>
          <p:nvPr/>
        </p:nvSpPr>
        <p:spPr>
          <a:xfrm>
            <a:off x="3200400" y="342900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A92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ψ(h, x) — point-dependent bias</a:t>
            </a:r>
            <a:endParaRPr lang="en-US" sz="1100" dirty="0"/>
          </a:p>
        </p:txBody>
      </p:sp>
      <p:sp>
        <p:nvSpPr>
          <p:cNvPr id="23" name="Text 19"/>
          <p:cNvSpPr/>
          <p:nvPr/>
        </p:nvSpPr>
        <p:spPr>
          <a:xfrm>
            <a:off x="3200400" y="372160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DDFB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+ flexible — can it learn everything?</a:t>
            </a:r>
            <a:endParaRPr lang="en-US" sz="1200" dirty="0"/>
          </a:p>
        </p:txBody>
      </p:sp>
      <p:sp>
        <p:nvSpPr>
          <p:cNvPr id="24" name="Shape 20"/>
          <p:cNvSpPr/>
          <p:nvPr/>
        </p:nvSpPr>
        <p:spPr>
          <a:xfrm>
            <a:off x="914400" y="4297680"/>
            <a:ext cx="7315200" cy="54864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25" name="Text 21"/>
          <p:cNvSpPr/>
          <p:nvPr/>
        </p:nvSpPr>
        <p:spPr>
          <a:xfrm>
            <a:off x="1097280" y="4297680"/>
            <a:ext cx="69494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1: Can all learnable multiclass classes be learned by a local regularizer?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Multiclass Learning Theory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325880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1984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1554480" y="1325880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1737360" y="134416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 Learning Framework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486400" y="1344168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Valiant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1737360" y="1618488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Foundational learning model — learnability requires low sample complexity.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2039112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1989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1554480" y="2039112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737360" y="205740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VC Dimension Characterization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0" y="205740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Blumer et al.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737360" y="2331720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classification learnable iff finite VC dimension; ERM suffices.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752344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2014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1554480" y="2752344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737360" y="277063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Improper Learning Necessary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486400" y="2770632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Daniely &amp; Shalev-Shwartz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737360" y="3044952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Proper learners (ERM/SRM) cannot learn all multiclass problems.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465576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1554480" y="3465576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737360" y="34838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 Dimension Characterization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486400" y="3483864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Brukhim et al.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737360" y="3758184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 characterization of multiclass learnability via the DS dimension.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178808"/>
            <a:ext cx="777240" cy="576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200" dirty="0"/>
          </a:p>
        </p:txBody>
      </p:sp>
      <p:sp>
        <p:nvSpPr>
          <p:cNvPr id="30" name="Shape 28"/>
          <p:cNvSpPr/>
          <p:nvPr/>
        </p:nvSpPr>
        <p:spPr>
          <a:xfrm>
            <a:off x="1554480" y="4178808"/>
            <a:ext cx="6949440" cy="576072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737360" y="41970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486400" y="4197096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 et al.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1737360" y="4471416"/>
            <a:ext cx="6492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Introduced local regularizers; unsupervised variant learns all classes.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 RELATED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One-Inclusion Graphs (OIGs)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State-of-the-Art Learners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OIG-based learners use orientations of one-inclusion graphs defined over H, sample S, and test point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be infinite when Y is infinite — existence proofs rely on the axiom of choice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Exponentially large even for finite Y, making them impractical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Primarily mathematical — not a practical algorithmic template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3657600"/>
            <a:ext cx="822960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8" name="Shape 6"/>
          <p:cNvSpPr/>
          <p:nvPr/>
        </p:nvSpPr>
        <p:spPr>
          <a:xfrm>
            <a:off x="457200" y="3657600"/>
            <a:ext cx="54864" cy="109728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731520" y="3749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Distinction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069080"/>
            <a:ext cx="77724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learners use: H + unlabeled data in S + test point x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regularizers use: H + test point x  (no sample dependence!)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PAC Learning Framework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7863840" cy="18288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80160"/>
            <a:ext cx="7863840" cy="365760"/>
          </a:xfrm>
          <a:prstGeom prst="rect">
            <a:avLst/>
          </a:prstGeom>
          <a:solidFill>
            <a:srgbClr val="1A1F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801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1: PAC Learner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737360"/>
            <a:ext cx="7498080" cy="12801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A is a PAC learner for H if there exists m : (0,1)² → ℕ such that: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any realizable distribution D and ε, δ ∈ (0,1),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sample S with |S| ≥ m(ε,δ) satisfies: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P[ L_D(A(S)) ≤ ε ] ≥ 1 − δ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3832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724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X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7724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Input space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606040" y="33832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74320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Labels Y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74320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 labels (may be infinite)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0" y="33832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470916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H ⊆ Y^X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70916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Hypothesis class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537960" y="3383280"/>
            <a:ext cx="1828800" cy="12801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675120" y="3520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Loss ℓ₀₋₁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675120" y="4023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0-1 classification loss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Local Regularization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64592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8229600" cy="36576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Definition 2: Local Regularizer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182880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regularizer ψ : H × X → ℝ≥0 induces a learner A where:</a:t>
            </a:r>
            <a:endParaRPr lang="en-US" sz="1350" dirty="0"/>
          </a:p>
          <a:p>
            <a:pPr indent="0" marL="0">
              <a:buNone/>
            </a:pPr>
            <a:endParaRPr lang="en-US" sz="1350" dirty="0"/>
          </a:p>
          <a:p>
            <a:pPr indent="0" marL="0">
              <a:buNone/>
            </a:pPr>
            <a:r>
              <a:rPr lang="en-US" sz="135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A(S)(x)  ∈  { h(x) : h ∈ argmin_{h ∈ L⁻¹_S(0)}  ψ(h, x) }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457200" y="329184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is this powerful?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3794760"/>
            <a:ext cx="260604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Point-Dependent Bias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9436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ψ(h, x) can encode how complexity varies across the domain X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91840" y="3794760"/>
            <a:ext cx="260604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Enables Improper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42900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can 'stitch together' multiple hypotheses across regions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126480" y="3794760"/>
            <a:ext cx="2606040" cy="109728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7" name="Text 15"/>
          <p:cNvSpPr/>
          <p:nvPr/>
        </p:nvSpPr>
        <p:spPr>
          <a:xfrm>
            <a:off x="6263640" y="384048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Simpler than OIGs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6263640" y="41605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not depend on unlabeled training data — only on H and test point x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 PROPOSED METHOD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SRM vs. Local Regularization</a:t>
            </a:r>
            <a:endParaRPr lang="en-US" sz="26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371600"/>
          <a:ext cx="7863840" cy="914400"/>
        </p:xfrm>
        <a:graphic>
          <a:graphicData uri="http://schemas.openxmlformats.org/drawingml/2006/table">
            <a:tbl>
              <a:tblPr/>
              <a:tblGrid>
                <a:gridCol w="2624328"/>
                <a:gridCol w="2624328"/>
                <a:gridCol w="2624328"/>
              </a:tblGrid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Property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SRM: ψ(h)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Local Reg.: ψ(h, x)</a:t>
                      </a:r>
                      <a:endParaRPr lang="en-US" sz="12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1F3D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Regularizer depends on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h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h and test point x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Proper or Improper?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C0392B"/>
                          </a:solidFill>
                        </a:rPr>
                        <a:t>Proper only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2D8A56"/>
                          </a:solidFill>
                        </a:rPr>
                        <a:t>Can be improper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binary classes?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Yes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Learns all multiclass?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C0392B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b="1" dirty="0">
                          <a:solidFill>
                            <a:srgbClr val="E8913A"/>
                          </a:solidFill>
                        </a:rPr>
                        <a:t>Open question!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Uses unlabeled data in S?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</a:rPr>
                        <a:t>No</a:t>
                      </a:r>
                      <a:endParaRPr lang="en-US" sz="11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0D4D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" y="3931920"/>
            <a:ext cx="7863840" cy="86868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6" name="Shape 3"/>
          <p:cNvSpPr/>
          <p:nvPr/>
        </p:nvSpPr>
        <p:spPr>
          <a:xfrm>
            <a:off x="640080" y="3931920"/>
            <a:ext cx="54864" cy="86868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114800"/>
            <a:ext cx="320040" cy="32004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1371600" y="3931920"/>
            <a:ext cx="69494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Intuition: A local regularizer can assign different complexities to h₀ vs h₁ depending on the region of X. This per-point flexibility is what enables improper learning.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CANDIDATE COUNTEREXAMPLE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Hypothesis Class H△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258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Construction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82296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Domain X = ℕ (infinite), Label set Y = {∗} ∪ 2^X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 J of triples (A, B, C) where |A| = |B| = |C| = k, pairwise intersections of size k/2, and A ∩ B ∩ C = ∅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triple yields 8 hypotheses — one for each way to 'layer' the three sets</a:t>
            </a:r>
            <a:endParaRPr lang="en-US" sz="12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∗ outside A ∪ B ∪ C; on pairwise intersections, h is constant choosing between the two overlapping sets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57200" y="3749040"/>
            <a:ext cx="8229600" cy="1051560"/>
          </a:xfrm>
          <a:prstGeom prst="rect">
            <a:avLst/>
          </a:prstGeom>
          <a:solidFill>
            <a:srgbClr val="222A50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3931920"/>
            <a:ext cx="320040" cy="32004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38404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Geometric Intuition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97280" y="4160520"/>
            <a:ext cx="7406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8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Think of sheets of paper over regions A, B, C, each bearing their set name. A hypothesis h is a choice of layering order. The output at any point x is the topmost sheet's name visible from above.</a:t>
            </a:r>
            <a:endParaRPr lang="en-US" sz="1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CANDIDATE COUNTEREXAMPLE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Structure of H△ Hypotheses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1371600" y="1463040"/>
            <a:ext cx="2743200" cy="2560320"/>
          </a:xfrm>
          <a:prstGeom prst="ellipse">
            <a:avLst/>
          </a:prstGeom>
          <a:solidFill>
            <a:srgbClr val="E8913A">
              <a:alpha val="30000"/>
            </a:srgbClr>
          </a:solidFill>
          <a:ln w="25400">
            <a:solidFill>
              <a:srgbClr val="E891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15544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E891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0" y="1463040"/>
            <a:ext cx="2743200" cy="2560320"/>
          </a:xfrm>
          <a:prstGeom prst="ellipse">
            <a:avLst/>
          </a:prstGeom>
          <a:solidFill>
            <a:srgbClr val="2D8A56">
              <a:alpha val="30000"/>
            </a:srgbClr>
          </a:solidFill>
          <a:ln w="25400">
            <a:solidFill>
              <a:srgbClr val="2D8A5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297680" y="164592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D8A5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8" name="Shape 6"/>
          <p:cNvSpPr/>
          <p:nvPr/>
        </p:nvSpPr>
        <p:spPr>
          <a:xfrm>
            <a:off x="2057400" y="2286000"/>
            <a:ext cx="2743200" cy="2560320"/>
          </a:xfrm>
          <a:prstGeom prst="ellipse">
            <a:avLst/>
          </a:prstGeom>
          <a:solidFill>
            <a:srgbClr val="2B3A67">
              <a:alpha val="30000"/>
            </a:srgbClr>
          </a:solidFill>
          <a:ln w="25400">
            <a:solidFill>
              <a:srgbClr val="2B3A6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651760" y="4206240"/>
            <a:ext cx="7315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2B3A6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926080" y="201168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A∩B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743200" y="233172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∈ {A, B}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7373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A∩C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55448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∈ {A, C}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566160" y="3017520"/>
            <a:ext cx="914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B∩C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383280" y="3337560"/>
            <a:ext cx="1280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 ∈ {B, C}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5760720" y="1371600"/>
            <a:ext cx="301752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5943600" y="146304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Properties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5943600" y="1920240"/>
            <a:ext cx="2651760" cy="2560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|A| = |B| = |C| = k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Pairwise intersections = k/2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∩ B ∩ C = ∅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h(x) = ∗ outside A∪B∪C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hypotheses per triple</a:t>
            </a:r>
            <a:endParaRPr lang="en-US" sz="115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choices × 3 regions = 2³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CANDIDATE COUNTEREXAMPLE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ERM Fails on H△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548640" y="1417320"/>
            <a:ext cx="411480" cy="4114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6" name="Text 4"/>
          <p:cNvSpPr/>
          <p:nvPr/>
        </p:nvSpPr>
        <p:spPr>
          <a:xfrm>
            <a:off x="54864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143000" y="137160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a large finite set A ⊆ X and let D be uniform over {(x, A) : x ∈ A}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411480" cy="4114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05740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143000" y="201168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ERM on sample S ~ D with |S| &lt; |A|/2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2697480"/>
            <a:ext cx="411480" cy="4114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6974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43000" y="265176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probability &gt; 1/2, test point x_test was not seen in 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337560"/>
            <a:ext cx="411480" cy="4114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337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43000" y="32918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There exists h ∈ H△ with empirical error 0 such that h(x_test) ≠ A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977640"/>
            <a:ext cx="411480" cy="411480"/>
          </a:xfrm>
          <a:prstGeom prst="ellipse">
            <a:avLst/>
          </a:prstGeom>
          <a:solidFill>
            <a:srgbClr val="E8913A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39776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1143000" y="393192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Namely, h from triple (A, B, C) where x_test ∈ B and S avoids B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4297680"/>
            <a:ext cx="8229600" cy="54864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" y="4297680"/>
            <a:ext cx="7863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ERM is free to predict the wrong label B at x_test → constant test error on arbitrarily large sets!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CANDIDATE COUNTEREXAMPLE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H△ Is Learnable — But How?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7863840" cy="22860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7863840" cy="365760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Correct Learner for H△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822960" y="1874520"/>
            <a:ext cx="749808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Default: output ∗ at every x ∈ X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Exception: if a label A ∋ x has been observed in the training sample, output A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two labels A, B both observed at x, and sample reveals the true label (via A∩B data), predict it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Otherwise, arbitrarily choose between A and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40080" y="3794760"/>
            <a:ext cx="7863840" cy="91440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9" name="Shape 7"/>
          <p:cNvSpPr/>
          <p:nvPr/>
        </p:nvSpPr>
        <p:spPr>
          <a:xfrm>
            <a:off x="640080" y="3794760"/>
            <a:ext cx="54864" cy="91440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3977640"/>
            <a:ext cx="320040" cy="32004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1371600" y="3794760"/>
            <a:ext cx="6949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works: True error → 0 once the sample contains points from each of A∩B, A∩C, B∩C. Each region either has negligible mass under D_X or will quickly appear in the training set.</a:t>
            </a:r>
            <a:endParaRPr lang="en-US" sz="1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 CANDIDATE COUNTEREXAMPLE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Local Regularization May Fail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Symmetry Argument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local regularizer only has access to: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The test point x_test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• The empirical errors of all h ∈ H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But it cannot access the unlabeled data in S!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 symmetry of H△ prevents the regularizer from recognizing that label A is the 'natural' prediction for x_test, vs. any set B that contains x_test but avoids 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i="1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learner seemingly must peek into S to learn the geometry of the distribution. Local regularizers cannot do this.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22860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59436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Significance of the Open Problems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6400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325880"/>
            <a:ext cx="3794760" cy="411480"/>
          </a:xfrm>
          <a:prstGeom prst="rect">
            <a:avLst/>
          </a:prstGeom>
          <a:solidFill>
            <a:srgbClr val="2D8A5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Positive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8229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Simple, flexible algorithmic template for multiclass learning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229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Reveals redundancy of unlabeled data in OIG-based approaches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229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Simplifies the theory of multiclass classification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754880" y="1325880"/>
            <a:ext cx="3794760" cy="27432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325880"/>
            <a:ext cx="3794760" cy="411480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4937760" y="132588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Negative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937760" y="192024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OIG structure is vital — vindicates existing body of work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937760" y="256032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Training data geometry is essential for learning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937760" y="3200400"/>
            <a:ext cx="3429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Fundamental limitation on sample-independent methods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40080" y="4297680"/>
            <a:ext cx="7863840" cy="640080"/>
          </a:xfrm>
          <a:prstGeom prst="rect">
            <a:avLst/>
          </a:prstGeom>
          <a:solidFill>
            <a:srgbClr val="FDF0E0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4297680"/>
            <a:ext cx="54864" cy="64008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4434840"/>
            <a:ext cx="274320" cy="274320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1325880" y="429768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Unsupervised local regularization (which can use unlabeled data in S) already learns all multiclass classes with near-optimal complexity.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22860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 CONCLUSION &amp; FUTURE WORK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365760" y="64008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Open Problems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37160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" y="14173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1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178308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multiclass classification, can all learnable hypothesis classes be learned by a local regularizer? If so, with optimal (or nearly optimal) sample complexity?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457200" y="3017520"/>
            <a:ext cx="8229600" cy="1371600"/>
          </a:xfrm>
          <a:prstGeom prst="rect">
            <a:avLst/>
          </a:prstGeom>
          <a:solidFill>
            <a:srgbClr val="222A50"/>
          </a:solidFill>
          <a:ln/>
        </p:spPr>
      </p:sp>
      <p:sp>
        <p:nvSpPr>
          <p:cNvPr id="10" name="Shape 8"/>
          <p:cNvSpPr/>
          <p:nvPr/>
        </p:nvSpPr>
        <p:spPr>
          <a:xfrm>
            <a:off x="457200" y="3017520"/>
            <a:ext cx="54864" cy="1371600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" y="30632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Problem 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731520" y="3429000"/>
            <a:ext cx="77724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C8D0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 the class H△ be learned by a local regularizer? If so, with optimal (or nearly optimal) sample complexity?</a:t>
            </a:r>
            <a:endParaRPr lang="en-US" sz="13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640080" y="11887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353312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17320" y="11887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Multiclass classification is qualitatively harder than binary — ERM is insufficient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0080" y="21031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8" name="Shape 5"/>
          <p:cNvSpPr/>
          <p:nvPr/>
        </p:nvSpPr>
        <p:spPr>
          <a:xfrm>
            <a:off x="640080" y="21031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8680" y="2267712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417320" y="21031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regularization is a promising candidate for a universal multiclass template</a:t>
            </a:r>
            <a:endParaRPr lang="en-US" sz="1400" dirty="0"/>
          </a:p>
        </p:txBody>
      </p:sp>
      <p:sp>
        <p:nvSpPr>
          <p:cNvPr id="11" name="Shape 7"/>
          <p:cNvSpPr/>
          <p:nvPr/>
        </p:nvSpPr>
        <p:spPr>
          <a:xfrm>
            <a:off x="640080" y="30175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2" name="Shape 8"/>
          <p:cNvSpPr/>
          <p:nvPr/>
        </p:nvSpPr>
        <p:spPr>
          <a:xfrm>
            <a:off x="640080" y="30175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8680" y="3182112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417320" y="30175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hypothesis class H△ is a candidate counterexample leveraging high symmetry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40080" y="3931920"/>
            <a:ext cx="786384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2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40080" y="3931920"/>
            <a:ext cx="54864" cy="731520"/>
          </a:xfrm>
          <a:prstGeom prst="rect">
            <a:avLst/>
          </a:prstGeom>
          <a:solidFill>
            <a:srgbClr val="E8913A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8680" y="4096512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417320" y="3931920"/>
            <a:ext cx="6858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Resolving the open problem has deep implications for learning theory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4F1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F3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640080" y="1097280"/>
            <a:ext cx="786384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[1]  Asilis, Devic, Dughmi, Sharan, Teng. Regularization and Optimal Multiclass Learning. COLT 2024.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[2]  Brukhim, Carmon, Dinur, Moran, Yehudayoff. A Characterization of Multiclass Learnability. FOCS 2022.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[3]  Daniely, Shalev-Shwartz. Optimal Learners for Multiclass Problems. COLT 2014.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[4]  David, Moran, Yehudayoff. On Statistical Learning via the Lens of Compression. NeurIPS 2016.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[5]  Vapnik, Chervonenkis. On Uniform Convergence. Theory of Prob. &amp; Appl. 1971.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[6]  Valiant. A Theory of the Learnable. Comm. ACM 1984.</a:t>
            </a:r>
            <a:endParaRPr lang="en-US" sz="11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100" dirty="0">
                <a:solidFill>
                  <a:srgbClr val="1A1F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[7]  Vaskevicius, Zhivotovskiy. Suboptimality of Constrained Least Squares. Bernoulli 2023.</a:t>
            </a:r>
            <a:endParaRPr lang="en-US" sz="11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1A1F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3" name="Text 1"/>
          <p:cNvSpPr/>
          <p:nvPr/>
        </p:nvSpPr>
        <p:spPr>
          <a:xfrm>
            <a:off x="0" y="1097280"/>
            <a:ext cx="9144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4" name="Shape 2"/>
          <p:cNvSpPr/>
          <p:nvPr/>
        </p:nvSpPr>
        <p:spPr>
          <a:xfrm>
            <a:off x="3657600" y="2377440"/>
            <a:ext cx="1828800" cy="36576"/>
          </a:xfrm>
          <a:prstGeom prst="rect">
            <a:avLst/>
          </a:prstGeom>
          <a:solidFill>
            <a:srgbClr val="E8913A"/>
          </a:solidFill>
          <a:ln/>
        </p:spPr>
      </p:sp>
      <p:sp>
        <p:nvSpPr>
          <p:cNvPr id="5" name="Text 3"/>
          <p:cNvSpPr/>
          <p:nvPr/>
        </p:nvSpPr>
        <p:spPr>
          <a:xfrm>
            <a:off x="0" y="265176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E891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0" y="3474720"/>
            <a:ext cx="9144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Asilis, Devic, Dughmi, Sharan, Teng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7A84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University of Southern California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0" y="429768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4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{asilis, devic, shaddin, vsharan, shanghua}@usc.edu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20</Slides>
  <Notes>20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Can Local Regularization Learn All Multiclass Problems?</dc:title>
  <dc:subject>PptxGenJS Presentation</dc:subject>
  <dc:creator>Asilis, Devic, Dughmi, Sharan, Teng</dc:creator>
  <cp:lastModifiedBy>Asilis, Devic, Dughmi, Sharan, Teng</cp:lastModifiedBy>
  <cp:revision>1</cp:revision>
  <dcterms:created xsi:type="dcterms:W3CDTF">2026-03-10T22:16:25Z</dcterms:created>
  <dcterms:modified xsi:type="dcterms:W3CDTF">2026-03-10T22:16:25Z</dcterms:modified>
</cp:coreProperties>
</file>