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present the open problem paper by Asilis et al. from COLT 2024. The central question is: Can local regularization — a generalized form of ERM — serve as a universal algorithmic template for all learnable multiclass classification problems? This is a fundamental question in learning theory about the expressiveness of simple learning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roadmap. We'll start with motivation — why binary classification theory doesn't extend easily to multiclass. Then we'll review key related works, introduce the local regularization framework, examine a candidate counterexample the authors propose, and close with conclusions and open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multiclass is fundamentally harder than binary. In binary classification, we've had a complete picture since the 1970s-80s: the VC dimension characterizes learnability, and ERM — simply picking any hypothesis with zero training error — achieves near-optimal sample complexity. For multiclass, the situation is very different. A complete characterization only arrived in 2022 with the DS dimension by Brukhim et al. More importantly, ERM provably fails: Daniely and Shalev-Shwartz (2014) showed there exist learnable multiclass problems where any learner MUST output hypotheses outside the class H. This means we need improper learners — and no simple algorithmic template like ERM exists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define the formal setup. A classification problem has a domain X, a label set Y, and a hypothesis class H mapping X to Y. We use 0-1 loss. The goal is PAC learning: given enough i.i.d. samples from a realizable distribution D, the learner should output a hypothesis with low true error with high probability. In binary classification, |Y|=2. Multiclass allows |Y| to be larger — even infinite. The sample complexity m_H tells us the minimum samples needed by the best learner for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ERM works beautifully for binary classification — just pick any hypothesis in H with zero training error. But Daniely and Shalev-Shwartz proved in 2014 that this fails for multiclass. Specifically, they constructed a learnable hypothesis class where EVERY learner must sometimes output hypotheses OUTSIDE of H. These are called improper learners. Since ERM by definition only selects from H, it's too restrictive. This is a fundamental gap: we need something more expressive than ERM. The question becomes — what is the simplest learning rule that IS expressive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key related works. VC theory from the 1970s gives us a complete binary picture. Daniely and Shalev-Shwartz (2014) was the first major negative result for multiclass — showing ERM fails and introducing one-inclusion graph (OIG) based learners. David et al. (2016) established the important equivalence between learning and sample compression, which was later used by Brukhim et al. (2022) to finally characterize multiclass learnability through the DS dimension. The current paper by Asilis et al. builds on their own 2024 work on local regularization, where they showed that an 'unsupervised' variant (which can peek at unlabeled training data) suffices to learn all multiclass problems with near-optimal complexity. The open question is whether the simpler, purely local version suffices.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key innovation. Standard SRM uses a global regularizer ψ(h) that assigns a single complexity score to each hypothesis. This is still proper — it only selects from H — so it fails for multiclass. Local regularization generalizes this by making the regularizer depend on the test point x: ψ(h, x). This is crucial because it allows the learner to prefer different hypotheses at different points in the domain. The output can 'stitch together' behaviors from multiple hypotheses — h₀ in one region, h₁ in another — which is exactly how improper learning works. The learner selects the hypothesis with lowest ψ among those with zero empirical error, but evaluates it only at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formal definition. A local regularizer ψ maps each (hypothesis, point) pair to a non-negative real number — measuring how 'complex' that hypothesis is at that specific point. Given a sample S, the induced learner first restricts to hypotheses with zero empirical error (L⁻¹_S(0)), then at each test point x, picks the label of the hypothesis minimizing ψ(h, x). The comparison table shows the progression: ERM is proper and fails for multiclass. SRM adds regularization but is still proper — fails. Local regularization adds x-dependence, which enables improper learning. The open question is whether this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open problem. Can local regularization learn ALL learnable multiclass classes — just as ERM learns all binary classes? And can it do so with optimal sample complexity? This is asking whether local regularization is the 'right' generalization of ERM to multiclass. Note that the unsupervised variant, which also sees unlabeled training data, was already shown to work. So the question is specifically whether the simpler version — which only sees the test point and empirical errors —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possible resolutions are significant. A positive answer would be a major simplification: instead of using OIG-based learners (which rely on exponentially large or even infinite graph structures, sometimes requiring the axiom of choice!), we'd have a clean regularization-based template. It would also show that unlabeled data in S is redundant for learning — a surprising finding given recent work on OIGs. A negative answer would be equally important, showing that the structure of OIGs is fundamental and that learners genuinely need to inspect the geometry of the training set to learn certain multiclass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authors propose a candidate counterexample. The class H△ is built over X = the natural numbers with labels being either a special symbol ∗ or any subset of X. They consider triples (A, B, C) of finite sets with equal sizes and specific overlap structure: each pair overlaps in exactly half their size, and all three have empty triple intersection — like a Venn diagram where only pairwise overlaps exist. For each such triple, there are 8 hypotheses corresponding to 2³ ways to 'layer' the three sets. Outside A∪B∪C, every hypothesis outputs ∗. On each pairwise overlap region, it's constant and chooses one of the two overlapping sets as its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geometric intuition is beautiful. Think of three sheets of paper labeled A, B, and C, placed over their respective regions. Where two sheets overlap — say A and B — you need to choose which is on top. The 'topmost' label is what the hypothesis outputs at that point. Since there are three pairwise overlaps and two choices each, you get 2³ = 8 hypotheses per triple. Outside all three sets, every hypothesis outputs ∗. This Venn diagram structure is key: the pairwise overlaps are exactly where the 'layering choice' matters, and the empty triple intersection ensures clean separation.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crucial argument for why ERM fails — and why local regularization might also fail. Take a large set A and the uniform distribution labeling everything in A with the label A. With training size less than |A|/2, most test points won't be in S. For any unseen test point x_test, we can construct a 'spoiler' set B containing x_test but avoiding all training points. Then there's a hypothesis in H△ from triple (A,B,C) that has perfect training accuracy but predicts B (wrong!) at x_test. ERM can't distinguish this from the correct answer. The same argument extends to local regularizers: they also only see test-point information and empirical errors. The symmetry of H△ seems to prevent any such learner from recognizing A as the natural prediction without inspecting S's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ERM failing, H△ IS learnable by an improper learner. The idea is simple: default to outputting ∗, but if you've seen a label A containing the test point x in the training data, output A. If two such labels were seen, use overlap information to resolve. This works because any overlap region with significant probability mass under D will be observed quickly, revealing the correct label. Regions with negligible mass don't matter for error. The key is that this learner peeks into the CONTENT of the training labels (which sets contain x_test) — it doesn't just use empirical errors. This is exactly what local regularizers cannot do, which is why the authors suspect H△ might be a counterexample.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leads to Open Problem 2, which is the more concrete version: can H△ specifically be learned by a local regularizer? The intuitive barrier is that local regularizers only access the test point and empirical errors — they can't inspect which specific training points were observed, which labels contained which points, or the geometric structure of the distribution. But breaking the symmetry of H△ seems to require exactly this kind of structural information about the training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important connections. First, one-inclusion graphs use three pieces of information: H, the unlabeled data in S, and the test point. If local regularization suffices, it means the unlabeled data part is redundant — a result that would surprise many researchers given the volume of recent OIG work. Second, the sample compression framework provides structural tools that may help resolve the problem. Third, local regularization isn't just a multiclass concept — it appears naturally in linear regression too, where the VAW forecaster uses test-point-dependent regularization to beat all proper learners.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multiclass classification is fundamentally different from binary. ERM and SRM, our standard tools, provably fail. Local regularization offers a promising middle ground — it's simpler than OIG-based learners but more expressive than SRM. The central open question is whether it's expressive enough for ALL learnable problems. The authors propose H△ as a concrete candidate counterexample where the symmetry structure seems to defeat local regularizers. For future work, the immediate goal is resolving these open problems. Beyond that, understanding local regularization in other settings (regression, online learning) and its connections to sample compression could yield important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I'm happy to take questions. Some discussion points: Do you think H△ is truly a counterexample, or could a clever local regularizer handle it? What implications would each resolution have for practical multiclass learning algorithms? And what about the broader question of local regularization in other learning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065A82">
              <a:alpha val="60000"/>
            </a:srgbClr>
          </a:solidFill>
          <a:ln/>
        </p:spPr>
      </p:sp>
      <p:sp>
        <p:nvSpPr>
          <p:cNvPr id="3" name="Shape 1"/>
          <p:cNvSpPr/>
          <p:nvPr/>
        </p:nvSpPr>
        <p:spPr>
          <a:xfrm>
            <a:off x="7772400" y="2286000"/>
            <a:ext cx="2743200" cy="2743200"/>
          </a:xfrm>
          <a:prstGeom prst="ellipse">
            <a:avLst/>
          </a:prstGeom>
          <a:solidFill>
            <a:srgbClr val="1C7293">
              <a:alpha val="50000"/>
            </a:srgbClr>
          </a:solidFill>
          <a:ln/>
        </p:spPr>
      </p:sp>
      <p:sp>
        <p:nvSpPr>
          <p:cNvPr id="4" name="Text 2"/>
          <p:cNvSpPr/>
          <p:nvPr/>
        </p:nvSpPr>
        <p:spPr>
          <a:xfrm>
            <a:off x="731520" y="731520"/>
            <a:ext cx="7315200" cy="640080"/>
          </a:xfrm>
          <a:prstGeom prst="rect">
            <a:avLst/>
          </a:prstGeom>
          <a:noFill/>
          <a:ln/>
        </p:spPr>
        <p:txBody>
          <a:bodyPr wrap="square" rtlCol="0" anchor="ctr"/>
          <a:lstStyle/>
          <a:p>
            <a:pPr indent="0" marL="0">
              <a:buNone/>
            </a:pPr>
            <a:r>
              <a:rPr lang="en-US" sz="1800" b="1" spc="400" kern="0" dirty="0">
                <a:solidFill>
                  <a:srgbClr val="F9E795"/>
                </a:solidFill>
                <a:latin typeface="Georgia" pitchFamily="34" charset="0"/>
                <a:ea typeface="Georgia" pitchFamily="34" charset="-122"/>
                <a:cs typeface="Georgia" pitchFamily="34" charset="-120"/>
              </a:rPr>
              <a:t>Open Problem:</a:t>
            </a:r>
            <a:endParaRPr lang="en-US" sz="1800" dirty="0"/>
          </a:p>
        </p:txBody>
      </p:sp>
      <p:sp>
        <p:nvSpPr>
          <p:cNvPr id="5" name="Text 3"/>
          <p:cNvSpPr/>
          <p:nvPr/>
        </p:nvSpPr>
        <p:spPr>
          <a:xfrm>
            <a:off x="731520" y="1371600"/>
            <a:ext cx="7315200" cy="1828800"/>
          </a:xfrm>
          <a:prstGeom prst="rect">
            <a:avLst/>
          </a:prstGeom>
          <a:noFill/>
          <a:ln/>
        </p:spPr>
        <p:txBody>
          <a:bodyPr wrap="square" rtlCol="0" anchor="ctr"/>
          <a:lstStyle/>
          <a:p>
            <a:pPr indent="0" marL="0">
              <a:lnSpc>
                <a:spcPct val="120000"/>
              </a:lnSpc>
              <a:buNone/>
            </a:pPr>
            <a:r>
              <a:rPr lang="en-US" sz="3200" b="1" dirty="0">
                <a:solidFill>
                  <a:srgbClr val="FFFFFF"/>
                </a:solidFill>
                <a:latin typeface="Georgia" pitchFamily="34" charset="0"/>
                <a:ea typeface="Georgia" pitchFamily="34" charset="-122"/>
                <a:cs typeface="Georgia" pitchFamily="34" charset="-120"/>
              </a:rPr>
              <a:t>Can Local Regularization</a:t>
            </a:r>
            <a:endParaRPr lang="en-US" sz="3200" dirty="0"/>
          </a:p>
          <a:p>
            <a:pPr indent="0" marL="0">
              <a:lnSpc>
                <a:spcPct val="120000"/>
              </a:lnSpc>
              <a:buNone/>
            </a:pPr>
            <a:r>
              <a:rPr lang="en-US" sz="3200" b="1" dirty="0">
                <a:solidFill>
                  <a:srgbClr val="FFFFFF"/>
                </a:solidFill>
                <a:latin typeface="Georgia" pitchFamily="34" charset="0"/>
                <a:ea typeface="Georgia" pitchFamily="34" charset="-122"/>
                <a:cs typeface="Georgia" pitchFamily="34" charset="-120"/>
              </a:rPr>
              <a:t>Learn All Multiclass Problems?</a:t>
            </a:r>
            <a:endParaRPr lang="en-US" sz="3200" dirty="0"/>
          </a:p>
        </p:txBody>
      </p:sp>
      <p:sp>
        <p:nvSpPr>
          <p:cNvPr id="6" name="Text 4"/>
          <p:cNvSpPr/>
          <p:nvPr/>
        </p:nvSpPr>
        <p:spPr>
          <a:xfrm>
            <a:off x="731520" y="3291840"/>
            <a:ext cx="7315200" cy="45720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Asilis, Devic, Dughmi, Sharan &amp; Teng</a:t>
            </a:r>
            <a:endParaRPr lang="en-US" sz="1600" dirty="0"/>
          </a:p>
        </p:txBody>
      </p:sp>
      <p:sp>
        <p:nvSpPr>
          <p:cNvPr id="7" name="Text 5"/>
          <p:cNvSpPr/>
          <p:nvPr/>
        </p:nvSpPr>
        <p:spPr>
          <a:xfrm>
            <a:off x="731520" y="3749040"/>
            <a:ext cx="7315200" cy="731520"/>
          </a:xfrm>
          <a:prstGeom prst="rect">
            <a:avLst/>
          </a:prstGeom>
          <a:noFill/>
          <a:ln/>
        </p:spPr>
        <p:txBody>
          <a:bodyPr wrap="square"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University of Southern California</a:t>
            </a:r>
            <a:endParaRPr lang="en-US" sz="1200" dirty="0"/>
          </a:p>
          <a:p>
            <a:pPr indent="0" marL="0">
              <a:buNone/>
            </a:pPr>
            <a:r>
              <a:rPr lang="en-US" sz="1200" i="1" dirty="0">
                <a:solidFill>
                  <a:srgbClr val="CADCFC"/>
                </a:solidFill>
                <a:latin typeface="Calibri" pitchFamily="34" charset="0"/>
                <a:ea typeface="Calibri" pitchFamily="34" charset="-122"/>
                <a:cs typeface="Calibri" pitchFamily="34" charset="-120"/>
              </a:rPr>
              <a:t>COLT 2024 — Proceedings of Machine Learning Research, vol 196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Presentation Outline</a:t>
            </a:r>
            <a:endParaRPr lang="en-US" sz="3000" dirty="0"/>
          </a:p>
        </p:txBody>
      </p:sp>
      <p:sp>
        <p:nvSpPr>
          <p:cNvPr id="3" name="Shape 1"/>
          <p:cNvSpPr/>
          <p:nvPr/>
        </p:nvSpPr>
        <p:spPr>
          <a:xfrm>
            <a:off x="731520" y="1188720"/>
            <a:ext cx="457200" cy="457200"/>
          </a:xfrm>
          <a:prstGeom prst="ellipse">
            <a:avLst/>
          </a:prstGeom>
          <a:solidFill>
            <a:srgbClr val="1C7293"/>
          </a:solidFill>
          <a:ln/>
        </p:spPr>
      </p:sp>
      <p:pic>
        <p:nvPicPr>
          <p:cNvPr id="4" name="Image 0" descr="preencoded.png">    </p:cNvPr>
          <p:cNvPicPr>
            <a:picLocks noChangeAspect="1"/>
          </p:cNvPicPr>
          <p:nvPr/>
        </p:nvPicPr>
        <p:blipFill>
          <a:blip r:embed="rId1"/>
          <a:stretch>
            <a:fillRect/>
          </a:stretch>
        </p:blipFill>
        <p:spPr>
          <a:xfrm>
            <a:off x="832104" y="1289304"/>
            <a:ext cx="256032" cy="256032"/>
          </a:xfrm>
          <a:prstGeom prst="rect">
            <a:avLst/>
          </a:prstGeom>
        </p:spPr>
      </p:pic>
      <p:sp>
        <p:nvSpPr>
          <p:cNvPr id="5" name="Text 2"/>
          <p:cNvSpPr/>
          <p:nvPr/>
        </p:nvSpPr>
        <p:spPr>
          <a:xfrm>
            <a:off x="1371600" y="1143000"/>
            <a:ext cx="6400800" cy="320040"/>
          </a:xfrm>
          <a:prstGeom prst="rect">
            <a:avLst/>
          </a:prstGeom>
          <a:noFill/>
          <a:ln/>
        </p:spPr>
        <p:txBody>
          <a:bodyPr wrap="square" lIns="0" tIns="0" rIns="0" bIns="0" rtlCol="0" anchor="ctr"/>
          <a:lstStyle/>
          <a:p>
            <a:pPr indent="0" marL="0">
              <a:buNone/>
            </a:pPr>
            <a:r>
              <a:rPr lang="en-US" sz="1600" b="1" dirty="0">
                <a:solidFill>
                  <a:srgbClr val="1A1A2E"/>
                </a:solidFill>
                <a:latin typeface="Calibri" pitchFamily="34" charset="0"/>
                <a:ea typeface="Calibri" pitchFamily="34" charset="-122"/>
                <a:cs typeface="Calibri" pitchFamily="34" charset="-120"/>
              </a:rPr>
              <a:t>Motivation &amp; Background</a:t>
            </a:r>
            <a:endParaRPr lang="en-US" sz="1600" dirty="0"/>
          </a:p>
        </p:txBody>
      </p:sp>
      <p:sp>
        <p:nvSpPr>
          <p:cNvPr id="6" name="Text 3"/>
          <p:cNvSpPr/>
          <p:nvPr/>
        </p:nvSpPr>
        <p:spPr>
          <a:xfrm>
            <a:off x="1371600" y="1444752"/>
            <a:ext cx="6400800" cy="274320"/>
          </a:xfrm>
          <a:prstGeom prst="rect">
            <a:avLst/>
          </a:prstGeom>
          <a:noFill/>
          <a:ln/>
        </p:spPr>
        <p:txBody>
          <a:bodyPr wrap="square" lIns="0" tIns="0" rIns="0" bIns="0" rtlCol="0" anchor="ctr"/>
          <a:lstStyle/>
          <a:p>
            <a:pPr indent="0" marL="0">
              <a:buNone/>
            </a:pPr>
            <a:r>
              <a:rPr lang="en-US" sz="1200" dirty="0">
                <a:solidFill>
                  <a:srgbClr val="666666"/>
                </a:solidFill>
                <a:latin typeface="Calibri" pitchFamily="34" charset="0"/>
                <a:ea typeface="Calibri" pitchFamily="34" charset="-122"/>
                <a:cs typeface="Calibri" pitchFamily="34" charset="-120"/>
              </a:rPr>
              <a:t>Why multiclass learning is hard</a:t>
            </a:r>
            <a:endParaRPr lang="en-US" sz="1200" dirty="0"/>
          </a:p>
        </p:txBody>
      </p:sp>
      <p:sp>
        <p:nvSpPr>
          <p:cNvPr id="7" name="Shape 4"/>
          <p:cNvSpPr/>
          <p:nvPr/>
        </p:nvSpPr>
        <p:spPr>
          <a:xfrm>
            <a:off x="731520" y="1938528"/>
            <a:ext cx="457200" cy="457200"/>
          </a:xfrm>
          <a:prstGeom prst="ellipse">
            <a:avLst/>
          </a:prstGeom>
          <a:solidFill>
            <a:srgbClr val="1C7293"/>
          </a:solidFill>
          <a:ln/>
        </p:spPr>
      </p:sp>
      <p:pic>
        <p:nvPicPr>
          <p:cNvPr id="8" name="Image 1" descr="preencoded.png">    </p:cNvPr>
          <p:cNvPicPr>
            <a:picLocks noChangeAspect="1"/>
          </p:cNvPicPr>
          <p:nvPr/>
        </p:nvPicPr>
        <p:blipFill>
          <a:blip r:embed="rId2"/>
          <a:stretch>
            <a:fillRect/>
          </a:stretch>
        </p:blipFill>
        <p:spPr>
          <a:xfrm>
            <a:off x="832104" y="2039112"/>
            <a:ext cx="256032" cy="256032"/>
          </a:xfrm>
          <a:prstGeom prst="rect">
            <a:avLst/>
          </a:prstGeom>
        </p:spPr>
      </p:pic>
      <p:sp>
        <p:nvSpPr>
          <p:cNvPr id="9" name="Text 5"/>
          <p:cNvSpPr/>
          <p:nvPr/>
        </p:nvSpPr>
        <p:spPr>
          <a:xfrm>
            <a:off x="1371600" y="1892808"/>
            <a:ext cx="6400800" cy="320040"/>
          </a:xfrm>
          <a:prstGeom prst="rect">
            <a:avLst/>
          </a:prstGeom>
          <a:noFill/>
          <a:ln/>
        </p:spPr>
        <p:txBody>
          <a:bodyPr wrap="square" lIns="0" tIns="0" rIns="0" bIns="0" rtlCol="0" anchor="ctr"/>
          <a:lstStyle/>
          <a:p>
            <a:pPr indent="0" marL="0">
              <a:buNone/>
            </a:pPr>
            <a:r>
              <a:rPr lang="en-US" sz="1600" b="1" dirty="0">
                <a:solidFill>
                  <a:srgbClr val="1A1A2E"/>
                </a:solidFill>
                <a:latin typeface="Calibri" pitchFamily="34" charset="0"/>
                <a:ea typeface="Calibri" pitchFamily="34" charset="-122"/>
                <a:cs typeface="Calibri" pitchFamily="34" charset="-120"/>
              </a:rPr>
              <a:t>Related Works</a:t>
            </a:r>
            <a:endParaRPr lang="en-US" sz="1600" dirty="0"/>
          </a:p>
        </p:txBody>
      </p:sp>
      <p:sp>
        <p:nvSpPr>
          <p:cNvPr id="10" name="Text 6"/>
          <p:cNvSpPr/>
          <p:nvPr/>
        </p:nvSpPr>
        <p:spPr>
          <a:xfrm>
            <a:off x="1371600" y="2194560"/>
            <a:ext cx="6400800" cy="274320"/>
          </a:xfrm>
          <a:prstGeom prst="rect">
            <a:avLst/>
          </a:prstGeom>
          <a:noFill/>
          <a:ln/>
        </p:spPr>
        <p:txBody>
          <a:bodyPr wrap="square" lIns="0" tIns="0" rIns="0" bIns="0" rtlCol="0" anchor="ctr"/>
          <a:lstStyle/>
          <a:p>
            <a:pPr indent="0" marL="0">
              <a:buNone/>
            </a:pPr>
            <a:r>
              <a:rPr lang="en-US" sz="1200" dirty="0">
                <a:solidFill>
                  <a:srgbClr val="666666"/>
                </a:solidFill>
                <a:latin typeface="Calibri" pitchFamily="34" charset="0"/>
                <a:ea typeface="Calibri" pitchFamily="34" charset="-122"/>
                <a:cs typeface="Calibri" pitchFamily="34" charset="-120"/>
              </a:rPr>
              <a:t>Key results in multiclass learnability</a:t>
            </a:r>
            <a:endParaRPr lang="en-US" sz="1200" dirty="0"/>
          </a:p>
        </p:txBody>
      </p:sp>
      <p:sp>
        <p:nvSpPr>
          <p:cNvPr id="11" name="Shape 7"/>
          <p:cNvSpPr/>
          <p:nvPr/>
        </p:nvSpPr>
        <p:spPr>
          <a:xfrm>
            <a:off x="731520" y="2688336"/>
            <a:ext cx="457200" cy="457200"/>
          </a:xfrm>
          <a:prstGeom prst="ellipse">
            <a:avLst/>
          </a:prstGeom>
          <a:solidFill>
            <a:srgbClr val="1C7293"/>
          </a:solidFill>
          <a:ln/>
        </p:spPr>
      </p:sp>
      <p:pic>
        <p:nvPicPr>
          <p:cNvPr id="12" name="Image 2" descr="preencoded.png">    </p:cNvPr>
          <p:cNvPicPr>
            <a:picLocks noChangeAspect="1"/>
          </p:cNvPicPr>
          <p:nvPr/>
        </p:nvPicPr>
        <p:blipFill>
          <a:blip r:embed="rId3"/>
          <a:stretch>
            <a:fillRect/>
          </a:stretch>
        </p:blipFill>
        <p:spPr>
          <a:xfrm>
            <a:off x="832104" y="2788920"/>
            <a:ext cx="256032" cy="256032"/>
          </a:xfrm>
          <a:prstGeom prst="rect">
            <a:avLst/>
          </a:prstGeom>
        </p:spPr>
      </p:pic>
      <p:sp>
        <p:nvSpPr>
          <p:cNvPr id="13" name="Text 8"/>
          <p:cNvSpPr/>
          <p:nvPr/>
        </p:nvSpPr>
        <p:spPr>
          <a:xfrm>
            <a:off x="1371600" y="2642616"/>
            <a:ext cx="6400800" cy="320040"/>
          </a:xfrm>
          <a:prstGeom prst="rect">
            <a:avLst/>
          </a:prstGeom>
          <a:noFill/>
          <a:ln/>
        </p:spPr>
        <p:txBody>
          <a:bodyPr wrap="square" lIns="0" tIns="0" rIns="0" bIns="0" rtlCol="0" anchor="ctr"/>
          <a:lstStyle/>
          <a:p>
            <a:pPr indent="0" marL="0">
              <a:buNone/>
            </a:pPr>
            <a:r>
              <a:rPr lang="en-US" sz="1600" b="1" dirty="0">
                <a:solidFill>
                  <a:srgbClr val="1A1A2E"/>
                </a:solidFill>
                <a:latin typeface="Calibri" pitchFamily="34" charset="0"/>
                <a:ea typeface="Calibri" pitchFamily="34" charset="-122"/>
                <a:cs typeface="Calibri" pitchFamily="34" charset="-120"/>
              </a:rPr>
              <a:t>Proposed Method</a:t>
            </a:r>
            <a:endParaRPr lang="en-US" sz="1600" dirty="0"/>
          </a:p>
        </p:txBody>
      </p:sp>
      <p:sp>
        <p:nvSpPr>
          <p:cNvPr id="14" name="Text 9"/>
          <p:cNvSpPr/>
          <p:nvPr/>
        </p:nvSpPr>
        <p:spPr>
          <a:xfrm>
            <a:off x="1371600" y="2944368"/>
            <a:ext cx="6400800" cy="274320"/>
          </a:xfrm>
          <a:prstGeom prst="rect">
            <a:avLst/>
          </a:prstGeom>
          <a:noFill/>
          <a:ln/>
        </p:spPr>
        <p:txBody>
          <a:bodyPr wrap="square" lIns="0" tIns="0" rIns="0" bIns="0" rtlCol="0" anchor="ctr"/>
          <a:lstStyle/>
          <a:p>
            <a:pPr indent="0" marL="0">
              <a:buNone/>
            </a:pPr>
            <a:r>
              <a:rPr lang="en-US" sz="1200" dirty="0">
                <a:solidFill>
                  <a:srgbClr val="666666"/>
                </a:solidFill>
                <a:latin typeface="Calibri" pitchFamily="34" charset="0"/>
                <a:ea typeface="Calibri" pitchFamily="34" charset="-122"/>
                <a:cs typeface="Calibri" pitchFamily="34" charset="-120"/>
              </a:rPr>
              <a:t>Local regularization framework</a:t>
            </a:r>
            <a:endParaRPr lang="en-US" sz="1200" dirty="0"/>
          </a:p>
        </p:txBody>
      </p:sp>
      <p:sp>
        <p:nvSpPr>
          <p:cNvPr id="15" name="Shape 10"/>
          <p:cNvSpPr/>
          <p:nvPr/>
        </p:nvSpPr>
        <p:spPr>
          <a:xfrm>
            <a:off x="731520" y="3438144"/>
            <a:ext cx="457200" cy="457200"/>
          </a:xfrm>
          <a:prstGeom prst="ellipse">
            <a:avLst/>
          </a:prstGeom>
          <a:solidFill>
            <a:srgbClr val="1C7293"/>
          </a:solidFill>
          <a:ln/>
        </p:spPr>
      </p:sp>
      <p:pic>
        <p:nvPicPr>
          <p:cNvPr id="16" name="Image 3" descr="preencoded.png">    </p:cNvPr>
          <p:cNvPicPr>
            <a:picLocks noChangeAspect="1"/>
          </p:cNvPicPr>
          <p:nvPr/>
        </p:nvPicPr>
        <p:blipFill>
          <a:blip r:embed="rId4"/>
          <a:stretch>
            <a:fillRect/>
          </a:stretch>
        </p:blipFill>
        <p:spPr>
          <a:xfrm>
            <a:off x="832104" y="3538728"/>
            <a:ext cx="256032" cy="256032"/>
          </a:xfrm>
          <a:prstGeom prst="rect">
            <a:avLst/>
          </a:prstGeom>
        </p:spPr>
      </p:pic>
      <p:sp>
        <p:nvSpPr>
          <p:cNvPr id="17" name="Text 11"/>
          <p:cNvSpPr/>
          <p:nvPr/>
        </p:nvSpPr>
        <p:spPr>
          <a:xfrm>
            <a:off x="1371600" y="3392424"/>
            <a:ext cx="6400800" cy="320040"/>
          </a:xfrm>
          <a:prstGeom prst="rect">
            <a:avLst/>
          </a:prstGeom>
          <a:noFill/>
          <a:ln/>
        </p:spPr>
        <p:txBody>
          <a:bodyPr wrap="square" lIns="0" tIns="0" rIns="0" bIns="0" rtlCol="0" anchor="ctr"/>
          <a:lstStyle/>
          <a:p>
            <a:pPr indent="0" marL="0">
              <a:buNone/>
            </a:pPr>
            <a:r>
              <a:rPr lang="en-US" sz="1600" b="1" dirty="0">
                <a:solidFill>
                  <a:srgbClr val="1A1A2E"/>
                </a:solidFill>
                <a:latin typeface="Calibri" pitchFamily="34" charset="0"/>
                <a:ea typeface="Calibri" pitchFamily="34" charset="-122"/>
                <a:cs typeface="Calibri" pitchFamily="34" charset="-120"/>
              </a:rPr>
              <a:t>Candidate Counterexample</a:t>
            </a:r>
            <a:endParaRPr lang="en-US" sz="1600" dirty="0"/>
          </a:p>
        </p:txBody>
      </p:sp>
      <p:sp>
        <p:nvSpPr>
          <p:cNvPr id="18" name="Text 12"/>
          <p:cNvSpPr/>
          <p:nvPr/>
        </p:nvSpPr>
        <p:spPr>
          <a:xfrm>
            <a:off x="1371600" y="3694176"/>
            <a:ext cx="6400800" cy="274320"/>
          </a:xfrm>
          <a:prstGeom prst="rect">
            <a:avLst/>
          </a:prstGeom>
          <a:noFill/>
          <a:ln/>
        </p:spPr>
        <p:txBody>
          <a:bodyPr wrap="square" lIns="0" tIns="0" rIns="0" bIns="0" rtlCol="0" anchor="ctr"/>
          <a:lstStyle/>
          <a:p>
            <a:pPr indent="0" marL="0">
              <a:buNone/>
            </a:pPr>
            <a:r>
              <a:rPr lang="en-US" sz="1200" dirty="0">
                <a:solidFill>
                  <a:srgbClr val="666666"/>
                </a:solidFill>
                <a:latin typeface="Calibri" pitchFamily="34" charset="0"/>
                <a:ea typeface="Calibri" pitchFamily="34" charset="-122"/>
                <a:cs typeface="Calibri" pitchFamily="34" charset="-120"/>
              </a:rPr>
              <a:t>The H△ hypothesis class</a:t>
            </a:r>
            <a:endParaRPr lang="en-US" sz="1200" dirty="0"/>
          </a:p>
        </p:txBody>
      </p:sp>
      <p:sp>
        <p:nvSpPr>
          <p:cNvPr id="19" name="Shape 13"/>
          <p:cNvSpPr/>
          <p:nvPr/>
        </p:nvSpPr>
        <p:spPr>
          <a:xfrm>
            <a:off x="731520" y="4187952"/>
            <a:ext cx="457200" cy="457200"/>
          </a:xfrm>
          <a:prstGeom prst="ellipse">
            <a:avLst/>
          </a:prstGeom>
          <a:solidFill>
            <a:srgbClr val="1C7293"/>
          </a:solidFill>
          <a:ln/>
        </p:spPr>
      </p:sp>
      <p:pic>
        <p:nvPicPr>
          <p:cNvPr id="20" name="Image 4" descr="preencoded.png">    </p:cNvPr>
          <p:cNvPicPr>
            <a:picLocks noChangeAspect="1"/>
          </p:cNvPicPr>
          <p:nvPr/>
        </p:nvPicPr>
        <p:blipFill>
          <a:blip r:embed="rId5"/>
          <a:stretch>
            <a:fillRect/>
          </a:stretch>
        </p:blipFill>
        <p:spPr>
          <a:xfrm>
            <a:off x="832104" y="4288536"/>
            <a:ext cx="256032" cy="256032"/>
          </a:xfrm>
          <a:prstGeom prst="rect">
            <a:avLst/>
          </a:prstGeom>
        </p:spPr>
      </p:pic>
      <p:sp>
        <p:nvSpPr>
          <p:cNvPr id="21" name="Text 14"/>
          <p:cNvSpPr/>
          <p:nvPr/>
        </p:nvSpPr>
        <p:spPr>
          <a:xfrm>
            <a:off x="1371600" y="4142232"/>
            <a:ext cx="6400800" cy="320040"/>
          </a:xfrm>
          <a:prstGeom prst="rect">
            <a:avLst/>
          </a:prstGeom>
          <a:noFill/>
          <a:ln/>
        </p:spPr>
        <p:txBody>
          <a:bodyPr wrap="square" lIns="0" tIns="0" rIns="0" bIns="0" rtlCol="0" anchor="ctr"/>
          <a:lstStyle/>
          <a:p>
            <a:pPr indent="0" marL="0">
              <a:buNone/>
            </a:pPr>
            <a:r>
              <a:rPr lang="en-US" sz="1600" b="1" dirty="0">
                <a:solidFill>
                  <a:srgbClr val="1A1A2E"/>
                </a:solidFill>
                <a:latin typeface="Calibri" pitchFamily="34" charset="0"/>
                <a:ea typeface="Calibri" pitchFamily="34" charset="-122"/>
                <a:cs typeface="Calibri" pitchFamily="34" charset="-120"/>
              </a:rPr>
              <a:t>Conclusion &amp; Open Questions</a:t>
            </a:r>
            <a:endParaRPr lang="en-US" sz="1600" dirty="0"/>
          </a:p>
        </p:txBody>
      </p:sp>
      <p:sp>
        <p:nvSpPr>
          <p:cNvPr id="22" name="Text 15"/>
          <p:cNvSpPr/>
          <p:nvPr/>
        </p:nvSpPr>
        <p:spPr>
          <a:xfrm>
            <a:off x="1371600" y="4443984"/>
            <a:ext cx="6400800" cy="274320"/>
          </a:xfrm>
          <a:prstGeom prst="rect">
            <a:avLst/>
          </a:prstGeom>
          <a:noFill/>
          <a:ln/>
        </p:spPr>
        <p:txBody>
          <a:bodyPr wrap="square" lIns="0" tIns="0" rIns="0" bIns="0" rtlCol="0" anchor="ctr"/>
          <a:lstStyle/>
          <a:p>
            <a:pPr indent="0" marL="0">
              <a:buNone/>
            </a:pPr>
            <a:r>
              <a:rPr lang="en-US" sz="1200" dirty="0">
                <a:solidFill>
                  <a:srgbClr val="666666"/>
                </a:solidFill>
                <a:latin typeface="Calibri" pitchFamily="34" charset="0"/>
                <a:ea typeface="Calibri" pitchFamily="34" charset="-122"/>
                <a:cs typeface="Calibri" pitchFamily="34" charset="-120"/>
              </a:rPr>
              <a:t>Significance and future directions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73152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Motivation: Why Multiclass Is Hard</a:t>
            </a:r>
            <a:endParaRPr lang="en-US" sz="2600" dirty="0"/>
          </a:p>
        </p:txBody>
      </p:sp>
      <p:sp>
        <p:nvSpPr>
          <p:cNvPr id="4" name="Shape 2"/>
          <p:cNvSpPr/>
          <p:nvPr/>
        </p:nvSpPr>
        <p:spPr>
          <a:xfrm>
            <a:off x="457200" y="1097280"/>
            <a:ext cx="3840480" cy="347472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5" name="Shape 3"/>
          <p:cNvSpPr/>
          <p:nvPr/>
        </p:nvSpPr>
        <p:spPr>
          <a:xfrm>
            <a:off x="457200" y="1097280"/>
            <a:ext cx="3840480" cy="457200"/>
          </a:xfrm>
          <a:prstGeom prst="rect">
            <a:avLst/>
          </a:prstGeom>
          <a:solidFill>
            <a:srgbClr val="065A82"/>
          </a:solidFill>
          <a:ln/>
        </p:spPr>
      </p:sp>
      <p:sp>
        <p:nvSpPr>
          <p:cNvPr id="6" name="Text 4"/>
          <p:cNvSpPr/>
          <p:nvPr/>
        </p:nvSpPr>
        <p:spPr>
          <a:xfrm>
            <a:off x="457200" y="1097280"/>
            <a:ext cx="38404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Binary Classification</a:t>
            </a:r>
            <a:endParaRPr lang="en-US" sz="1400" dirty="0"/>
          </a:p>
        </p:txBody>
      </p:sp>
      <p:sp>
        <p:nvSpPr>
          <p:cNvPr id="7" name="Text 5"/>
          <p:cNvSpPr/>
          <p:nvPr/>
        </p:nvSpPr>
        <p:spPr>
          <a:xfrm>
            <a:off x="731520" y="1737360"/>
            <a:ext cx="3291840" cy="2560320"/>
          </a:xfrm>
          <a:prstGeom prst="rect">
            <a:avLst/>
          </a:prstGeom>
          <a:noFill/>
          <a:ln/>
        </p:spPr>
        <p:txBody>
          <a:bodyPr wrap="square" rtlCol="0" anchor="ctr"/>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Well-understood since 1970s–80s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VC dimension characterizes learnability</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ERM is sufficient and near-optimal</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Proper learners always work</a:t>
            </a:r>
            <a:endParaRPr lang="en-US" sz="1300" dirty="0"/>
          </a:p>
        </p:txBody>
      </p:sp>
      <p:pic>
        <p:nvPicPr>
          <p:cNvPr id="8" name="Image 0" descr="preencoded.png">    </p:cNvPr>
          <p:cNvPicPr>
            <a:picLocks noChangeAspect="1"/>
          </p:cNvPicPr>
          <p:nvPr/>
        </p:nvPicPr>
        <p:blipFill>
          <a:blip r:embed="rId1"/>
          <a:stretch>
            <a:fillRect/>
          </a:stretch>
        </p:blipFill>
        <p:spPr>
          <a:xfrm>
            <a:off x="2103120" y="3931920"/>
            <a:ext cx="365760" cy="365760"/>
          </a:xfrm>
          <a:prstGeom prst="rect">
            <a:avLst/>
          </a:prstGeom>
        </p:spPr>
      </p:pic>
      <p:sp>
        <p:nvSpPr>
          <p:cNvPr id="9" name="Shape 6"/>
          <p:cNvSpPr/>
          <p:nvPr/>
        </p:nvSpPr>
        <p:spPr>
          <a:xfrm>
            <a:off x="4846320" y="1097280"/>
            <a:ext cx="3840480" cy="347472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10" name="Shape 7"/>
          <p:cNvSpPr/>
          <p:nvPr/>
        </p:nvSpPr>
        <p:spPr>
          <a:xfrm>
            <a:off x="4846320" y="1097280"/>
            <a:ext cx="3840480" cy="457200"/>
          </a:xfrm>
          <a:prstGeom prst="rect">
            <a:avLst/>
          </a:prstGeom>
          <a:solidFill>
            <a:srgbClr val="F96167"/>
          </a:solidFill>
          <a:ln/>
        </p:spPr>
      </p:sp>
      <p:sp>
        <p:nvSpPr>
          <p:cNvPr id="11" name="Text 8"/>
          <p:cNvSpPr/>
          <p:nvPr/>
        </p:nvSpPr>
        <p:spPr>
          <a:xfrm>
            <a:off x="4846320" y="1097280"/>
            <a:ext cx="38404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Multiclass Classification</a:t>
            </a:r>
            <a:endParaRPr lang="en-US" sz="1400" dirty="0"/>
          </a:p>
        </p:txBody>
      </p:sp>
      <p:sp>
        <p:nvSpPr>
          <p:cNvPr id="12" name="Text 9"/>
          <p:cNvSpPr/>
          <p:nvPr/>
        </p:nvSpPr>
        <p:spPr>
          <a:xfrm>
            <a:off x="5120640" y="1737360"/>
            <a:ext cx="3291840" cy="2560320"/>
          </a:xfrm>
          <a:prstGeom prst="rect">
            <a:avLst/>
          </a:prstGeom>
          <a:noFill/>
          <a:ln/>
        </p:spPr>
        <p:txBody>
          <a:bodyPr wrap="square" rtlCol="0" anchor="ctr"/>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Characterized only in 2022 (Brukhim et al.)</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DS dimension replaces VC dimension</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ERM fails — improper learning needed</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No simple algorithmic template known</a:t>
            </a:r>
            <a:endParaRPr lang="en-US" sz="1300" dirty="0"/>
          </a:p>
        </p:txBody>
      </p:sp>
      <p:pic>
        <p:nvPicPr>
          <p:cNvPr id="13" name="Image 1" descr="preencoded.png">    </p:cNvPr>
          <p:cNvPicPr>
            <a:picLocks noChangeAspect="1"/>
          </p:cNvPicPr>
          <p:nvPr/>
        </p:nvPicPr>
        <p:blipFill>
          <a:blip r:embed="rId2"/>
          <a:stretch>
            <a:fillRect/>
          </a:stretch>
        </p:blipFill>
        <p:spPr>
          <a:xfrm>
            <a:off x="6492240" y="3931920"/>
            <a:ext cx="365760" cy="3657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73152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Key Definitions: PAC Learning</a:t>
            </a:r>
            <a:endParaRPr lang="en-US" sz="2600" dirty="0"/>
          </a:p>
        </p:txBody>
      </p:sp>
      <p:sp>
        <p:nvSpPr>
          <p:cNvPr id="4" name="Shape 2"/>
          <p:cNvSpPr/>
          <p:nvPr/>
        </p:nvSpPr>
        <p:spPr>
          <a:xfrm>
            <a:off x="457200" y="1097280"/>
            <a:ext cx="8229600" cy="137160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5" name="Text 3"/>
          <p:cNvSpPr/>
          <p:nvPr/>
        </p:nvSpPr>
        <p:spPr>
          <a:xfrm>
            <a:off x="640080" y="1143000"/>
            <a:ext cx="7772400" cy="32004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Classification Problem Setup</a:t>
            </a:r>
            <a:endParaRPr lang="en-US" sz="1600" dirty="0"/>
          </a:p>
        </p:txBody>
      </p:sp>
      <p:sp>
        <p:nvSpPr>
          <p:cNvPr id="6" name="Text 4"/>
          <p:cNvSpPr/>
          <p:nvPr/>
        </p:nvSpPr>
        <p:spPr>
          <a:xfrm>
            <a:off x="640080" y="1463040"/>
            <a:ext cx="7772400" cy="91440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Domain </a:t>
            </a:r>
            <a:pPr indent="0" marL="0">
              <a:buNone/>
            </a:pPr>
            <a:r>
              <a:rPr lang="en-US" sz="1300" i="1" dirty="0">
                <a:solidFill>
                  <a:srgbClr val="1A1A2E"/>
                </a:solidFill>
                <a:latin typeface="Calibri" pitchFamily="34" charset="0"/>
                <a:ea typeface="Calibri" pitchFamily="34" charset="-122"/>
                <a:cs typeface="Calibri" pitchFamily="34" charset="-120"/>
              </a:rPr>
              <a:t>𝒳</a:t>
            </a:r>
            <a:pPr indent="0" marL="0">
              <a:buNone/>
            </a:pPr>
            <a:r>
              <a:rPr lang="en-US" sz="1300" dirty="0">
                <a:solidFill>
                  <a:srgbClr val="1A1A2E"/>
                </a:solidFill>
                <a:latin typeface="Calibri" pitchFamily="34" charset="0"/>
                <a:ea typeface="Calibri" pitchFamily="34" charset="-122"/>
                <a:cs typeface="Calibri" pitchFamily="34" charset="-120"/>
              </a:rPr>
              <a:t>, Label set </a:t>
            </a:r>
            <a:pPr indent="0" marL="0">
              <a:buNone/>
            </a:pPr>
            <a:r>
              <a:rPr lang="en-US" sz="1300" i="1" dirty="0">
                <a:solidFill>
                  <a:srgbClr val="1A1A2E"/>
                </a:solidFill>
                <a:latin typeface="Calibri" pitchFamily="34" charset="0"/>
                <a:ea typeface="Calibri" pitchFamily="34" charset="-122"/>
                <a:cs typeface="Calibri" pitchFamily="34" charset="-120"/>
              </a:rPr>
              <a:t>𝒴</a:t>
            </a:r>
            <a:pPr indent="0" marL="0">
              <a:buNone/>
            </a:pPr>
            <a:r>
              <a:rPr lang="en-US" sz="1300" dirty="0">
                <a:solidFill>
                  <a:srgbClr val="1A1A2E"/>
                </a:solidFill>
                <a:latin typeface="Calibri" pitchFamily="34" charset="0"/>
                <a:ea typeface="Calibri" pitchFamily="34" charset="-122"/>
                <a:cs typeface="Calibri" pitchFamily="34" charset="-120"/>
              </a:rPr>
              <a:t>, Hypothesis class </a:t>
            </a:r>
            <a:pPr indent="0" marL="0">
              <a:buNone/>
            </a:pPr>
            <a:r>
              <a:rPr lang="en-US" sz="1300" i="1" dirty="0">
                <a:solidFill>
                  <a:srgbClr val="1A1A2E"/>
                </a:solidFill>
                <a:latin typeface="Calibri" pitchFamily="34" charset="0"/>
                <a:ea typeface="Calibri" pitchFamily="34" charset="-122"/>
                <a:cs typeface="Calibri" pitchFamily="34" charset="-120"/>
              </a:rPr>
              <a:t>H ⊆ 𝒴^𝒳</a:t>
            </a:r>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Loss: ℓ(ŷ, y) = 0 if ŷ = y, 1 otherwise (0-1 loss)</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Goal: Find h such that L_D(h) = E[ℓ(h(x), y)] ≤ ε</a:t>
            </a:r>
            <a:endParaRPr lang="en-US" sz="1300" dirty="0"/>
          </a:p>
        </p:txBody>
      </p:sp>
      <p:sp>
        <p:nvSpPr>
          <p:cNvPr id="7" name="Shape 5"/>
          <p:cNvSpPr/>
          <p:nvPr/>
        </p:nvSpPr>
        <p:spPr>
          <a:xfrm>
            <a:off x="457200" y="2743200"/>
            <a:ext cx="8229600" cy="201168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8" name="Text 6"/>
          <p:cNvSpPr/>
          <p:nvPr/>
        </p:nvSpPr>
        <p:spPr>
          <a:xfrm>
            <a:off x="640080" y="2788920"/>
            <a:ext cx="7772400" cy="32004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PAC Learning (Valiant, 1984)</a:t>
            </a:r>
            <a:endParaRPr lang="en-US" sz="1600" dirty="0"/>
          </a:p>
        </p:txBody>
      </p:sp>
      <p:sp>
        <p:nvSpPr>
          <p:cNvPr id="9" name="Text 7"/>
          <p:cNvSpPr/>
          <p:nvPr/>
        </p:nvSpPr>
        <p:spPr>
          <a:xfrm>
            <a:off x="640080" y="3108960"/>
            <a:ext cx="7772400" cy="155448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 learner A is a PAC learner for H if there exists m: (0,1)² → ℕ such that:</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For any realizable D, for ε, δ ∈ (0,1), given |S| ≥ m(ε, δ) i.i.d. samples:</a:t>
            </a:r>
            <a:endParaRPr lang="en-US" sz="1300" dirty="0"/>
          </a:p>
          <a:p>
            <a:pPr indent="0" marL="0">
              <a:buNone/>
            </a:pPr>
            <a:endParaRPr lang="en-US" sz="1300" dirty="0"/>
          </a:p>
          <a:p>
            <a:pPr indent="0" marL="0">
              <a:buNone/>
            </a:pPr>
            <a:r>
              <a:rPr lang="en-US" sz="1500" b="1" dirty="0">
                <a:solidFill>
                  <a:srgbClr val="1A1A2E"/>
                </a:solidFill>
                <a:latin typeface="Calibri" pitchFamily="34" charset="0"/>
                <a:ea typeface="Calibri" pitchFamily="34" charset="-122"/>
                <a:cs typeface="Calibri" pitchFamily="34" charset="-120"/>
              </a:rPr>
              <a:t>           Pr[ L_D(A(S)) ≤ ε ] ≥ 1 − δ</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The sample complexity m_H(ε, δ) = min_A m_A(ε, δ)</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73152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ERM and Its Limitations in Multiclass</a:t>
            </a:r>
            <a:endParaRPr lang="en-US" sz="2600" dirty="0"/>
          </a:p>
        </p:txBody>
      </p:sp>
      <p:sp>
        <p:nvSpPr>
          <p:cNvPr id="4" name="Shape 2"/>
          <p:cNvSpPr/>
          <p:nvPr/>
        </p:nvSpPr>
        <p:spPr>
          <a:xfrm>
            <a:off x="457200" y="1097280"/>
            <a:ext cx="8229600" cy="109728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5" name="Shape 3"/>
          <p:cNvSpPr/>
          <p:nvPr/>
        </p:nvSpPr>
        <p:spPr>
          <a:xfrm>
            <a:off x="457200" y="1097280"/>
            <a:ext cx="73152" cy="1097280"/>
          </a:xfrm>
          <a:prstGeom prst="rect">
            <a:avLst/>
          </a:prstGeom>
          <a:solidFill>
            <a:srgbClr val="065A82"/>
          </a:solidFill>
          <a:ln/>
        </p:spPr>
      </p:sp>
      <p:sp>
        <p:nvSpPr>
          <p:cNvPr id="6" name="Text 4"/>
          <p:cNvSpPr/>
          <p:nvPr/>
        </p:nvSpPr>
        <p:spPr>
          <a:xfrm>
            <a:off x="731520" y="1143000"/>
            <a:ext cx="7772400" cy="32004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Empirical Risk Minimization (ERM)</a:t>
            </a:r>
            <a:endParaRPr lang="en-US" sz="1600" dirty="0"/>
          </a:p>
        </p:txBody>
      </p:sp>
      <p:sp>
        <p:nvSpPr>
          <p:cNvPr id="7" name="Text 5"/>
          <p:cNvSpPr/>
          <p:nvPr/>
        </p:nvSpPr>
        <p:spPr>
          <a:xfrm>
            <a:off x="731520" y="1508760"/>
            <a:ext cx="7772400" cy="54864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Select any h ∈ H with perfect empirical performance on S: h ∈ argmin_{h∈H} L_S(h)</a:t>
            </a:r>
            <a:endParaRPr lang="en-US" sz="1400" dirty="0"/>
          </a:p>
        </p:txBody>
      </p:sp>
      <p:sp>
        <p:nvSpPr>
          <p:cNvPr id="8" name="Shape 6"/>
          <p:cNvSpPr/>
          <p:nvPr/>
        </p:nvSpPr>
        <p:spPr>
          <a:xfrm>
            <a:off x="457200" y="2468880"/>
            <a:ext cx="8229600" cy="1188720"/>
          </a:xfrm>
          <a:prstGeom prst="rect">
            <a:avLst/>
          </a:prstGeom>
          <a:solidFill>
            <a:srgbClr val="FFF3F3"/>
          </a:solidFill>
          <a:ln/>
          <a:effectLst>
            <a:outerShdw sx="100000" sy="100000" kx="0" ky="0" algn="bl" rotWithShape="0" blurRad="76200" dist="25400" dir="8100000">
              <a:srgbClr val="000000">
                <a:alpha val="15000"/>
              </a:srgbClr>
            </a:outerShdw>
          </a:effectLst>
        </p:spPr>
      </p:sp>
      <p:sp>
        <p:nvSpPr>
          <p:cNvPr id="9" name="Shape 7"/>
          <p:cNvSpPr/>
          <p:nvPr/>
        </p:nvSpPr>
        <p:spPr>
          <a:xfrm>
            <a:off x="457200" y="2468880"/>
            <a:ext cx="73152" cy="1188720"/>
          </a:xfrm>
          <a:prstGeom prst="rect">
            <a:avLst/>
          </a:prstGeom>
          <a:solidFill>
            <a:srgbClr val="F96167"/>
          </a:solidFill>
          <a:ln/>
        </p:spPr>
      </p:sp>
      <p:sp>
        <p:nvSpPr>
          <p:cNvPr id="10" name="Text 8"/>
          <p:cNvSpPr/>
          <p:nvPr/>
        </p:nvSpPr>
        <p:spPr>
          <a:xfrm>
            <a:off x="731520" y="2514600"/>
            <a:ext cx="7772400" cy="320040"/>
          </a:xfrm>
          <a:prstGeom prst="rect">
            <a:avLst/>
          </a:prstGeom>
          <a:noFill/>
          <a:ln/>
        </p:spPr>
        <p:txBody>
          <a:bodyPr wrap="square" lIns="0" tIns="0" rIns="0" bIns="0" rtlCol="0" anchor="ctr"/>
          <a:lstStyle/>
          <a:p>
            <a:pPr indent="0" marL="0">
              <a:buNone/>
            </a:pPr>
            <a:r>
              <a:rPr lang="en-US" sz="1500" b="1" dirty="0">
                <a:solidFill>
                  <a:srgbClr val="F96167"/>
                </a:solidFill>
                <a:latin typeface="Georgia" pitchFamily="34" charset="0"/>
                <a:ea typeface="Georgia" pitchFamily="34" charset="-122"/>
                <a:cs typeface="Georgia" pitchFamily="34" charset="-120"/>
              </a:rPr>
              <a:t>Key Result: ERM Fails for Multiclass (Daniely &amp; Shalev-Shwartz, 2014)</a:t>
            </a:r>
            <a:endParaRPr lang="en-US" sz="1500" dirty="0"/>
          </a:p>
        </p:txBody>
      </p:sp>
      <p:sp>
        <p:nvSpPr>
          <p:cNvPr id="11" name="Text 9"/>
          <p:cNvSpPr/>
          <p:nvPr/>
        </p:nvSpPr>
        <p:spPr>
          <a:xfrm>
            <a:off x="731520" y="2880360"/>
            <a:ext cx="7772400" cy="64008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There exist learnable multiclass hypothesis classes where any learner must be </a:t>
            </a:r>
            <a:pPr indent="0" marL="0">
              <a:buNone/>
            </a:pPr>
            <a:r>
              <a:rPr lang="en-US" sz="1300" b="1" i="1" dirty="0">
                <a:solidFill>
                  <a:srgbClr val="1A1A2E"/>
                </a:solidFill>
                <a:latin typeface="Calibri" pitchFamily="34" charset="0"/>
                <a:ea typeface="Calibri" pitchFamily="34" charset="-122"/>
                <a:cs typeface="Calibri" pitchFamily="34" charset="-120"/>
              </a:rPr>
              <a:t>improper</a:t>
            </a:r>
            <a:pPr indent="0" marL="0">
              <a:buNone/>
            </a:pPr>
            <a:r>
              <a:rPr lang="en-US" sz="1300" dirty="0">
                <a:solidFill>
                  <a:srgbClr val="1A1A2E"/>
                </a:solidFill>
                <a:latin typeface="Calibri" pitchFamily="34" charset="0"/>
                <a:ea typeface="Calibri" pitchFamily="34" charset="-122"/>
                <a:cs typeface="Calibri" pitchFamily="34" charset="-120"/>
              </a:rPr>
              <a:t> — i.e., it must output hypotheses outside of H on some samples.</a:t>
            </a:r>
            <a:endParaRPr lang="en-US" sz="1300" dirty="0"/>
          </a:p>
        </p:txBody>
      </p:sp>
      <p:sp>
        <p:nvSpPr>
          <p:cNvPr id="12" name="Shape 10"/>
          <p:cNvSpPr/>
          <p:nvPr/>
        </p:nvSpPr>
        <p:spPr>
          <a:xfrm>
            <a:off x="457200" y="3840480"/>
            <a:ext cx="8229600" cy="914400"/>
          </a:xfrm>
          <a:prstGeom prst="rect">
            <a:avLst/>
          </a:prstGeom>
          <a:solidFill>
            <a:srgbClr val="F0F4F8"/>
          </a:solidFill>
          <a:ln/>
          <a:effectLst>
            <a:outerShdw sx="100000" sy="100000" kx="0" ky="0" algn="bl" rotWithShape="0" blurRad="76200" dist="25400" dir="8100000">
              <a:srgbClr val="000000">
                <a:alpha val="15000"/>
              </a:srgbClr>
            </a:outerShdw>
          </a:effectLst>
        </p:spPr>
      </p:sp>
      <p:pic>
        <p:nvPicPr>
          <p:cNvPr id="13" name="Image 0" descr="preencoded.png">    </p:cNvPr>
          <p:cNvPicPr>
            <a:picLocks noChangeAspect="1"/>
          </p:cNvPicPr>
          <p:nvPr/>
        </p:nvPicPr>
        <p:blipFill>
          <a:blip r:embed="rId1"/>
          <a:stretch>
            <a:fillRect/>
          </a:stretch>
        </p:blipFill>
        <p:spPr>
          <a:xfrm>
            <a:off x="640080" y="4023360"/>
            <a:ext cx="320040" cy="320040"/>
          </a:xfrm>
          <a:prstGeom prst="rect">
            <a:avLst/>
          </a:prstGeom>
        </p:spPr>
      </p:pic>
      <p:sp>
        <p:nvSpPr>
          <p:cNvPr id="14" name="Text 11"/>
          <p:cNvSpPr/>
          <p:nvPr/>
        </p:nvSpPr>
        <p:spPr>
          <a:xfrm>
            <a:off x="1097280" y="3886200"/>
            <a:ext cx="7315200" cy="82296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Since ERM searches only within H, it cannot learn all multiclass problems.</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We need a more powerful — but still simple — learning rule.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73152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Related Works</a:t>
            </a:r>
            <a:endParaRPr lang="en-US" sz="2600" dirty="0"/>
          </a:p>
        </p:txBody>
      </p:sp>
      <p:sp>
        <p:nvSpPr>
          <p:cNvPr id="4" name="Shape 2"/>
          <p:cNvSpPr/>
          <p:nvPr/>
        </p:nvSpPr>
        <p:spPr>
          <a:xfrm>
            <a:off x="457200" y="1051560"/>
            <a:ext cx="8229600" cy="658368"/>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5" name="Shape 3"/>
          <p:cNvSpPr/>
          <p:nvPr/>
        </p:nvSpPr>
        <p:spPr>
          <a:xfrm>
            <a:off x="457200" y="1051560"/>
            <a:ext cx="73152" cy="658368"/>
          </a:xfrm>
          <a:prstGeom prst="rect">
            <a:avLst/>
          </a:prstGeom>
          <a:solidFill>
            <a:srgbClr val="065A82"/>
          </a:solidFill>
          <a:ln/>
        </p:spPr>
      </p:sp>
      <p:sp>
        <p:nvSpPr>
          <p:cNvPr id="6" name="Text 4"/>
          <p:cNvSpPr/>
          <p:nvPr/>
        </p:nvSpPr>
        <p:spPr>
          <a:xfrm>
            <a:off x="731520" y="1069848"/>
            <a:ext cx="7772400"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Vapnik &amp; Chervonenkis (1971)</a:t>
            </a:r>
            <a:endParaRPr lang="en-US" sz="1300" dirty="0"/>
          </a:p>
        </p:txBody>
      </p:sp>
      <p:sp>
        <p:nvSpPr>
          <p:cNvPr id="7" name="Text 5"/>
          <p:cNvSpPr/>
          <p:nvPr/>
        </p:nvSpPr>
        <p:spPr>
          <a:xfrm>
            <a:off x="731520" y="1344168"/>
            <a:ext cx="7772400" cy="3200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VC dimension: complete characterization of binary learnability.</a:t>
            </a:r>
            <a:endParaRPr lang="en-US" sz="1200" dirty="0"/>
          </a:p>
        </p:txBody>
      </p:sp>
      <p:sp>
        <p:nvSpPr>
          <p:cNvPr id="8" name="Shape 6"/>
          <p:cNvSpPr/>
          <p:nvPr/>
        </p:nvSpPr>
        <p:spPr>
          <a:xfrm>
            <a:off x="457200" y="1828800"/>
            <a:ext cx="8229600" cy="658368"/>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9" name="Shape 7"/>
          <p:cNvSpPr/>
          <p:nvPr/>
        </p:nvSpPr>
        <p:spPr>
          <a:xfrm>
            <a:off x="457200" y="1828800"/>
            <a:ext cx="73152" cy="658368"/>
          </a:xfrm>
          <a:prstGeom prst="rect">
            <a:avLst/>
          </a:prstGeom>
          <a:solidFill>
            <a:srgbClr val="1C7293"/>
          </a:solidFill>
          <a:ln/>
        </p:spPr>
      </p:sp>
      <p:sp>
        <p:nvSpPr>
          <p:cNvPr id="10" name="Text 8"/>
          <p:cNvSpPr/>
          <p:nvPr/>
        </p:nvSpPr>
        <p:spPr>
          <a:xfrm>
            <a:off x="731520" y="1847088"/>
            <a:ext cx="7772400" cy="27432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Daniely &amp; Shalev-Shwartz (2014)</a:t>
            </a:r>
            <a:endParaRPr lang="en-US" sz="1300" dirty="0"/>
          </a:p>
        </p:txBody>
      </p:sp>
      <p:sp>
        <p:nvSpPr>
          <p:cNvPr id="11" name="Text 9"/>
          <p:cNvSpPr/>
          <p:nvPr/>
        </p:nvSpPr>
        <p:spPr>
          <a:xfrm>
            <a:off x="731520" y="2121408"/>
            <a:ext cx="7772400" cy="3200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Proved ERM fails for multiclass; improper learning is necessary. Introduced OIG-based learners.</a:t>
            </a:r>
            <a:endParaRPr lang="en-US" sz="1200" dirty="0"/>
          </a:p>
        </p:txBody>
      </p:sp>
      <p:sp>
        <p:nvSpPr>
          <p:cNvPr id="12" name="Shape 10"/>
          <p:cNvSpPr/>
          <p:nvPr/>
        </p:nvSpPr>
        <p:spPr>
          <a:xfrm>
            <a:off x="457200" y="2606040"/>
            <a:ext cx="8229600" cy="658368"/>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13" name="Shape 11"/>
          <p:cNvSpPr/>
          <p:nvPr/>
        </p:nvSpPr>
        <p:spPr>
          <a:xfrm>
            <a:off x="457200" y="2606040"/>
            <a:ext cx="73152" cy="658368"/>
          </a:xfrm>
          <a:prstGeom prst="rect">
            <a:avLst/>
          </a:prstGeom>
          <a:solidFill>
            <a:srgbClr val="065A82"/>
          </a:solidFill>
          <a:ln/>
        </p:spPr>
      </p:sp>
      <p:sp>
        <p:nvSpPr>
          <p:cNvPr id="14" name="Text 12"/>
          <p:cNvSpPr/>
          <p:nvPr/>
        </p:nvSpPr>
        <p:spPr>
          <a:xfrm>
            <a:off x="731520" y="2624328"/>
            <a:ext cx="7772400"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David, Moran &amp; Yehudayoff (2016)</a:t>
            </a:r>
            <a:endParaRPr lang="en-US" sz="1300" dirty="0"/>
          </a:p>
        </p:txBody>
      </p:sp>
      <p:sp>
        <p:nvSpPr>
          <p:cNvPr id="15" name="Text 13"/>
          <p:cNvSpPr/>
          <p:nvPr/>
        </p:nvSpPr>
        <p:spPr>
          <a:xfrm>
            <a:off x="731520" y="2898648"/>
            <a:ext cx="7772400" cy="3200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Equivalence between learning and sublinear sample compression schemes.</a:t>
            </a:r>
            <a:endParaRPr lang="en-US" sz="1200" dirty="0"/>
          </a:p>
        </p:txBody>
      </p:sp>
      <p:sp>
        <p:nvSpPr>
          <p:cNvPr id="16" name="Shape 14"/>
          <p:cNvSpPr/>
          <p:nvPr/>
        </p:nvSpPr>
        <p:spPr>
          <a:xfrm>
            <a:off x="457200" y="3383280"/>
            <a:ext cx="8229600" cy="658368"/>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17" name="Shape 15"/>
          <p:cNvSpPr/>
          <p:nvPr/>
        </p:nvSpPr>
        <p:spPr>
          <a:xfrm>
            <a:off x="457200" y="3383280"/>
            <a:ext cx="73152" cy="658368"/>
          </a:xfrm>
          <a:prstGeom prst="rect">
            <a:avLst/>
          </a:prstGeom>
          <a:solidFill>
            <a:srgbClr val="1C7293"/>
          </a:solidFill>
          <a:ln/>
        </p:spPr>
      </p:sp>
      <p:sp>
        <p:nvSpPr>
          <p:cNvPr id="18" name="Text 16"/>
          <p:cNvSpPr/>
          <p:nvPr/>
        </p:nvSpPr>
        <p:spPr>
          <a:xfrm>
            <a:off x="731520" y="3401568"/>
            <a:ext cx="7772400" cy="27432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Brukhim et al. (2022)</a:t>
            </a:r>
            <a:endParaRPr lang="en-US" sz="1300" dirty="0"/>
          </a:p>
        </p:txBody>
      </p:sp>
      <p:sp>
        <p:nvSpPr>
          <p:cNvPr id="19" name="Text 17"/>
          <p:cNvSpPr/>
          <p:nvPr/>
        </p:nvSpPr>
        <p:spPr>
          <a:xfrm>
            <a:off x="731520" y="3675888"/>
            <a:ext cx="7772400" cy="3200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First complete characterization of multiclass learnability via the DS dimension.</a:t>
            </a:r>
            <a:endParaRPr lang="en-US" sz="1200" dirty="0"/>
          </a:p>
        </p:txBody>
      </p:sp>
      <p:sp>
        <p:nvSpPr>
          <p:cNvPr id="20" name="Shape 18"/>
          <p:cNvSpPr/>
          <p:nvPr/>
        </p:nvSpPr>
        <p:spPr>
          <a:xfrm>
            <a:off x="457200" y="4160520"/>
            <a:ext cx="8229600" cy="658368"/>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21" name="Shape 19"/>
          <p:cNvSpPr/>
          <p:nvPr/>
        </p:nvSpPr>
        <p:spPr>
          <a:xfrm>
            <a:off x="457200" y="4160520"/>
            <a:ext cx="73152" cy="658368"/>
          </a:xfrm>
          <a:prstGeom prst="rect">
            <a:avLst/>
          </a:prstGeom>
          <a:solidFill>
            <a:srgbClr val="F96167"/>
          </a:solidFill>
          <a:ln/>
        </p:spPr>
      </p:sp>
      <p:sp>
        <p:nvSpPr>
          <p:cNvPr id="22" name="Text 20"/>
          <p:cNvSpPr/>
          <p:nvPr/>
        </p:nvSpPr>
        <p:spPr>
          <a:xfrm>
            <a:off x="731520" y="4178808"/>
            <a:ext cx="7772400" cy="27432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Asilis et al. (2024)</a:t>
            </a:r>
            <a:endParaRPr lang="en-US" sz="1300" dirty="0"/>
          </a:p>
        </p:txBody>
      </p:sp>
      <p:sp>
        <p:nvSpPr>
          <p:cNvPr id="23" name="Text 21"/>
          <p:cNvSpPr/>
          <p:nvPr/>
        </p:nvSpPr>
        <p:spPr>
          <a:xfrm>
            <a:off x="731520" y="4453128"/>
            <a:ext cx="7772400" cy="3200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Introduced local regularization; showed unsupervised variant learns all multiclass problems.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73152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From SRM to Local Regularization</a:t>
            </a:r>
            <a:endParaRPr lang="en-US" sz="2600" dirty="0"/>
          </a:p>
        </p:txBody>
      </p:sp>
      <p:sp>
        <p:nvSpPr>
          <p:cNvPr id="4" name="Shape 2"/>
          <p:cNvSpPr/>
          <p:nvPr/>
        </p:nvSpPr>
        <p:spPr>
          <a:xfrm>
            <a:off x="457200" y="1097280"/>
            <a:ext cx="3840480" cy="182880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5" name="Shape 3"/>
          <p:cNvSpPr/>
          <p:nvPr/>
        </p:nvSpPr>
        <p:spPr>
          <a:xfrm>
            <a:off x="457200" y="1097280"/>
            <a:ext cx="3840480" cy="411480"/>
          </a:xfrm>
          <a:prstGeom prst="rect">
            <a:avLst/>
          </a:prstGeom>
          <a:solidFill>
            <a:srgbClr val="065A82"/>
          </a:solidFill>
          <a:ln/>
        </p:spPr>
      </p:sp>
      <p:sp>
        <p:nvSpPr>
          <p:cNvPr id="6" name="Text 4"/>
          <p:cNvSpPr/>
          <p:nvPr/>
        </p:nvSpPr>
        <p:spPr>
          <a:xfrm>
            <a:off x="457200" y="1097280"/>
            <a:ext cx="3840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SRM: ψ(h)</a:t>
            </a:r>
            <a:endParaRPr lang="en-US" sz="1400" dirty="0"/>
          </a:p>
        </p:txBody>
      </p:sp>
      <p:sp>
        <p:nvSpPr>
          <p:cNvPr id="7" name="Text 5"/>
          <p:cNvSpPr/>
          <p:nvPr/>
        </p:nvSpPr>
        <p:spPr>
          <a:xfrm>
            <a:off x="640080" y="1600200"/>
            <a:ext cx="3474720" cy="118872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argmin_{h∈H} L_S(h) + ψ(h)</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Global complexity measure.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Proper learner → fails multiclass.</a:t>
            </a:r>
            <a:endParaRPr lang="en-US" sz="1200" dirty="0"/>
          </a:p>
        </p:txBody>
      </p:sp>
      <p:pic>
        <p:nvPicPr>
          <p:cNvPr id="8" name="Image 0" descr="preencoded.png">    </p:cNvPr>
          <p:cNvPicPr>
            <a:picLocks noChangeAspect="1"/>
          </p:cNvPicPr>
          <p:nvPr/>
        </p:nvPicPr>
        <p:blipFill>
          <a:blip r:embed="rId1"/>
          <a:stretch>
            <a:fillRect/>
          </a:stretch>
        </p:blipFill>
        <p:spPr>
          <a:xfrm>
            <a:off x="2148840" y="2606040"/>
            <a:ext cx="274320" cy="274320"/>
          </a:xfrm>
          <a:prstGeom prst="rect">
            <a:avLst/>
          </a:prstGeom>
        </p:spPr>
      </p:pic>
      <p:pic>
        <p:nvPicPr>
          <p:cNvPr id="9" name="Image 1" descr="preencoded.png">    </p:cNvPr>
          <p:cNvPicPr>
            <a:picLocks noChangeAspect="1"/>
          </p:cNvPicPr>
          <p:nvPr/>
        </p:nvPicPr>
        <p:blipFill>
          <a:blip r:embed="rId2"/>
          <a:stretch>
            <a:fillRect/>
          </a:stretch>
        </p:blipFill>
        <p:spPr>
          <a:xfrm>
            <a:off x="4434840" y="1737360"/>
            <a:ext cx="320040" cy="320040"/>
          </a:xfrm>
          <a:prstGeom prst="rect">
            <a:avLst/>
          </a:prstGeom>
        </p:spPr>
      </p:pic>
      <p:sp>
        <p:nvSpPr>
          <p:cNvPr id="10" name="Shape 6"/>
          <p:cNvSpPr/>
          <p:nvPr/>
        </p:nvSpPr>
        <p:spPr>
          <a:xfrm>
            <a:off x="4846320" y="1097280"/>
            <a:ext cx="3840480" cy="182880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11" name="Shape 7"/>
          <p:cNvSpPr/>
          <p:nvPr/>
        </p:nvSpPr>
        <p:spPr>
          <a:xfrm>
            <a:off x="4846320" y="1097280"/>
            <a:ext cx="3840480" cy="411480"/>
          </a:xfrm>
          <a:prstGeom prst="rect">
            <a:avLst/>
          </a:prstGeom>
          <a:solidFill>
            <a:srgbClr val="1C7293"/>
          </a:solidFill>
          <a:ln/>
        </p:spPr>
      </p:sp>
      <p:sp>
        <p:nvSpPr>
          <p:cNvPr id="12" name="Text 8"/>
          <p:cNvSpPr/>
          <p:nvPr/>
        </p:nvSpPr>
        <p:spPr>
          <a:xfrm>
            <a:off x="4846320" y="1097280"/>
            <a:ext cx="3840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Local Reg: ψ(h, x)</a:t>
            </a:r>
            <a:endParaRPr lang="en-US" sz="1400" dirty="0"/>
          </a:p>
        </p:txBody>
      </p:sp>
      <p:sp>
        <p:nvSpPr>
          <p:cNvPr id="13" name="Text 9"/>
          <p:cNvSpPr/>
          <p:nvPr/>
        </p:nvSpPr>
        <p:spPr>
          <a:xfrm>
            <a:off x="5029200" y="1600200"/>
            <a:ext cx="3474720" cy="118872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A(S)(x) = h(x) where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h ∈ argmin_{h∈L⁻¹_S(0)} ψ(h, x)</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Point-dependent complexity.</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Permits improper learning!</a:t>
            </a:r>
            <a:endParaRPr lang="en-US" sz="1200" dirty="0"/>
          </a:p>
        </p:txBody>
      </p:sp>
      <p:pic>
        <p:nvPicPr>
          <p:cNvPr id="14" name="Image 2" descr="preencoded.png">    </p:cNvPr>
          <p:cNvPicPr>
            <a:picLocks noChangeAspect="1"/>
          </p:cNvPicPr>
          <p:nvPr/>
        </p:nvPicPr>
        <p:blipFill>
          <a:blip r:embed="rId3"/>
          <a:stretch>
            <a:fillRect/>
          </a:stretch>
        </p:blipFill>
        <p:spPr>
          <a:xfrm>
            <a:off x="6537960" y="2606040"/>
            <a:ext cx="274320" cy="274320"/>
          </a:xfrm>
          <a:prstGeom prst="rect">
            <a:avLst/>
          </a:prstGeom>
        </p:spPr>
      </p:pic>
      <p:sp>
        <p:nvSpPr>
          <p:cNvPr id="15" name="Shape 10"/>
          <p:cNvSpPr/>
          <p:nvPr/>
        </p:nvSpPr>
        <p:spPr>
          <a:xfrm>
            <a:off x="457200" y="3200400"/>
            <a:ext cx="8229600" cy="1554480"/>
          </a:xfrm>
          <a:prstGeom prst="rect">
            <a:avLst/>
          </a:prstGeom>
          <a:solidFill>
            <a:srgbClr val="F0F7FF"/>
          </a:solidFill>
          <a:ln/>
          <a:effectLst>
            <a:outerShdw sx="100000" sy="100000" kx="0" ky="0" algn="bl" rotWithShape="0" blurRad="76200" dist="25400" dir="8100000">
              <a:srgbClr val="000000">
                <a:alpha val="15000"/>
              </a:srgbClr>
            </a:outerShdw>
          </a:effectLst>
        </p:spPr>
      </p:sp>
      <p:sp>
        <p:nvSpPr>
          <p:cNvPr id="16" name="Shape 11"/>
          <p:cNvSpPr/>
          <p:nvPr/>
        </p:nvSpPr>
        <p:spPr>
          <a:xfrm>
            <a:off x="457200" y="3200400"/>
            <a:ext cx="73152" cy="1554480"/>
          </a:xfrm>
          <a:prstGeom prst="rect">
            <a:avLst/>
          </a:prstGeom>
          <a:solidFill>
            <a:srgbClr val="1C7293"/>
          </a:solidFill>
          <a:ln/>
        </p:spPr>
      </p:sp>
      <p:sp>
        <p:nvSpPr>
          <p:cNvPr id="17" name="Text 12"/>
          <p:cNvSpPr/>
          <p:nvPr/>
        </p:nvSpPr>
        <p:spPr>
          <a:xfrm>
            <a:off x="731520" y="3246120"/>
            <a:ext cx="7772400" cy="320040"/>
          </a:xfrm>
          <a:prstGeom prst="rect">
            <a:avLst/>
          </a:prstGeom>
          <a:noFill/>
          <a:ln/>
        </p:spPr>
        <p:txBody>
          <a:bodyPr wrap="square" lIns="0" tIns="0" rIns="0" bIns="0" rtlCol="0" anchor="ctr"/>
          <a:lstStyle/>
          <a:p>
            <a:pPr indent="0" marL="0">
              <a:buNone/>
            </a:pPr>
            <a:r>
              <a:rPr lang="en-US" sz="1500" b="1" dirty="0">
                <a:solidFill>
                  <a:srgbClr val="1C7293"/>
                </a:solidFill>
                <a:latin typeface="Georgia" pitchFamily="34" charset="0"/>
                <a:ea typeface="Georgia" pitchFamily="34" charset="-122"/>
                <a:cs typeface="Georgia" pitchFamily="34" charset="-120"/>
              </a:rPr>
              <a:t>Why Local Regularization Enables Improper Learning</a:t>
            </a:r>
            <a:endParaRPr lang="en-US" sz="1500" dirty="0"/>
          </a:p>
        </p:txBody>
      </p:sp>
      <p:sp>
        <p:nvSpPr>
          <p:cNvPr id="18" name="Text 13"/>
          <p:cNvSpPr/>
          <p:nvPr/>
        </p:nvSpPr>
        <p:spPr>
          <a:xfrm>
            <a:off x="731520" y="3566160"/>
            <a:ext cx="7772400" cy="109728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The x-dependence lets ψ "stitch together" different hypotheses across the domain:</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If h₀ is simple on B but complex on A, and h₁ is the opposite:</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Set ψ(h₀, a) &gt; ψ(h₁, a) for a ∈ A  and  ψ(h₀, b) &lt; ψ(h₁, b) for b ∈ B</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The output at each point x picks the "simplest" consistent hypothesis at that point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73152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Formal Definition of Local Regularization</a:t>
            </a:r>
            <a:endParaRPr lang="en-US" sz="2600" dirty="0"/>
          </a:p>
        </p:txBody>
      </p:sp>
      <p:sp>
        <p:nvSpPr>
          <p:cNvPr id="4" name="Shape 2"/>
          <p:cNvSpPr/>
          <p:nvPr/>
        </p:nvSpPr>
        <p:spPr>
          <a:xfrm>
            <a:off x="457200" y="1097280"/>
            <a:ext cx="8229600" cy="228600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5" name="Text 3"/>
          <p:cNvSpPr/>
          <p:nvPr/>
        </p:nvSpPr>
        <p:spPr>
          <a:xfrm>
            <a:off x="640080" y="1143000"/>
            <a:ext cx="7772400" cy="32004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Definition (Local Regularizer)</a:t>
            </a:r>
            <a:endParaRPr lang="en-US" sz="1600" dirty="0"/>
          </a:p>
        </p:txBody>
      </p:sp>
      <p:sp>
        <p:nvSpPr>
          <p:cNvPr id="6" name="Text 4"/>
          <p:cNvSpPr/>
          <p:nvPr/>
        </p:nvSpPr>
        <p:spPr>
          <a:xfrm>
            <a:off x="640080" y="1463040"/>
            <a:ext cx="7772400" cy="182880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A local regularizer for H is a function  ψ : H × 𝒳 → ℝ₊</a:t>
            </a:r>
            <a:endParaRPr lang="en-US" sz="1400" dirty="0"/>
          </a:p>
          <a:p>
            <a:pPr indent="0" marL="0">
              <a:buNone/>
            </a:pPr>
            <a:endParaRPr lang="en-US" sz="1400" dirty="0"/>
          </a:p>
          <a:p>
            <a:pPr indent="0" marL="0">
              <a:buNone/>
            </a:pPr>
            <a:endParaRPr lang="en-US" sz="1400" dirty="0"/>
          </a:p>
          <a:p>
            <a:pPr indent="0" marL="0">
              <a:buNone/>
            </a:pPr>
            <a:r>
              <a:rPr lang="en-US" sz="1300" dirty="0">
                <a:solidFill>
                  <a:srgbClr val="1A1A2E"/>
                </a:solidFill>
                <a:latin typeface="Calibri" pitchFamily="34" charset="0"/>
                <a:ea typeface="Calibri" pitchFamily="34" charset="-122"/>
                <a:cs typeface="Calibri" pitchFamily="34" charset="-120"/>
              </a:rPr>
              <a:t>A learner A is induced by ψ if for all samples S and points x ∈ 𝒳:</a:t>
            </a:r>
            <a:endParaRPr lang="en-US" sz="1400" dirty="0"/>
          </a:p>
          <a:p>
            <a:pPr indent="0" marL="0">
              <a:buNone/>
            </a:pPr>
            <a:endParaRPr lang="en-US" sz="1400" dirty="0"/>
          </a:p>
          <a:p>
            <a:pPr indent="0" marL="0">
              <a:buNone/>
            </a:pPr>
            <a:endParaRPr lang="en-US" sz="1400" dirty="0"/>
          </a:p>
          <a:p>
            <a:pPr indent="0" marL="0">
              <a:buNone/>
            </a:pPr>
            <a:r>
              <a:rPr lang="en-US" sz="1500" b="1" dirty="0">
                <a:solidFill>
                  <a:srgbClr val="1A1A2E"/>
                </a:solidFill>
                <a:latin typeface="Calibri" pitchFamily="34" charset="0"/>
                <a:ea typeface="Calibri" pitchFamily="34" charset="-122"/>
                <a:cs typeface="Calibri" pitchFamily="34" charset="-120"/>
              </a:rPr>
              <a:t>         A(S)(x)  ∈  { h(x) : h ∈ argmin_{h ∈ L⁻¹_S(0)} ψ(h, x) }</a:t>
            </a:r>
            <a:endParaRPr lang="en-US" sz="1400" dirty="0"/>
          </a:p>
          <a:p>
            <a:pPr indent="0" marL="0">
              <a:buNone/>
            </a:pPr>
            <a:endParaRPr lang="en-US" sz="1400" dirty="0"/>
          </a:p>
          <a:p>
            <a:pPr indent="0" marL="0">
              <a:buNone/>
            </a:pPr>
            <a:endParaRPr lang="en-US" sz="1400" dirty="0"/>
          </a:p>
          <a:p>
            <a:pPr indent="0" marL="0">
              <a:buNone/>
            </a:pPr>
            <a:r>
              <a:rPr lang="en-US" sz="1300" dirty="0">
                <a:solidFill>
                  <a:srgbClr val="1A1A2E"/>
                </a:solidFill>
                <a:latin typeface="Calibri" pitchFamily="34" charset="0"/>
                <a:ea typeface="Calibri" pitchFamily="34" charset="-122"/>
                <a:cs typeface="Calibri" pitchFamily="34" charset="-120"/>
              </a:rPr>
              <a:t>We say ψ learns H if every induced learner is a PAC learner for H.</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3657600"/>
          <a:ext cx="8229600" cy="1188720"/>
        </p:xfrm>
        <a:graphic>
          <a:graphicData uri="http://schemas.openxmlformats.org/drawingml/2006/table">
            <a:tbl>
              <a:tblPr/>
              <a:tblGrid>
                <a:gridCol w="2286000"/>
                <a:gridCol w="1828800"/>
                <a:gridCol w="2057400"/>
                <a:gridCol w="2057400"/>
              </a:tblGrid>
              <a:tr h="2971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Property</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ERM</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SRM ψ(h)</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Local Reg ψ(h,x)</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r>
              <a:tr h="29718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Proper/Improper</a:t>
                      </a:r>
                      <a:endParaRPr lang="en-US" sz="11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Proper</a:t>
                      </a:r>
                      <a:endParaRPr lang="en-US" sz="11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Proper</a:t>
                      </a:r>
                      <a:endParaRPr lang="en-US" sz="11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Improper</a:t>
                      </a:r>
                      <a:endParaRPr lang="en-US" sz="11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29718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Binary</a:t>
                      </a:r>
                      <a:endParaRPr lang="en-US" sz="11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 Optimal</a:t>
                      </a:r>
                      <a:endParaRPr lang="en-US" sz="11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 Optimal</a:t>
                      </a:r>
                      <a:endParaRPr lang="en-US" sz="11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 Optimal</a:t>
                      </a:r>
                      <a:endParaRPr lang="en-US" sz="11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29718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Multiclass</a:t>
                      </a:r>
                      <a:endParaRPr lang="en-US" sz="11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F96167"/>
                          </a:solidFill>
                          <a:latin typeface="Calibri" pitchFamily="34" charset="0"/>
                          <a:ea typeface="Calibri" pitchFamily="34" charset="-122"/>
                          <a:cs typeface="Calibri" pitchFamily="34" charset="-120"/>
                        </a:rPr>
                        <a:t>✗ Fails</a:t>
                      </a:r>
                      <a:endParaRPr lang="en-US" sz="11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F96167"/>
                          </a:solidFill>
                          <a:latin typeface="Calibri" pitchFamily="34" charset="0"/>
                          <a:ea typeface="Calibri" pitchFamily="34" charset="-122"/>
                          <a:cs typeface="Calibri" pitchFamily="34" charset="-120"/>
                        </a:rPr>
                        <a:t>✗ Fails</a:t>
                      </a:r>
                      <a:endParaRPr lang="en-US" sz="11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b="1" dirty="0">
                          <a:solidFill>
                            <a:srgbClr val="1C7293"/>
                          </a:solidFill>
                          <a:latin typeface="Calibri" pitchFamily="34" charset="0"/>
                          <a:ea typeface="Calibri" pitchFamily="34" charset="-122"/>
                          <a:cs typeface="Calibri" pitchFamily="34" charset="-120"/>
                        </a:rPr>
                        <a:t>? Open Problem</a:t>
                      </a:r>
                      <a:endParaRPr lang="en-US" sz="11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065A82">
              <a:alpha val="60000"/>
            </a:srgbClr>
          </a:solidFill>
          <a:ln/>
        </p:spPr>
      </p:sp>
      <p:sp>
        <p:nvSpPr>
          <p:cNvPr id="3" name="Shape 1"/>
          <p:cNvSpPr/>
          <p:nvPr/>
        </p:nvSpPr>
        <p:spPr>
          <a:xfrm>
            <a:off x="6400800" y="2743200"/>
            <a:ext cx="3657600" cy="3657600"/>
          </a:xfrm>
          <a:prstGeom prst="ellipse">
            <a:avLst/>
          </a:prstGeom>
          <a:solidFill>
            <a:srgbClr val="1C7293">
              <a:alpha val="60000"/>
            </a:srgbClr>
          </a:solidFill>
          <a:ln/>
        </p:spPr>
      </p:sp>
      <p:pic>
        <p:nvPicPr>
          <p:cNvPr id="4" name="Image 0" descr="preencoded.png">    </p:cNvPr>
          <p:cNvPicPr>
            <a:picLocks noChangeAspect="1"/>
          </p:cNvPicPr>
          <p:nvPr/>
        </p:nvPicPr>
        <p:blipFill>
          <a:blip r:embed="rId1"/>
          <a:stretch>
            <a:fillRect/>
          </a:stretch>
        </p:blipFill>
        <p:spPr>
          <a:xfrm>
            <a:off x="4114800" y="457200"/>
            <a:ext cx="914400" cy="914400"/>
          </a:xfrm>
          <a:prstGeom prst="rect">
            <a:avLst/>
          </a:prstGeom>
        </p:spPr>
      </p:pic>
      <p:sp>
        <p:nvSpPr>
          <p:cNvPr id="5" name="Text 2"/>
          <p:cNvSpPr/>
          <p:nvPr/>
        </p:nvSpPr>
        <p:spPr>
          <a:xfrm>
            <a:off x="731520" y="1371600"/>
            <a:ext cx="7680960" cy="548640"/>
          </a:xfrm>
          <a:prstGeom prst="rect">
            <a:avLst/>
          </a:prstGeom>
          <a:noFill/>
          <a:ln/>
        </p:spPr>
        <p:txBody>
          <a:bodyPr wrap="square" rtlCol="0" anchor="ctr"/>
          <a:lstStyle/>
          <a:p>
            <a:pPr algn="ctr" indent="0" marL="0">
              <a:buNone/>
            </a:pPr>
            <a:r>
              <a:rPr lang="en-US" sz="2800" b="1" dirty="0">
                <a:solidFill>
                  <a:srgbClr val="F9E795"/>
                </a:solidFill>
                <a:latin typeface="Georgia" pitchFamily="34" charset="0"/>
                <a:ea typeface="Georgia" pitchFamily="34" charset="-122"/>
                <a:cs typeface="Georgia" pitchFamily="34" charset="-120"/>
              </a:rPr>
              <a:t>The Central Open Problem</a:t>
            </a:r>
            <a:endParaRPr lang="en-US" sz="2800" dirty="0"/>
          </a:p>
        </p:txBody>
      </p:sp>
      <p:sp>
        <p:nvSpPr>
          <p:cNvPr id="6" name="Shape 3"/>
          <p:cNvSpPr/>
          <p:nvPr/>
        </p:nvSpPr>
        <p:spPr>
          <a:xfrm>
            <a:off x="914400" y="2103120"/>
            <a:ext cx="7315200" cy="1371600"/>
          </a:xfrm>
          <a:prstGeom prst="rect">
            <a:avLst/>
          </a:prstGeom>
          <a:solidFill>
            <a:srgbClr val="FFFFFF">
              <a:alpha val="10000"/>
            </a:srgbClr>
          </a:solidFill>
          <a:ln/>
        </p:spPr>
      </p:sp>
      <p:sp>
        <p:nvSpPr>
          <p:cNvPr id="7" name="Text 4"/>
          <p:cNvSpPr/>
          <p:nvPr/>
        </p:nvSpPr>
        <p:spPr>
          <a:xfrm>
            <a:off x="914400" y="2103120"/>
            <a:ext cx="7315200" cy="1371600"/>
          </a:xfrm>
          <a:prstGeom prst="rect">
            <a:avLst/>
          </a:prstGeom>
          <a:noFill/>
          <a:ln/>
        </p:spPr>
        <p:txBody>
          <a:bodyPr wrap="square" rtlCol="0" anchor="ctr"/>
          <a:lstStyle/>
          <a:p>
            <a:pPr algn="ctr" indent="0" marL="0">
              <a:lnSpc>
                <a:spcPct val="130000"/>
              </a:lnSpc>
              <a:buNone/>
            </a:pPr>
            <a:r>
              <a:rPr lang="en-US" sz="1800" b="1" dirty="0">
                <a:solidFill>
                  <a:srgbClr val="FFFFFF"/>
                </a:solidFill>
                <a:latin typeface="Georgia" pitchFamily="34" charset="0"/>
                <a:ea typeface="Georgia" pitchFamily="34" charset="-122"/>
                <a:cs typeface="Georgia" pitchFamily="34" charset="-120"/>
              </a:rPr>
              <a:t>In multiclass classification, can all learnable</a:t>
            </a:r>
            <a:endParaRPr lang="en-US" sz="1800" dirty="0"/>
          </a:p>
          <a:p>
            <a:pPr algn="ctr" indent="0" marL="0">
              <a:lnSpc>
                <a:spcPct val="130000"/>
              </a:lnSpc>
              <a:buNone/>
            </a:pPr>
            <a:r>
              <a:rPr lang="en-US" sz="1800" b="1" dirty="0">
                <a:solidFill>
                  <a:srgbClr val="FFFFFF"/>
                </a:solidFill>
                <a:latin typeface="Georgia" pitchFamily="34" charset="0"/>
                <a:ea typeface="Georgia" pitchFamily="34" charset="-122"/>
                <a:cs typeface="Georgia" pitchFamily="34" charset="-120"/>
              </a:rPr>
              <a:t>hypothesis classes be learned by a local regularizer?</a:t>
            </a:r>
            <a:endParaRPr lang="en-US" sz="1800" dirty="0"/>
          </a:p>
          <a:p>
            <a:pPr algn="ctr" indent="0" marL="0">
              <a:lnSpc>
                <a:spcPct val="130000"/>
              </a:lnSpc>
              <a:buNone/>
            </a:pPr>
            <a:r>
              <a:rPr lang="en-US" sz="1800" b="1" dirty="0">
                <a:solidFill>
                  <a:srgbClr val="FFFFFF"/>
                </a:solidFill>
                <a:latin typeface="Georgia" pitchFamily="34" charset="0"/>
                <a:ea typeface="Georgia" pitchFamily="34" charset="-122"/>
                <a:cs typeface="Georgia" pitchFamily="34" charset="-120"/>
              </a:rPr>
              <a:t>If so, with optimal (or nearly optimal) sample complexity?</a:t>
            </a:r>
            <a:endParaRPr lang="en-US" sz="1800" dirty="0"/>
          </a:p>
        </p:txBody>
      </p:sp>
      <p:sp>
        <p:nvSpPr>
          <p:cNvPr id="8" name="Text 5"/>
          <p:cNvSpPr/>
          <p:nvPr/>
        </p:nvSpPr>
        <p:spPr>
          <a:xfrm>
            <a:off x="914400" y="3566160"/>
            <a:ext cx="7315200" cy="365760"/>
          </a:xfrm>
          <a:prstGeom prst="rect">
            <a:avLst/>
          </a:prstGeom>
          <a:noFill/>
          <a:ln/>
        </p:spPr>
        <p:txBody>
          <a:bodyPr wrap="square" rtlCol="0" anchor="ctr"/>
          <a:lstStyle/>
          <a:p>
            <a:pPr algn="ctr" indent="0" marL="0">
              <a:buNone/>
            </a:pPr>
            <a:r>
              <a:rPr lang="en-US" sz="1300" i="1" dirty="0">
                <a:solidFill>
                  <a:srgbClr val="CADCFC"/>
                </a:solidFill>
                <a:latin typeface="Calibri" pitchFamily="34" charset="0"/>
                <a:ea typeface="Calibri" pitchFamily="34" charset="-122"/>
                <a:cs typeface="Calibri" pitchFamily="34" charset="-120"/>
              </a:rPr>
              <a:t>— Open Problem 1, Asilis et al. (2024)</a:t>
            </a:r>
            <a:endParaRPr lang="en-US" sz="1300" dirty="0"/>
          </a:p>
        </p:txBody>
      </p:sp>
      <p:sp>
        <p:nvSpPr>
          <p:cNvPr id="9" name="Text 6"/>
          <p:cNvSpPr/>
          <p:nvPr/>
        </p:nvSpPr>
        <p:spPr>
          <a:xfrm>
            <a:off x="914400" y="4114800"/>
            <a:ext cx="7315200" cy="548640"/>
          </a:xfrm>
          <a:prstGeom prst="rect">
            <a:avLst/>
          </a:prstGeom>
          <a:noFill/>
          <a:ln/>
        </p:spPr>
        <p:txBody>
          <a:bodyPr wrap="square"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Does local regularization play the same role in multiclass</a:t>
            </a:r>
            <a:endParaRPr lang="en-US" sz="1400" dirty="0"/>
          </a:p>
          <a:p>
            <a:pPr algn="ctr" indent="0" marL="0">
              <a:buNone/>
            </a:pPr>
            <a:r>
              <a:rPr lang="en-US" sz="1400" dirty="0">
                <a:solidFill>
                  <a:srgbClr val="CADCFC"/>
                </a:solidFill>
                <a:latin typeface="Calibri" pitchFamily="34" charset="0"/>
                <a:ea typeface="Calibri" pitchFamily="34" charset="-122"/>
                <a:cs typeface="Calibri" pitchFamily="34" charset="-120"/>
              </a:rPr>
              <a:t>as ERM does in binary classification?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73152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Significance of the Open Problem</a:t>
            </a:r>
            <a:endParaRPr lang="en-US" sz="2600" dirty="0"/>
          </a:p>
        </p:txBody>
      </p:sp>
      <p:sp>
        <p:nvSpPr>
          <p:cNvPr id="4" name="Shape 2"/>
          <p:cNvSpPr/>
          <p:nvPr/>
        </p:nvSpPr>
        <p:spPr>
          <a:xfrm>
            <a:off x="457200" y="1051560"/>
            <a:ext cx="8229600" cy="1737360"/>
          </a:xfrm>
          <a:prstGeom prst="rect">
            <a:avLst/>
          </a:prstGeom>
          <a:solidFill>
            <a:srgbClr val="F0FFF0"/>
          </a:solidFill>
          <a:ln/>
          <a:effectLst>
            <a:outerShdw sx="100000" sy="100000" kx="0" ky="0" algn="bl" rotWithShape="0" blurRad="76200" dist="25400" dir="8100000">
              <a:srgbClr val="000000">
                <a:alpha val="15000"/>
              </a:srgbClr>
            </a:outerShdw>
          </a:effectLst>
        </p:spPr>
      </p:sp>
      <p:sp>
        <p:nvSpPr>
          <p:cNvPr id="5" name="Shape 3"/>
          <p:cNvSpPr/>
          <p:nvPr/>
        </p:nvSpPr>
        <p:spPr>
          <a:xfrm>
            <a:off x="457200" y="1051560"/>
            <a:ext cx="73152" cy="1737360"/>
          </a:xfrm>
          <a:prstGeom prst="rect">
            <a:avLst/>
          </a:prstGeom>
          <a:solidFill>
            <a:srgbClr val="2C5F2D"/>
          </a:solidFill>
          <a:ln/>
        </p:spPr>
      </p:sp>
      <p:sp>
        <p:nvSpPr>
          <p:cNvPr id="6" name="Text 4"/>
          <p:cNvSpPr/>
          <p:nvPr/>
        </p:nvSpPr>
        <p:spPr>
          <a:xfrm>
            <a:off x="731520" y="1097280"/>
            <a:ext cx="7772400" cy="320040"/>
          </a:xfrm>
          <a:prstGeom prst="rect">
            <a:avLst/>
          </a:prstGeom>
          <a:noFill/>
          <a:ln/>
        </p:spPr>
        <p:txBody>
          <a:bodyPr wrap="square" lIns="0" tIns="0" rIns="0" bIns="0" rtlCol="0" anchor="ctr"/>
          <a:lstStyle/>
          <a:p>
            <a:pPr indent="0" marL="0">
              <a:buNone/>
            </a:pPr>
            <a:r>
              <a:rPr lang="en-US" sz="1500" b="1" dirty="0">
                <a:solidFill>
                  <a:srgbClr val="2C5F2D"/>
                </a:solidFill>
                <a:latin typeface="Georgia" pitchFamily="34" charset="0"/>
                <a:ea typeface="Georgia" pitchFamily="34" charset="-122"/>
                <a:cs typeface="Georgia" pitchFamily="34" charset="-120"/>
              </a:rPr>
              <a:t>If YES (positive resolution)</a:t>
            </a:r>
            <a:endParaRPr lang="en-US" sz="1500" dirty="0"/>
          </a:p>
        </p:txBody>
      </p:sp>
      <p:sp>
        <p:nvSpPr>
          <p:cNvPr id="7" name="Text 5"/>
          <p:cNvSpPr/>
          <p:nvPr/>
        </p:nvSpPr>
        <p:spPr>
          <a:xfrm>
            <a:off x="731520" y="1463040"/>
            <a:ext cx="7772400" cy="1188720"/>
          </a:xfrm>
          <a:prstGeom prst="rect">
            <a:avLst/>
          </a:prstGeom>
          <a:noFill/>
          <a:ln/>
        </p:spPr>
        <p:txBody>
          <a:bodyPr wrap="square" rtlCol="0" anchor="ctr"/>
          <a:lstStyle/>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Simple algorithmic template for all multiclass learning — replacing complex OIG-based learners</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Reveals fundamental redundancy: unlabeled data in S is unnecessary for learning</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OIGs (which can be infinite or exponentially large) become unnecessary</a:t>
            </a:r>
            <a:endParaRPr lang="en-US" sz="1200" dirty="0"/>
          </a:p>
        </p:txBody>
      </p:sp>
      <p:sp>
        <p:nvSpPr>
          <p:cNvPr id="8" name="Shape 6"/>
          <p:cNvSpPr/>
          <p:nvPr/>
        </p:nvSpPr>
        <p:spPr>
          <a:xfrm>
            <a:off x="457200" y="3063240"/>
            <a:ext cx="8229600" cy="1737360"/>
          </a:xfrm>
          <a:prstGeom prst="rect">
            <a:avLst/>
          </a:prstGeom>
          <a:solidFill>
            <a:srgbClr val="FFF5F5"/>
          </a:solidFill>
          <a:ln/>
          <a:effectLst>
            <a:outerShdw sx="100000" sy="100000" kx="0" ky="0" algn="bl" rotWithShape="0" blurRad="76200" dist="25400" dir="8100000">
              <a:srgbClr val="000000">
                <a:alpha val="15000"/>
              </a:srgbClr>
            </a:outerShdw>
          </a:effectLst>
        </p:spPr>
      </p:sp>
      <p:sp>
        <p:nvSpPr>
          <p:cNvPr id="9" name="Shape 7"/>
          <p:cNvSpPr/>
          <p:nvPr/>
        </p:nvSpPr>
        <p:spPr>
          <a:xfrm>
            <a:off x="457200" y="3063240"/>
            <a:ext cx="73152" cy="1737360"/>
          </a:xfrm>
          <a:prstGeom prst="rect">
            <a:avLst/>
          </a:prstGeom>
          <a:solidFill>
            <a:srgbClr val="F96167"/>
          </a:solidFill>
          <a:ln/>
        </p:spPr>
      </p:sp>
      <p:sp>
        <p:nvSpPr>
          <p:cNvPr id="10" name="Text 8"/>
          <p:cNvSpPr/>
          <p:nvPr/>
        </p:nvSpPr>
        <p:spPr>
          <a:xfrm>
            <a:off x="731520" y="3108960"/>
            <a:ext cx="7772400" cy="320040"/>
          </a:xfrm>
          <a:prstGeom prst="rect">
            <a:avLst/>
          </a:prstGeom>
          <a:noFill/>
          <a:ln/>
        </p:spPr>
        <p:txBody>
          <a:bodyPr wrap="square" lIns="0" tIns="0" rIns="0" bIns="0" rtlCol="0" anchor="ctr"/>
          <a:lstStyle/>
          <a:p>
            <a:pPr indent="0" marL="0">
              <a:buNone/>
            </a:pPr>
            <a:r>
              <a:rPr lang="en-US" sz="1500" b="1" dirty="0">
                <a:solidFill>
                  <a:srgbClr val="F96167"/>
                </a:solidFill>
                <a:latin typeface="Georgia" pitchFamily="34" charset="0"/>
                <a:ea typeface="Georgia" pitchFamily="34" charset="-122"/>
                <a:cs typeface="Georgia" pitchFamily="34" charset="-120"/>
              </a:rPr>
              <a:t>If NO (negative resolution)</a:t>
            </a:r>
            <a:endParaRPr lang="en-US" sz="1500" dirty="0"/>
          </a:p>
        </p:txBody>
      </p:sp>
      <p:sp>
        <p:nvSpPr>
          <p:cNvPr id="11" name="Text 9"/>
          <p:cNvSpPr/>
          <p:nvPr/>
        </p:nvSpPr>
        <p:spPr>
          <a:xfrm>
            <a:off x="731520" y="3474720"/>
            <a:ext cx="7772400" cy="1188720"/>
          </a:xfrm>
          <a:prstGeom prst="rect">
            <a:avLst/>
          </a:prstGeom>
          <a:noFill/>
          <a:ln/>
        </p:spPr>
        <p:txBody>
          <a:bodyPr wrap="square" rtlCol="0" anchor="ctr"/>
          <a:lstStyle/>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OIG structure is truly vital for learning — vindicates recent research direction</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Learners fundamentally need to see the training sample structure, not just test-point complexity</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Reveals a complexity barrier that simpler algorithms cannot cross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73152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Candidate Counterexample: H△</a:t>
            </a:r>
            <a:endParaRPr lang="en-US" sz="2600" dirty="0"/>
          </a:p>
        </p:txBody>
      </p:sp>
      <p:sp>
        <p:nvSpPr>
          <p:cNvPr id="4" name="Shape 2"/>
          <p:cNvSpPr/>
          <p:nvPr/>
        </p:nvSpPr>
        <p:spPr>
          <a:xfrm>
            <a:off x="457200" y="1051560"/>
            <a:ext cx="8229600" cy="109728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5" name="Text 3"/>
          <p:cNvSpPr/>
          <p:nvPr/>
        </p:nvSpPr>
        <p:spPr>
          <a:xfrm>
            <a:off x="640080" y="1097280"/>
            <a:ext cx="7772400" cy="274320"/>
          </a:xfrm>
          <a:prstGeom prst="rect">
            <a:avLst/>
          </a:prstGeom>
          <a:noFill/>
          <a:ln/>
        </p:spPr>
        <p:txBody>
          <a:bodyPr wrap="square" lIns="0" tIns="0" rIns="0" bIns="0" rtlCol="0" anchor="ctr"/>
          <a:lstStyle/>
          <a:p>
            <a:pPr indent="0" marL="0">
              <a:buNone/>
            </a:pPr>
            <a:r>
              <a:rPr lang="en-US" sz="1500" b="1" dirty="0">
                <a:solidFill>
                  <a:srgbClr val="065A82"/>
                </a:solidFill>
                <a:latin typeface="Georgia" pitchFamily="34" charset="0"/>
                <a:ea typeface="Georgia" pitchFamily="34" charset="-122"/>
                <a:cs typeface="Georgia" pitchFamily="34" charset="-120"/>
              </a:rPr>
              <a:t>Construction Setup</a:t>
            </a:r>
            <a:endParaRPr lang="en-US" sz="1500" dirty="0"/>
          </a:p>
        </p:txBody>
      </p:sp>
      <p:sp>
        <p:nvSpPr>
          <p:cNvPr id="6" name="Text 4"/>
          <p:cNvSpPr/>
          <p:nvPr/>
        </p:nvSpPr>
        <p:spPr>
          <a:xfrm>
            <a:off x="640080" y="1417320"/>
            <a:ext cx="7772400" cy="64008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Domain: </a:t>
            </a:r>
            <a:pPr indent="0" marL="0">
              <a:buNone/>
            </a:pPr>
            <a:r>
              <a:rPr lang="en-US" sz="1300" dirty="0">
                <a:solidFill>
                  <a:srgbClr val="1A1A2E"/>
                </a:solidFill>
                <a:latin typeface="Calibri" pitchFamily="34" charset="0"/>
                <a:ea typeface="Calibri" pitchFamily="34" charset="-122"/>
                <a:cs typeface="Calibri" pitchFamily="34" charset="-120"/>
              </a:rPr>
              <a:t>𝒳 = ℕ (infinite set)</a:t>
            </a:r>
            <a:endParaRPr lang="en-US" sz="1300" dirty="0"/>
          </a:p>
          <a:p>
            <a:pPr indent="0" marL="0">
              <a:buNone/>
            </a:pPr>
            <a:endParaRPr lang="en-US" sz="1300" dirty="0"/>
          </a:p>
          <a:p>
            <a:pPr indent="0" marL="0">
              <a:buNone/>
            </a:pPr>
            <a:r>
              <a:rPr lang="en-US" sz="1300" b="1" dirty="0">
                <a:solidFill>
                  <a:srgbClr val="1A1A2E"/>
                </a:solidFill>
                <a:latin typeface="Calibri" pitchFamily="34" charset="0"/>
                <a:ea typeface="Calibri" pitchFamily="34" charset="-122"/>
                <a:cs typeface="Calibri" pitchFamily="34" charset="-120"/>
              </a:rPr>
              <a:t>Label set: </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𝒴 = {∗} ∪ 2^𝒳  (a default label plus all subsets of 𝒳)</a:t>
            </a:r>
            <a:endParaRPr lang="en-US" sz="1300" dirty="0"/>
          </a:p>
        </p:txBody>
      </p:sp>
      <p:sp>
        <p:nvSpPr>
          <p:cNvPr id="7" name="Shape 5"/>
          <p:cNvSpPr/>
          <p:nvPr/>
        </p:nvSpPr>
        <p:spPr>
          <a:xfrm>
            <a:off x="457200" y="2377440"/>
            <a:ext cx="8229600" cy="137160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8" name="Text 6"/>
          <p:cNvSpPr/>
          <p:nvPr/>
        </p:nvSpPr>
        <p:spPr>
          <a:xfrm>
            <a:off x="640080" y="2423160"/>
            <a:ext cx="7772400" cy="274320"/>
          </a:xfrm>
          <a:prstGeom prst="rect">
            <a:avLst/>
          </a:prstGeom>
          <a:noFill/>
          <a:ln/>
        </p:spPr>
        <p:txBody>
          <a:bodyPr wrap="square" lIns="0" tIns="0" rIns="0" bIns="0" rtlCol="0" anchor="ctr"/>
          <a:lstStyle/>
          <a:p>
            <a:pPr indent="0" marL="0">
              <a:buNone/>
            </a:pPr>
            <a:r>
              <a:rPr lang="en-US" sz="1500" b="1" dirty="0">
                <a:solidFill>
                  <a:srgbClr val="065A82"/>
                </a:solidFill>
                <a:latin typeface="Georgia" pitchFamily="34" charset="0"/>
                <a:ea typeface="Georgia" pitchFamily="34" charset="-122"/>
                <a:cs typeface="Georgia" pitchFamily="34" charset="-120"/>
              </a:rPr>
              <a:t>The Triple Collection J</a:t>
            </a:r>
            <a:endParaRPr lang="en-US" sz="1500" dirty="0"/>
          </a:p>
        </p:txBody>
      </p:sp>
      <p:sp>
        <p:nvSpPr>
          <p:cNvPr id="9" name="Text 7"/>
          <p:cNvSpPr/>
          <p:nvPr/>
        </p:nvSpPr>
        <p:spPr>
          <a:xfrm>
            <a:off x="640080" y="2743200"/>
            <a:ext cx="7772400" cy="9144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J ⊆ (2^𝒳)³ consists of triples (A, B, C) of finite subsets where:</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1.  |A| = |B| = |C| = k  for some finite k</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2.  |A∩B| = |A∩C| = |B∩C| = k/2,  and  A∩B∩C = ∅</a:t>
            </a:r>
            <a:endParaRPr lang="en-US" sz="1300" dirty="0"/>
          </a:p>
        </p:txBody>
      </p:sp>
      <p:sp>
        <p:nvSpPr>
          <p:cNvPr id="10" name="Shape 8"/>
          <p:cNvSpPr/>
          <p:nvPr/>
        </p:nvSpPr>
        <p:spPr>
          <a:xfrm>
            <a:off x="457200" y="3977640"/>
            <a:ext cx="8229600" cy="914400"/>
          </a:xfrm>
          <a:prstGeom prst="rect">
            <a:avLst/>
          </a:prstGeom>
          <a:solidFill>
            <a:srgbClr val="F0F7FF"/>
          </a:solidFill>
          <a:ln/>
          <a:effectLst>
            <a:outerShdw sx="100000" sy="100000" kx="0" ky="0" algn="bl" rotWithShape="0" blurRad="76200" dist="25400" dir="8100000">
              <a:srgbClr val="000000">
                <a:alpha val="15000"/>
              </a:srgbClr>
            </a:outerShdw>
          </a:effectLst>
        </p:spPr>
      </p:sp>
      <p:sp>
        <p:nvSpPr>
          <p:cNvPr id="11" name="Text 9"/>
          <p:cNvSpPr/>
          <p:nvPr/>
        </p:nvSpPr>
        <p:spPr>
          <a:xfrm>
            <a:off x="640080" y="4023360"/>
            <a:ext cx="7772400" cy="82296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For each (A,B,C) ∈ J, there are 8 hypotheses choosing how to "layer" A, B, C.</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h(x) = ∗ outside A∪B∪C; on each pairwise overlap, h is constant ∈ {A,B}, {A,C}, or {B,C}.</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73152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Geometric Intuition: Layering Sheets</a:t>
            </a:r>
            <a:endParaRPr lang="en-US" sz="2600" dirty="0"/>
          </a:p>
        </p:txBody>
      </p:sp>
      <p:sp>
        <p:nvSpPr>
          <p:cNvPr id="4" name="Shape 2"/>
          <p:cNvSpPr/>
          <p:nvPr/>
        </p:nvSpPr>
        <p:spPr>
          <a:xfrm>
            <a:off x="1371600" y="1463040"/>
            <a:ext cx="2743200" cy="2286000"/>
          </a:xfrm>
          <a:prstGeom prst="ellipse">
            <a:avLst/>
          </a:prstGeom>
          <a:solidFill>
            <a:srgbClr val="065A82">
              <a:alpha val="25000"/>
            </a:srgbClr>
          </a:solidFill>
          <a:ln w="25400">
            <a:solidFill>
              <a:srgbClr val="065A82"/>
            </a:solidFill>
            <a:prstDash val="solid"/>
          </a:ln>
        </p:spPr>
      </p:sp>
      <p:sp>
        <p:nvSpPr>
          <p:cNvPr id="5" name="Text 3"/>
          <p:cNvSpPr/>
          <p:nvPr/>
        </p:nvSpPr>
        <p:spPr>
          <a:xfrm>
            <a:off x="1463040" y="1645920"/>
            <a:ext cx="914400" cy="365760"/>
          </a:xfrm>
          <a:prstGeom prst="rect">
            <a:avLst/>
          </a:prstGeom>
          <a:noFill/>
          <a:ln/>
        </p:spPr>
        <p:txBody>
          <a:bodyPr wrap="square" lIns="0" tIns="0" rIns="0" bIns="0" rtlCol="0" anchor="ctr"/>
          <a:lstStyle/>
          <a:p>
            <a:pPr indent="0" marL="0">
              <a:buNone/>
            </a:pPr>
            <a:r>
              <a:rPr lang="en-US" sz="1800" b="1" dirty="0">
                <a:solidFill>
                  <a:srgbClr val="065A82"/>
                </a:solidFill>
                <a:latin typeface="Georgia" pitchFamily="34" charset="0"/>
                <a:ea typeface="Georgia" pitchFamily="34" charset="-122"/>
                <a:cs typeface="Georgia" pitchFamily="34" charset="-120"/>
              </a:rPr>
              <a:t>A</a:t>
            </a:r>
            <a:endParaRPr lang="en-US" sz="1800" dirty="0"/>
          </a:p>
        </p:txBody>
      </p:sp>
      <p:sp>
        <p:nvSpPr>
          <p:cNvPr id="6" name="Shape 4"/>
          <p:cNvSpPr/>
          <p:nvPr/>
        </p:nvSpPr>
        <p:spPr>
          <a:xfrm>
            <a:off x="2743200" y="1463040"/>
            <a:ext cx="2743200" cy="2286000"/>
          </a:xfrm>
          <a:prstGeom prst="ellipse">
            <a:avLst/>
          </a:prstGeom>
          <a:solidFill>
            <a:srgbClr val="1C7293">
              <a:alpha val="25000"/>
            </a:srgbClr>
          </a:solidFill>
          <a:ln w="25400">
            <a:solidFill>
              <a:srgbClr val="1C7293"/>
            </a:solidFill>
            <a:prstDash val="solid"/>
          </a:ln>
        </p:spPr>
      </p:sp>
      <p:sp>
        <p:nvSpPr>
          <p:cNvPr id="7" name="Text 5"/>
          <p:cNvSpPr/>
          <p:nvPr/>
        </p:nvSpPr>
        <p:spPr>
          <a:xfrm>
            <a:off x="4754880" y="1645920"/>
            <a:ext cx="914400" cy="365760"/>
          </a:xfrm>
          <a:prstGeom prst="rect">
            <a:avLst/>
          </a:prstGeom>
          <a:noFill/>
          <a:ln/>
        </p:spPr>
        <p:txBody>
          <a:bodyPr wrap="square" lIns="0" tIns="0" rIns="0" bIns="0" rtlCol="0" anchor="ctr"/>
          <a:lstStyle/>
          <a:p>
            <a:pPr indent="0" marL="0">
              <a:buNone/>
            </a:pPr>
            <a:r>
              <a:rPr lang="en-US" sz="1800" b="1" dirty="0">
                <a:solidFill>
                  <a:srgbClr val="1C7293"/>
                </a:solidFill>
                <a:latin typeface="Georgia" pitchFamily="34" charset="0"/>
                <a:ea typeface="Georgia" pitchFamily="34" charset="-122"/>
                <a:cs typeface="Georgia" pitchFamily="34" charset="-120"/>
              </a:rPr>
              <a:t>B</a:t>
            </a:r>
            <a:endParaRPr lang="en-US" sz="1800" dirty="0"/>
          </a:p>
        </p:txBody>
      </p:sp>
      <p:sp>
        <p:nvSpPr>
          <p:cNvPr id="8" name="Shape 6"/>
          <p:cNvSpPr/>
          <p:nvPr/>
        </p:nvSpPr>
        <p:spPr>
          <a:xfrm>
            <a:off x="2057400" y="2286000"/>
            <a:ext cx="2743200" cy="2286000"/>
          </a:xfrm>
          <a:prstGeom prst="ellipse">
            <a:avLst/>
          </a:prstGeom>
          <a:solidFill>
            <a:srgbClr val="F96167">
              <a:alpha val="25000"/>
            </a:srgbClr>
          </a:solidFill>
          <a:ln w="25400">
            <a:solidFill>
              <a:srgbClr val="F96167"/>
            </a:solidFill>
            <a:prstDash val="solid"/>
          </a:ln>
        </p:spPr>
      </p:sp>
      <p:sp>
        <p:nvSpPr>
          <p:cNvPr id="9" name="Text 7"/>
          <p:cNvSpPr/>
          <p:nvPr/>
        </p:nvSpPr>
        <p:spPr>
          <a:xfrm>
            <a:off x="2560320" y="4023360"/>
            <a:ext cx="914400" cy="365760"/>
          </a:xfrm>
          <a:prstGeom prst="rect">
            <a:avLst/>
          </a:prstGeom>
          <a:noFill/>
          <a:ln/>
        </p:spPr>
        <p:txBody>
          <a:bodyPr wrap="square" lIns="0" tIns="0" rIns="0" bIns="0" rtlCol="0" anchor="ctr"/>
          <a:lstStyle/>
          <a:p>
            <a:pPr indent="0" marL="0">
              <a:buNone/>
            </a:pPr>
            <a:r>
              <a:rPr lang="en-US" sz="1800" b="1" dirty="0">
                <a:solidFill>
                  <a:srgbClr val="F96167"/>
                </a:solidFill>
                <a:latin typeface="Georgia" pitchFamily="34" charset="0"/>
                <a:ea typeface="Georgia" pitchFamily="34" charset="-122"/>
                <a:cs typeface="Georgia" pitchFamily="34" charset="-120"/>
              </a:rPr>
              <a:t>C</a:t>
            </a:r>
            <a:endParaRPr lang="en-US" sz="1800" dirty="0"/>
          </a:p>
        </p:txBody>
      </p:sp>
      <p:sp>
        <p:nvSpPr>
          <p:cNvPr id="10" name="Text 8"/>
          <p:cNvSpPr/>
          <p:nvPr/>
        </p:nvSpPr>
        <p:spPr>
          <a:xfrm>
            <a:off x="2926080" y="1920240"/>
            <a:ext cx="914400" cy="320040"/>
          </a:xfrm>
          <a:prstGeom prst="rect">
            <a:avLst/>
          </a:prstGeom>
          <a:noFill/>
          <a:ln/>
        </p:spPr>
        <p:txBody>
          <a:bodyPr wrap="square" lIns="0" tIns="0" rIns="0" bIns="0" rtlCol="0" anchor="ctr"/>
          <a:lstStyle/>
          <a:p>
            <a:pPr algn="ctr" indent="0" marL="0">
              <a:buNone/>
            </a:pPr>
            <a:r>
              <a:rPr lang="en-US" sz="1100" b="1" dirty="0">
                <a:solidFill>
                  <a:srgbClr val="1A1A2E"/>
                </a:solidFill>
                <a:latin typeface="Calibri" pitchFamily="34" charset="0"/>
                <a:ea typeface="Calibri" pitchFamily="34" charset="-122"/>
                <a:cs typeface="Calibri" pitchFamily="34" charset="-120"/>
              </a:rPr>
              <a:t>A∩B</a:t>
            </a:r>
            <a:endParaRPr lang="en-US" sz="1100" dirty="0"/>
          </a:p>
        </p:txBody>
      </p:sp>
      <p:sp>
        <p:nvSpPr>
          <p:cNvPr id="11" name="Text 9"/>
          <p:cNvSpPr/>
          <p:nvPr/>
        </p:nvSpPr>
        <p:spPr>
          <a:xfrm>
            <a:off x="1828800" y="3017520"/>
            <a:ext cx="914400" cy="320040"/>
          </a:xfrm>
          <a:prstGeom prst="rect">
            <a:avLst/>
          </a:prstGeom>
          <a:noFill/>
          <a:ln/>
        </p:spPr>
        <p:txBody>
          <a:bodyPr wrap="square" lIns="0" tIns="0" rIns="0" bIns="0" rtlCol="0" anchor="ctr"/>
          <a:lstStyle/>
          <a:p>
            <a:pPr algn="ctr" indent="0" marL="0">
              <a:buNone/>
            </a:pPr>
            <a:r>
              <a:rPr lang="en-US" sz="1100" b="1" dirty="0">
                <a:solidFill>
                  <a:srgbClr val="1A1A2E"/>
                </a:solidFill>
                <a:latin typeface="Calibri" pitchFamily="34" charset="0"/>
                <a:ea typeface="Calibri" pitchFamily="34" charset="-122"/>
                <a:cs typeface="Calibri" pitchFamily="34" charset="-120"/>
              </a:rPr>
              <a:t>A∩C</a:t>
            </a:r>
            <a:endParaRPr lang="en-US" sz="1100" dirty="0"/>
          </a:p>
        </p:txBody>
      </p:sp>
      <p:sp>
        <p:nvSpPr>
          <p:cNvPr id="12" name="Text 10"/>
          <p:cNvSpPr/>
          <p:nvPr/>
        </p:nvSpPr>
        <p:spPr>
          <a:xfrm>
            <a:off x="3474720" y="3017520"/>
            <a:ext cx="914400" cy="320040"/>
          </a:xfrm>
          <a:prstGeom prst="rect">
            <a:avLst/>
          </a:prstGeom>
          <a:noFill/>
          <a:ln/>
        </p:spPr>
        <p:txBody>
          <a:bodyPr wrap="square" lIns="0" tIns="0" rIns="0" bIns="0" rtlCol="0" anchor="ctr"/>
          <a:lstStyle/>
          <a:p>
            <a:pPr algn="ctr" indent="0" marL="0">
              <a:buNone/>
            </a:pPr>
            <a:r>
              <a:rPr lang="en-US" sz="1100" b="1" dirty="0">
                <a:solidFill>
                  <a:srgbClr val="1A1A2E"/>
                </a:solidFill>
                <a:latin typeface="Calibri" pitchFamily="34" charset="0"/>
                <a:ea typeface="Calibri" pitchFamily="34" charset="-122"/>
                <a:cs typeface="Calibri" pitchFamily="34" charset="-120"/>
              </a:rPr>
              <a:t>B∩C</a:t>
            </a:r>
            <a:endParaRPr lang="en-US" sz="1100" dirty="0"/>
          </a:p>
        </p:txBody>
      </p:sp>
      <p:sp>
        <p:nvSpPr>
          <p:cNvPr id="13" name="Shape 11"/>
          <p:cNvSpPr/>
          <p:nvPr/>
        </p:nvSpPr>
        <p:spPr>
          <a:xfrm>
            <a:off x="5760720" y="1188720"/>
            <a:ext cx="3017520" cy="347472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14" name="Text 12"/>
          <p:cNvSpPr/>
          <p:nvPr/>
        </p:nvSpPr>
        <p:spPr>
          <a:xfrm>
            <a:off x="5943600" y="1280160"/>
            <a:ext cx="2743200" cy="320040"/>
          </a:xfrm>
          <a:prstGeom prst="rect">
            <a:avLst/>
          </a:prstGeom>
          <a:noFill/>
          <a:ln/>
        </p:spPr>
        <p:txBody>
          <a:bodyPr wrap="square" lIns="0" tIns="0" rIns="0" bIns="0" rtlCol="0" anchor="ctr"/>
          <a:lstStyle/>
          <a:p>
            <a:pPr indent="0" marL="0">
              <a:buNone/>
            </a:pPr>
            <a:r>
              <a:rPr lang="en-US" sz="1400" b="1" dirty="0">
                <a:solidFill>
                  <a:srgbClr val="065A82"/>
                </a:solidFill>
                <a:latin typeface="Georgia" pitchFamily="34" charset="0"/>
                <a:ea typeface="Georgia" pitchFamily="34" charset="-122"/>
                <a:cs typeface="Georgia" pitchFamily="34" charset="-120"/>
              </a:rPr>
              <a:t>Paper Layering Analogy</a:t>
            </a:r>
            <a:endParaRPr lang="en-US" sz="1400" dirty="0"/>
          </a:p>
        </p:txBody>
      </p:sp>
      <p:sp>
        <p:nvSpPr>
          <p:cNvPr id="15" name="Text 13"/>
          <p:cNvSpPr/>
          <p:nvPr/>
        </p:nvSpPr>
        <p:spPr>
          <a:xfrm>
            <a:off x="5943600" y="1645920"/>
            <a:ext cx="2743200" cy="274320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Imagine three labeled sheets of paper over A, B, C.</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A hypothesis h chooses how to stack the sheets.</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At any overlap region, the output is the topmost sheet's label.</a:t>
            </a:r>
            <a:endParaRPr lang="en-US" sz="1200" dirty="0"/>
          </a:p>
          <a:p>
            <a:pPr indent="0" marL="0">
              <a:buNone/>
            </a:pPr>
            <a:endParaRPr lang="en-US" sz="1200" dirty="0"/>
          </a:p>
          <a:p>
            <a:pPr indent="0" marL="0">
              <a:buNone/>
            </a:pPr>
            <a:r>
              <a:rPr lang="en-US" sz="1200" b="1" dirty="0">
                <a:solidFill>
                  <a:srgbClr val="1A1A2E"/>
                </a:solidFill>
                <a:latin typeface="Calibri" pitchFamily="34" charset="0"/>
                <a:ea typeface="Calibri" pitchFamily="34" charset="-122"/>
                <a:cs typeface="Calibri" pitchFamily="34" charset="-120"/>
              </a:rPr>
              <a:t>2³ = 8 hypotheses per triple (A, B, C).</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Outside A∪B∪C: h(x) = ∗</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73152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ERM Fails on H△</a:t>
            </a:r>
            <a:endParaRPr lang="en-US" sz="2600" dirty="0"/>
          </a:p>
        </p:txBody>
      </p:sp>
      <p:sp>
        <p:nvSpPr>
          <p:cNvPr id="4" name="Shape 2"/>
          <p:cNvSpPr/>
          <p:nvPr/>
        </p:nvSpPr>
        <p:spPr>
          <a:xfrm>
            <a:off x="457200" y="1051560"/>
            <a:ext cx="8229600" cy="374904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5" name="Text 3"/>
          <p:cNvSpPr/>
          <p:nvPr/>
        </p:nvSpPr>
        <p:spPr>
          <a:xfrm>
            <a:off x="640080" y="1143000"/>
            <a:ext cx="777240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Step 1: </a:t>
            </a:r>
            <a:pPr indent="0" marL="0">
              <a:buNone/>
            </a:pPr>
            <a:r>
              <a:rPr lang="en-US" sz="1300" dirty="0">
                <a:solidFill>
                  <a:srgbClr val="1A1A2E"/>
                </a:solidFill>
                <a:latin typeface="Calibri" pitchFamily="34" charset="0"/>
                <a:ea typeface="Calibri" pitchFamily="34" charset="-122"/>
                <a:cs typeface="Calibri" pitchFamily="34" charset="-120"/>
              </a:rPr>
              <a:t>Fix a large finite set A ⊆ 𝒳. Let D = uniform over {(x, A) : x ∈ A}.</a:t>
            </a:r>
            <a:endParaRPr lang="en-US" sz="1300" dirty="0"/>
          </a:p>
        </p:txBody>
      </p:sp>
      <p:sp>
        <p:nvSpPr>
          <p:cNvPr id="6" name="Text 4"/>
          <p:cNvSpPr/>
          <p:nvPr/>
        </p:nvSpPr>
        <p:spPr>
          <a:xfrm>
            <a:off x="640080" y="1600200"/>
            <a:ext cx="7772400" cy="45720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Step 2: </a:t>
            </a:r>
            <a:pPr indent="0" marL="0">
              <a:buNone/>
            </a:pPr>
            <a:r>
              <a:rPr lang="en-US" sz="1300" dirty="0">
                <a:solidFill>
                  <a:srgbClr val="1A1A2E"/>
                </a:solidFill>
                <a:latin typeface="Calibri" pitchFamily="34" charset="0"/>
                <a:ea typeface="Calibri" pitchFamily="34" charset="-122"/>
                <a:cs typeface="Calibri" pitchFamily="34" charset="-120"/>
              </a:rPr>
              <a:t>Draw training set S with |S| &lt; |A|/2. With probability &gt; 1/2, a test point x_test ∈ A was NOT seen in S.</a:t>
            </a:r>
            <a:endParaRPr lang="en-US" sz="1300" dirty="0"/>
          </a:p>
        </p:txBody>
      </p:sp>
      <p:sp>
        <p:nvSpPr>
          <p:cNvPr id="7" name="Text 5"/>
          <p:cNvSpPr/>
          <p:nvPr/>
        </p:nvSpPr>
        <p:spPr>
          <a:xfrm>
            <a:off x="640080" y="2148840"/>
            <a:ext cx="7772400" cy="64008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Step 3: </a:t>
            </a:r>
            <a:pPr indent="0" marL="0">
              <a:buNone/>
            </a:pPr>
            <a:r>
              <a:rPr lang="en-US" sz="1300" dirty="0">
                <a:solidFill>
                  <a:srgbClr val="1A1A2E"/>
                </a:solidFill>
                <a:latin typeface="Calibri" pitchFamily="34" charset="0"/>
                <a:ea typeface="Calibri" pitchFamily="34" charset="-122"/>
                <a:cs typeface="Calibri" pitchFamily="34" charset="-120"/>
              </a:rPr>
              <a:t>Construct a set B ⊆ 𝒳 containing x_test but avoiding all of S. Then there exists h ∈ H△ from triple (A, B, C) with zero empirical error, but h(x_test) = B ≠ A.</a:t>
            </a:r>
            <a:endParaRPr lang="en-US" sz="1300" dirty="0"/>
          </a:p>
        </p:txBody>
      </p:sp>
      <p:sp>
        <p:nvSpPr>
          <p:cNvPr id="8" name="Text 6"/>
          <p:cNvSpPr/>
          <p:nvPr/>
        </p:nvSpPr>
        <p:spPr>
          <a:xfrm>
            <a:off x="640080" y="2834640"/>
            <a:ext cx="777240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Step 4: </a:t>
            </a:r>
            <a:pPr indent="0" marL="0">
              <a:buNone/>
            </a:pPr>
            <a:r>
              <a:rPr lang="en-US" sz="1300" dirty="0">
                <a:solidFill>
                  <a:srgbClr val="1A1A2E"/>
                </a:solidFill>
                <a:latin typeface="Calibri" pitchFamily="34" charset="0"/>
                <a:ea typeface="Calibri" pitchFamily="34" charset="-122"/>
                <a:cs typeface="Calibri" pitchFamily="34" charset="-120"/>
              </a:rPr>
              <a:t>ERM is free to choose h, predicting label B at x_test → constant error!</a:t>
            </a:r>
            <a:endParaRPr lang="en-US" sz="1300" dirty="0"/>
          </a:p>
        </p:txBody>
      </p:sp>
      <p:sp>
        <p:nvSpPr>
          <p:cNvPr id="9" name="Shape 7"/>
          <p:cNvSpPr/>
          <p:nvPr/>
        </p:nvSpPr>
        <p:spPr>
          <a:xfrm>
            <a:off x="640080" y="3383280"/>
            <a:ext cx="7772400" cy="64008"/>
          </a:xfrm>
          <a:prstGeom prst="rect">
            <a:avLst/>
          </a:prstGeom>
          <a:solidFill>
            <a:srgbClr val="1C7293">
              <a:alpha val="50000"/>
            </a:srgbClr>
          </a:solidFill>
          <a:ln/>
        </p:spPr>
      </p:sp>
      <p:sp>
        <p:nvSpPr>
          <p:cNvPr id="10" name="Text 8"/>
          <p:cNvSpPr/>
          <p:nvPr/>
        </p:nvSpPr>
        <p:spPr>
          <a:xfrm>
            <a:off x="640080" y="3566160"/>
            <a:ext cx="7772400" cy="100584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Key Insight: </a:t>
            </a:r>
            <a:pPr indent="0" marL="0">
              <a:buNone/>
            </a:pPr>
            <a:r>
              <a:rPr lang="en-US" sz="1300" dirty="0">
                <a:solidFill>
                  <a:srgbClr val="1A1A2E"/>
                </a:solidFill>
                <a:latin typeface="Calibri" pitchFamily="34" charset="0"/>
                <a:ea typeface="Calibri" pitchFamily="34" charset="-122"/>
                <a:cs typeface="Calibri" pitchFamily="34" charset="-120"/>
              </a:rPr>
              <a:t>Since A can be arbitrarily large, ERM fails for arbitrarily large training sets. The symmetry of H△ prevents any learner using only empirical errors and the test point from recognizing A as the 'natural' prediction.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73152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But H△ IS Learnable!</a:t>
            </a:r>
            <a:endParaRPr lang="en-US" sz="2600" dirty="0"/>
          </a:p>
        </p:txBody>
      </p:sp>
      <p:sp>
        <p:nvSpPr>
          <p:cNvPr id="4" name="Shape 2"/>
          <p:cNvSpPr/>
          <p:nvPr/>
        </p:nvSpPr>
        <p:spPr>
          <a:xfrm>
            <a:off x="457200" y="1097280"/>
            <a:ext cx="8229600" cy="2011680"/>
          </a:xfrm>
          <a:prstGeom prst="rect">
            <a:avLst/>
          </a:prstGeom>
          <a:solidFill>
            <a:srgbClr val="F0FFF0"/>
          </a:solidFill>
          <a:ln/>
          <a:effectLst>
            <a:outerShdw sx="100000" sy="100000" kx="0" ky="0" algn="bl" rotWithShape="0" blurRad="76200" dist="25400" dir="8100000">
              <a:srgbClr val="000000">
                <a:alpha val="15000"/>
              </a:srgbClr>
            </a:outerShdw>
          </a:effectLst>
        </p:spPr>
      </p:sp>
      <p:sp>
        <p:nvSpPr>
          <p:cNvPr id="5" name="Shape 3"/>
          <p:cNvSpPr/>
          <p:nvPr/>
        </p:nvSpPr>
        <p:spPr>
          <a:xfrm>
            <a:off x="457200" y="1097280"/>
            <a:ext cx="73152" cy="2011680"/>
          </a:xfrm>
          <a:prstGeom prst="rect">
            <a:avLst/>
          </a:prstGeom>
          <a:solidFill>
            <a:srgbClr val="2C5F2D"/>
          </a:solidFill>
          <a:ln/>
        </p:spPr>
      </p:sp>
      <p:sp>
        <p:nvSpPr>
          <p:cNvPr id="6" name="Text 4"/>
          <p:cNvSpPr/>
          <p:nvPr/>
        </p:nvSpPr>
        <p:spPr>
          <a:xfrm>
            <a:off x="731520" y="1143000"/>
            <a:ext cx="7772400" cy="320040"/>
          </a:xfrm>
          <a:prstGeom prst="rect">
            <a:avLst/>
          </a:prstGeom>
          <a:noFill/>
          <a:ln/>
        </p:spPr>
        <p:txBody>
          <a:bodyPr wrap="square" lIns="0" tIns="0" rIns="0" bIns="0" rtlCol="0" anchor="ctr"/>
          <a:lstStyle/>
          <a:p>
            <a:pPr indent="0" marL="0">
              <a:buNone/>
            </a:pPr>
            <a:r>
              <a:rPr lang="en-US" sz="1600" b="1" dirty="0">
                <a:solidFill>
                  <a:srgbClr val="2C5F2D"/>
                </a:solidFill>
                <a:latin typeface="Georgia" pitchFamily="34" charset="0"/>
                <a:ea typeface="Georgia" pitchFamily="34" charset="-122"/>
                <a:cs typeface="Georgia" pitchFamily="34" charset="-120"/>
              </a:rPr>
              <a:t>A Simple (Improper) Learner for H△</a:t>
            </a:r>
            <a:endParaRPr lang="en-US" sz="1600" dirty="0"/>
          </a:p>
        </p:txBody>
      </p:sp>
      <p:sp>
        <p:nvSpPr>
          <p:cNvPr id="7" name="Text 5"/>
          <p:cNvSpPr/>
          <p:nvPr/>
        </p:nvSpPr>
        <p:spPr>
          <a:xfrm>
            <a:off x="731520" y="1508760"/>
            <a:ext cx="7772400" cy="146304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Given test point x, the learner:</a:t>
            </a:r>
            <a:endParaRPr lang="en-US" sz="1400" dirty="0"/>
          </a:p>
          <a:p>
            <a:pPr indent="0" marL="0">
              <a:buNone/>
            </a:pPr>
            <a:endParaRPr lang="en-US" sz="1400" dirty="0"/>
          </a:p>
          <a:p>
            <a:pPr indent="0" marL="0">
              <a:buNone/>
            </a:pPr>
            <a:r>
              <a:rPr lang="en-US" sz="1300" dirty="0">
                <a:solidFill>
                  <a:srgbClr val="1A1A2E"/>
                </a:solidFill>
                <a:latin typeface="Calibri" pitchFamily="34" charset="0"/>
                <a:ea typeface="Calibri" pitchFamily="34" charset="-122"/>
                <a:cs typeface="Calibri" pitchFamily="34" charset="-120"/>
              </a:rPr>
              <a:t>1. Default: output ∗ unless evidence suggests otherwise</a:t>
            </a:r>
            <a:endParaRPr lang="en-US" sz="1400" dirty="0"/>
          </a:p>
          <a:p>
            <a:pPr indent="0" marL="0">
              <a:buNone/>
            </a:pPr>
            <a:endParaRPr lang="en-US" sz="1400" dirty="0"/>
          </a:p>
          <a:p>
            <a:pPr indent="0" marL="0">
              <a:buNone/>
            </a:pPr>
            <a:r>
              <a:rPr lang="en-US" sz="1300" dirty="0">
                <a:solidFill>
                  <a:srgbClr val="1A1A2E"/>
                </a:solidFill>
                <a:latin typeface="Calibri" pitchFamily="34" charset="0"/>
                <a:ea typeface="Calibri" pitchFamily="34" charset="-122"/>
                <a:cs typeface="Calibri" pitchFamily="34" charset="-120"/>
              </a:rPr>
              <a:t>2. If a label A ∋ x was observed in S, output A</a:t>
            </a:r>
            <a:endParaRPr lang="en-US" sz="1400" dirty="0"/>
          </a:p>
          <a:p>
            <a:pPr indent="0" marL="0">
              <a:buNone/>
            </a:pPr>
            <a:endParaRPr lang="en-US" sz="1400" dirty="0"/>
          </a:p>
          <a:p>
            <a:pPr indent="0" marL="0">
              <a:buNone/>
            </a:pPr>
            <a:r>
              <a:rPr lang="en-US" sz="1300" dirty="0">
                <a:solidFill>
                  <a:srgbClr val="1A1A2E"/>
                </a:solidFill>
                <a:latin typeface="Calibri" pitchFamily="34" charset="0"/>
                <a:ea typeface="Calibri" pitchFamily="34" charset="-122"/>
                <a:cs typeface="Calibri" pitchFamily="34" charset="-120"/>
              </a:rPr>
              <a:t>3. If two labels A, B both contain x and were seen, use their overlap to resolve</a:t>
            </a:r>
            <a:endParaRPr lang="en-US" sz="1400" dirty="0"/>
          </a:p>
        </p:txBody>
      </p:sp>
      <p:sp>
        <p:nvSpPr>
          <p:cNvPr id="8" name="Shape 6"/>
          <p:cNvSpPr/>
          <p:nvPr/>
        </p:nvSpPr>
        <p:spPr>
          <a:xfrm>
            <a:off x="457200" y="3383280"/>
            <a:ext cx="8229600" cy="137160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9" name="Text 7"/>
          <p:cNvSpPr/>
          <p:nvPr/>
        </p:nvSpPr>
        <p:spPr>
          <a:xfrm>
            <a:off x="640080" y="3429000"/>
            <a:ext cx="7772400" cy="320040"/>
          </a:xfrm>
          <a:prstGeom prst="rect">
            <a:avLst/>
          </a:prstGeom>
          <a:noFill/>
          <a:ln/>
        </p:spPr>
        <p:txBody>
          <a:bodyPr wrap="square" lIns="0" tIns="0" rIns="0" bIns="0" rtlCol="0" anchor="ctr"/>
          <a:lstStyle/>
          <a:p>
            <a:pPr indent="0" marL="0">
              <a:buNone/>
            </a:pPr>
            <a:r>
              <a:rPr lang="en-US" sz="1500" b="1" dirty="0">
                <a:solidFill>
                  <a:srgbClr val="065A82"/>
                </a:solidFill>
                <a:latin typeface="Georgia" pitchFamily="34" charset="0"/>
                <a:ea typeface="Georgia" pitchFamily="34" charset="-122"/>
                <a:cs typeface="Georgia" pitchFamily="34" charset="-120"/>
              </a:rPr>
              <a:t>Why This Works</a:t>
            </a:r>
            <a:endParaRPr lang="en-US" sz="1500" dirty="0"/>
          </a:p>
        </p:txBody>
      </p:sp>
      <p:sp>
        <p:nvSpPr>
          <p:cNvPr id="10" name="Text 8"/>
          <p:cNvSpPr/>
          <p:nvPr/>
        </p:nvSpPr>
        <p:spPr>
          <a:xfrm>
            <a:off x="640080" y="3749040"/>
            <a:ext cx="7772400" cy="9144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For any h from (A,B,C) and realizable D:</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Each overlap region (A∩B, A∩C, B∩C) either has negligible mass under D → doesn't matter</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Or has significant mass → will quickly be observed in training, revealing the correct label</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Once all high-mass overlaps are observed, the learner achieves zero error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0" y="-914400"/>
            <a:ext cx="4572000" cy="4572000"/>
          </a:xfrm>
          <a:prstGeom prst="ellipse">
            <a:avLst/>
          </a:prstGeom>
          <a:solidFill>
            <a:srgbClr val="065A82">
              <a:alpha val="60000"/>
            </a:srgbClr>
          </a:solidFill>
          <a:ln/>
        </p:spPr>
      </p:sp>
      <p:pic>
        <p:nvPicPr>
          <p:cNvPr id="3" name="Image 0" descr="preencoded.png">    </p:cNvPr>
          <p:cNvPicPr>
            <a:picLocks noChangeAspect="1"/>
          </p:cNvPicPr>
          <p:nvPr/>
        </p:nvPicPr>
        <p:blipFill>
          <a:blip r:embed="rId1"/>
          <a:stretch>
            <a:fillRect/>
          </a:stretch>
        </p:blipFill>
        <p:spPr>
          <a:xfrm>
            <a:off x="4114800" y="365760"/>
            <a:ext cx="731520" cy="731520"/>
          </a:xfrm>
          <a:prstGeom prst="rect">
            <a:avLst/>
          </a:prstGeom>
        </p:spPr>
      </p:pic>
      <p:sp>
        <p:nvSpPr>
          <p:cNvPr id="4" name="Text 1"/>
          <p:cNvSpPr/>
          <p:nvPr/>
        </p:nvSpPr>
        <p:spPr>
          <a:xfrm>
            <a:off x="731520" y="1188720"/>
            <a:ext cx="7680960" cy="548640"/>
          </a:xfrm>
          <a:prstGeom prst="rect">
            <a:avLst/>
          </a:prstGeom>
          <a:noFill/>
          <a:ln/>
        </p:spPr>
        <p:txBody>
          <a:bodyPr wrap="square" rtlCol="0" anchor="ctr"/>
          <a:lstStyle/>
          <a:p>
            <a:pPr algn="ctr" indent="0" marL="0">
              <a:buNone/>
            </a:pPr>
            <a:r>
              <a:rPr lang="en-US" sz="2800" b="1" dirty="0">
                <a:solidFill>
                  <a:srgbClr val="F9E795"/>
                </a:solidFill>
                <a:latin typeface="Georgia" pitchFamily="34" charset="0"/>
                <a:ea typeface="Georgia" pitchFamily="34" charset="-122"/>
                <a:cs typeface="Georgia" pitchFamily="34" charset="-120"/>
              </a:rPr>
              <a:t>Open Problem 2</a:t>
            </a:r>
            <a:endParaRPr lang="en-US" sz="2800" dirty="0"/>
          </a:p>
        </p:txBody>
      </p:sp>
      <p:sp>
        <p:nvSpPr>
          <p:cNvPr id="5" name="Shape 2"/>
          <p:cNvSpPr/>
          <p:nvPr/>
        </p:nvSpPr>
        <p:spPr>
          <a:xfrm>
            <a:off x="914400" y="1920240"/>
            <a:ext cx="7315200" cy="1097280"/>
          </a:xfrm>
          <a:prstGeom prst="rect">
            <a:avLst/>
          </a:prstGeom>
          <a:solidFill>
            <a:srgbClr val="FFFFFF">
              <a:alpha val="10000"/>
            </a:srgbClr>
          </a:solidFill>
          <a:ln/>
        </p:spPr>
      </p:sp>
      <p:sp>
        <p:nvSpPr>
          <p:cNvPr id="6" name="Text 3"/>
          <p:cNvSpPr/>
          <p:nvPr/>
        </p:nvSpPr>
        <p:spPr>
          <a:xfrm>
            <a:off x="914400" y="1920240"/>
            <a:ext cx="7315200" cy="1097280"/>
          </a:xfrm>
          <a:prstGeom prst="rect">
            <a:avLst/>
          </a:prstGeom>
          <a:noFill/>
          <a:ln/>
        </p:spPr>
        <p:txBody>
          <a:bodyPr wrap="square" rtlCol="0" anchor="ctr"/>
          <a:lstStyle/>
          <a:p>
            <a:pPr algn="ctr" indent="0" marL="0">
              <a:lnSpc>
                <a:spcPct val="130000"/>
              </a:lnSpc>
              <a:buNone/>
            </a:pPr>
            <a:r>
              <a:rPr lang="en-US" sz="1800" b="1" dirty="0">
                <a:solidFill>
                  <a:srgbClr val="FFFFFF"/>
                </a:solidFill>
                <a:latin typeface="Georgia" pitchFamily="34" charset="0"/>
                <a:ea typeface="Georgia" pitchFamily="34" charset="-122"/>
                <a:cs typeface="Georgia" pitchFamily="34" charset="-120"/>
              </a:rPr>
              <a:t>Can the class H△ be learned by a local regularizer?</a:t>
            </a:r>
            <a:endParaRPr lang="en-US" sz="1800" dirty="0"/>
          </a:p>
          <a:p>
            <a:pPr algn="ctr" indent="0" marL="0">
              <a:lnSpc>
                <a:spcPct val="130000"/>
              </a:lnSpc>
              <a:buNone/>
            </a:pPr>
            <a:r>
              <a:rPr lang="en-US" sz="1800" b="1" dirty="0">
                <a:solidFill>
                  <a:srgbClr val="FFFFFF"/>
                </a:solidFill>
                <a:latin typeface="Georgia" pitchFamily="34" charset="0"/>
                <a:ea typeface="Georgia" pitchFamily="34" charset="-122"/>
                <a:cs typeface="Georgia" pitchFamily="34" charset="-120"/>
              </a:rPr>
              <a:t>If so, with optimal (or nearly optimal) sample complexity?</a:t>
            </a:r>
            <a:endParaRPr lang="en-US" sz="1800" dirty="0"/>
          </a:p>
        </p:txBody>
      </p:sp>
      <p:sp>
        <p:nvSpPr>
          <p:cNvPr id="7" name="Text 4"/>
          <p:cNvSpPr/>
          <p:nvPr/>
        </p:nvSpPr>
        <p:spPr>
          <a:xfrm>
            <a:off x="1371600" y="3291840"/>
            <a:ext cx="6400800" cy="365760"/>
          </a:xfrm>
          <a:prstGeom prst="rect">
            <a:avLst/>
          </a:prstGeom>
          <a:noFill/>
          <a:ln/>
        </p:spPr>
        <p:txBody>
          <a:bodyPr wrap="square" lIns="0" tIns="0" rIns="0" bIns="0" rtlCol="0" anchor="ctr"/>
          <a:lstStyle/>
          <a:p>
            <a:pPr indent="0" marL="0">
              <a:buNone/>
            </a:pPr>
            <a:r>
              <a:rPr lang="en-US" sz="1600" b="1" dirty="0">
                <a:solidFill>
                  <a:srgbClr val="F9E795"/>
                </a:solidFill>
                <a:latin typeface="Georgia" pitchFamily="34" charset="0"/>
                <a:ea typeface="Georgia" pitchFamily="34" charset="-122"/>
                <a:cs typeface="Georgia" pitchFamily="34" charset="-120"/>
              </a:rPr>
              <a:t>The Intuitive Barrier</a:t>
            </a:r>
            <a:endParaRPr lang="en-US" sz="1600" dirty="0"/>
          </a:p>
        </p:txBody>
      </p:sp>
      <p:sp>
        <p:nvSpPr>
          <p:cNvPr id="8" name="Text 5"/>
          <p:cNvSpPr/>
          <p:nvPr/>
        </p:nvSpPr>
        <p:spPr>
          <a:xfrm>
            <a:off x="1371600" y="3611880"/>
            <a:ext cx="6400800" cy="11887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 local regularizer only accesses:</a:t>
            </a:r>
            <a:endParaRPr lang="en-US" sz="1400" dirty="0"/>
          </a:p>
          <a:p>
            <a:pPr indent="0" marL="0">
              <a:buNone/>
            </a:pPr>
            <a:endParaRPr lang="en-US" sz="1400" dirty="0"/>
          </a:p>
          <a:p>
            <a:pPr indent="0" marL="0">
              <a:buNone/>
            </a:pPr>
            <a:r>
              <a:rPr lang="en-US" sz="1300" dirty="0">
                <a:solidFill>
                  <a:srgbClr val="E8EDF2"/>
                </a:solidFill>
                <a:latin typeface="Calibri" pitchFamily="34" charset="0"/>
                <a:ea typeface="Calibri" pitchFamily="34" charset="-122"/>
                <a:cs typeface="Calibri" pitchFamily="34" charset="-120"/>
              </a:rPr>
              <a:t>  • The test point x</a:t>
            </a:r>
            <a:endParaRPr lang="en-US" sz="1400" dirty="0"/>
          </a:p>
          <a:p>
            <a:pPr indent="0" marL="0">
              <a:buNone/>
            </a:pPr>
            <a:endParaRPr lang="en-US" sz="1400" dirty="0"/>
          </a:p>
          <a:p>
            <a:pPr indent="0" marL="0">
              <a:buNone/>
            </a:pPr>
            <a:r>
              <a:rPr lang="en-US" sz="1300" dirty="0">
                <a:solidFill>
                  <a:srgbClr val="E8EDF2"/>
                </a:solidFill>
                <a:latin typeface="Calibri" pitchFamily="34" charset="0"/>
                <a:ea typeface="Calibri" pitchFamily="34" charset="-122"/>
                <a:cs typeface="Calibri" pitchFamily="34" charset="-120"/>
              </a:rPr>
              <a:t>  • Empirical errors of hypotheses on S</a:t>
            </a:r>
            <a:endParaRPr lang="en-US" sz="1400" dirty="0"/>
          </a:p>
          <a:p>
            <a:pPr indent="0" marL="0">
              <a:buNone/>
            </a:pPr>
            <a:endParaRPr lang="en-US" sz="1400" dirty="0"/>
          </a:p>
          <a:p>
            <a:pPr indent="0" marL="0">
              <a:buNone/>
            </a:pPr>
            <a:r>
              <a:rPr lang="en-US" sz="1300" b="1" dirty="0">
                <a:solidFill>
                  <a:srgbClr val="E8EDF2"/>
                </a:solidFill>
                <a:latin typeface="Calibri" pitchFamily="34" charset="0"/>
                <a:ea typeface="Calibri" pitchFamily="34" charset="-122"/>
                <a:cs typeface="Calibri" pitchFamily="34" charset="-120"/>
              </a:rPr>
              <a:t>But it seems a learner must inspect the geometry of S to break the symmetry of H△.</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73152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Connections &amp; Additional Context</a:t>
            </a:r>
            <a:endParaRPr lang="en-US" sz="2600" dirty="0"/>
          </a:p>
        </p:txBody>
      </p:sp>
      <p:sp>
        <p:nvSpPr>
          <p:cNvPr id="4" name="Shape 2"/>
          <p:cNvSpPr/>
          <p:nvPr/>
        </p:nvSpPr>
        <p:spPr>
          <a:xfrm>
            <a:off x="457200" y="1051560"/>
            <a:ext cx="3931920" cy="182880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5" name="Shape 3"/>
          <p:cNvSpPr/>
          <p:nvPr/>
        </p:nvSpPr>
        <p:spPr>
          <a:xfrm>
            <a:off x="640080" y="1188720"/>
            <a:ext cx="457200" cy="45720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740664" y="1289304"/>
            <a:ext cx="256032" cy="256032"/>
          </a:xfrm>
          <a:prstGeom prst="rect">
            <a:avLst/>
          </a:prstGeom>
        </p:spPr>
      </p:pic>
      <p:sp>
        <p:nvSpPr>
          <p:cNvPr id="7" name="Text 4"/>
          <p:cNvSpPr/>
          <p:nvPr/>
        </p:nvSpPr>
        <p:spPr>
          <a:xfrm>
            <a:off x="1280160" y="1188720"/>
            <a:ext cx="2926080" cy="365760"/>
          </a:xfrm>
          <a:prstGeom prst="rect">
            <a:avLst/>
          </a:prstGeom>
          <a:noFill/>
          <a:ln/>
        </p:spPr>
        <p:txBody>
          <a:bodyPr wrap="square" lIns="0" tIns="0" rIns="0" bIns="0" rtlCol="0" anchor="ctr"/>
          <a:lstStyle/>
          <a:p>
            <a:pPr indent="0" marL="0">
              <a:buNone/>
            </a:pPr>
            <a:r>
              <a:rPr lang="en-US" sz="1400" b="1" dirty="0">
                <a:solidFill>
                  <a:srgbClr val="065A82"/>
                </a:solidFill>
                <a:latin typeface="Georgia" pitchFamily="34" charset="0"/>
                <a:ea typeface="Georgia" pitchFamily="34" charset="-122"/>
                <a:cs typeface="Georgia" pitchFamily="34" charset="-120"/>
              </a:rPr>
              <a:t>One-Inclusion Graphs</a:t>
            </a:r>
            <a:endParaRPr lang="en-US" sz="1400" dirty="0"/>
          </a:p>
        </p:txBody>
      </p:sp>
      <p:sp>
        <p:nvSpPr>
          <p:cNvPr id="8" name="Text 5"/>
          <p:cNvSpPr/>
          <p:nvPr/>
        </p:nvSpPr>
        <p:spPr>
          <a:xfrm>
            <a:off x="640080" y="1645920"/>
            <a:ext cx="3566160" cy="109728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OIGs use H, unlabeled data in S, and test point x. If local reg suffices, the unlabeled data component is redundant — a surprising finding.</a:t>
            </a:r>
            <a:endParaRPr lang="en-US" sz="1200" dirty="0"/>
          </a:p>
        </p:txBody>
      </p:sp>
      <p:sp>
        <p:nvSpPr>
          <p:cNvPr id="9" name="Shape 6"/>
          <p:cNvSpPr/>
          <p:nvPr/>
        </p:nvSpPr>
        <p:spPr>
          <a:xfrm>
            <a:off x="4754880" y="1051560"/>
            <a:ext cx="3931920" cy="1828800"/>
          </a:xfrm>
          <a:prstGeom prst="rect">
            <a:avLst/>
          </a:prstGeom>
          <a:solidFill>
            <a:srgbClr val="F0F4F8"/>
          </a:solidFill>
          <a:ln/>
          <a:effectLst>
            <a:outerShdw sx="100000" sy="100000" kx="0" ky="0" algn="bl" rotWithShape="0" blurRad="76200" dist="25400" dir="8100000">
              <a:srgbClr val="000000">
                <a:alpha val="15000"/>
              </a:srgbClr>
            </a:outerShdw>
          </a:effectLst>
        </p:spPr>
      </p:sp>
      <p:sp>
        <p:nvSpPr>
          <p:cNvPr id="10" name="Shape 7"/>
          <p:cNvSpPr/>
          <p:nvPr/>
        </p:nvSpPr>
        <p:spPr>
          <a:xfrm>
            <a:off x="4937760" y="1188720"/>
            <a:ext cx="457200" cy="457200"/>
          </a:xfrm>
          <a:prstGeom prst="ellipse">
            <a:avLst/>
          </a:prstGeom>
          <a:solidFill>
            <a:srgbClr val="1C7293"/>
          </a:solidFill>
          <a:ln/>
        </p:spPr>
      </p:sp>
      <p:pic>
        <p:nvPicPr>
          <p:cNvPr id="11" name="Image 1" descr="preencoded.png">    </p:cNvPr>
          <p:cNvPicPr>
            <a:picLocks noChangeAspect="1"/>
          </p:cNvPicPr>
          <p:nvPr/>
        </p:nvPicPr>
        <p:blipFill>
          <a:blip r:embed="rId2"/>
          <a:stretch>
            <a:fillRect/>
          </a:stretch>
        </p:blipFill>
        <p:spPr>
          <a:xfrm>
            <a:off x="5038344" y="1289304"/>
            <a:ext cx="256032" cy="256032"/>
          </a:xfrm>
          <a:prstGeom prst="rect">
            <a:avLst/>
          </a:prstGeom>
        </p:spPr>
      </p:pic>
      <p:sp>
        <p:nvSpPr>
          <p:cNvPr id="12" name="Text 8"/>
          <p:cNvSpPr/>
          <p:nvPr/>
        </p:nvSpPr>
        <p:spPr>
          <a:xfrm>
            <a:off x="5577840" y="1188720"/>
            <a:ext cx="2926080" cy="365760"/>
          </a:xfrm>
          <a:prstGeom prst="rect">
            <a:avLst/>
          </a:prstGeom>
          <a:noFill/>
          <a:ln/>
        </p:spPr>
        <p:txBody>
          <a:bodyPr wrap="square" lIns="0" tIns="0" rIns="0" bIns="0" rtlCol="0" anchor="ctr"/>
          <a:lstStyle/>
          <a:p>
            <a:pPr indent="0" marL="0">
              <a:buNone/>
            </a:pPr>
            <a:r>
              <a:rPr lang="en-US" sz="1400" b="1" dirty="0">
                <a:solidFill>
                  <a:srgbClr val="1C7293"/>
                </a:solidFill>
                <a:latin typeface="Georgia" pitchFamily="34" charset="0"/>
                <a:ea typeface="Georgia" pitchFamily="34" charset="-122"/>
                <a:cs typeface="Georgia" pitchFamily="34" charset="-120"/>
              </a:rPr>
              <a:t>Sample Compression</a:t>
            </a:r>
            <a:endParaRPr lang="en-US" sz="1400" dirty="0"/>
          </a:p>
        </p:txBody>
      </p:sp>
      <p:sp>
        <p:nvSpPr>
          <p:cNvPr id="13" name="Text 9"/>
          <p:cNvSpPr/>
          <p:nvPr/>
        </p:nvSpPr>
        <p:spPr>
          <a:xfrm>
            <a:off x="4937760" y="1645920"/>
            <a:ext cx="3566160" cy="109728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David et al. (2016) showed learning ↔ sublinear compression. Brukhim et al. used this to characterize learnability via DS dimension.</a:t>
            </a:r>
            <a:endParaRPr lang="en-US" sz="1200" dirty="0"/>
          </a:p>
        </p:txBody>
      </p:sp>
      <p:sp>
        <p:nvSpPr>
          <p:cNvPr id="14" name="Shape 10"/>
          <p:cNvSpPr/>
          <p:nvPr/>
        </p:nvSpPr>
        <p:spPr>
          <a:xfrm>
            <a:off x="457200" y="3154680"/>
            <a:ext cx="8229600" cy="1645920"/>
          </a:xfrm>
          <a:prstGeom prst="rect">
            <a:avLst/>
          </a:prstGeom>
          <a:solidFill>
            <a:srgbClr val="F0F7FF"/>
          </a:solidFill>
          <a:ln/>
          <a:effectLst>
            <a:outerShdw sx="100000" sy="100000" kx="0" ky="0" algn="bl" rotWithShape="0" blurRad="76200" dist="25400" dir="8100000">
              <a:srgbClr val="000000">
                <a:alpha val="15000"/>
              </a:srgbClr>
            </a:outerShdw>
          </a:effectLst>
        </p:spPr>
      </p:sp>
      <p:sp>
        <p:nvSpPr>
          <p:cNvPr id="15" name="Shape 11"/>
          <p:cNvSpPr/>
          <p:nvPr/>
        </p:nvSpPr>
        <p:spPr>
          <a:xfrm>
            <a:off x="640080" y="3291840"/>
            <a:ext cx="457200" cy="457200"/>
          </a:xfrm>
          <a:prstGeom prst="ellipse">
            <a:avLst/>
          </a:prstGeom>
          <a:solidFill>
            <a:srgbClr val="F96167"/>
          </a:solidFill>
          <a:ln/>
        </p:spPr>
      </p:sp>
      <p:pic>
        <p:nvPicPr>
          <p:cNvPr id="16" name="Image 2" descr="preencoded.png">    </p:cNvPr>
          <p:cNvPicPr>
            <a:picLocks noChangeAspect="1"/>
          </p:cNvPicPr>
          <p:nvPr/>
        </p:nvPicPr>
        <p:blipFill>
          <a:blip r:embed="rId3"/>
          <a:stretch>
            <a:fillRect/>
          </a:stretch>
        </p:blipFill>
        <p:spPr>
          <a:xfrm>
            <a:off x="740664" y="3392424"/>
            <a:ext cx="256032" cy="256032"/>
          </a:xfrm>
          <a:prstGeom prst="rect">
            <a:avLst/>
          </a:prstGeom>
        </p:spPr>
      </p:pic>
      <p:sp>
        <p:nvSpPr>
          <p:cNvPr id="17" name="Text 12"/>
          <p:cNvSpPr/>
          <p:nvPr/>
        </p:nvSpPr>
        <p:spPr>
          <a:xfrm>
            <a:off x="1280160" y="3291840"/>
            <a:ext cx="7132320" cy="365760"/>
          </a:xfrm>
          <a:prstGeom prst="rect">
            <a:avLst/>
          </a:prstGeom>
          <a:noFill/>
          <a:ln/>
        </p:spPr>
        <p:txBody>
          <a:bodyPr wrap="square" lIns="0" tIns="0" rIns="0" bIns="0" rtlCol="0" anchor="ctr"/>
          <a:lstStyle/>
          <a:p>
            <a:pPr indent="0" marL="0">
              <a:buNone/>
            </a:pPr>
            <a:r>
              <a:rPr lang="en-US" sz="1400" b="1" dirty="0">
                <a:solidFill>
                  <a:srgbClr val="F96167"/>
                </a:solidFill>
                <a:latin typeface="Georgia" pitchFamily="34" charset="0"/>
                <a:ea typeface="Georgia" pitchFamily="34" charset="-122"/>
                <a:cs typeface="Georgia" pitchFamily="34" charset="-120"/>
              </a:rPr>
              <a:t>Beyond Classification: Linear Regression</a:t>
            </a:r>
            <a:endParaRPr lang="en-US" sz="1400" dirty="0"/>
          </a:p>
        </p:txBody>
      </p:sp>
      <p:sp>
        <p:nvSpPr>
          <p:cNvPr id="18" name="Text 13"/>
          <p:cNvSpPr/>
          <p:nvPr/>
        </p:nvSpPr>
        <p:spPr>
          <a:xfrm>
            <a:off x="640080" y="3749040"/>
            <a:ext cx="7772400" cy="91440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Local regularization appears in other settings too. Vaskevičius &amp; Zhivotovskiy (2023) showed a modified Vovk-Azoury-Warmuth forecaster — which uses exactly a local regularizer favoring small-norm outputs at the test point — surpasses all proper learners in linear regression with squared loss. This suggests local regularization may be a broadly important concept.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065A82">
              <a:alpha val="60000"/>
            </a:srgbClr>
          </a:solidFill>
          <a:ln/>
        </p:spPr>
      </p:sp>
      <p:sp>
        <p:nvSpPr>
          <p:cNvPr id="3" name="Shape 1"/>
          <p:cNvSpPr/>
          <p:nvPr/>
        </p:nvSpPr>
        <p:spPr>
          <a:xfrm>
            <a:off x="7315200" y="-914400"/>
            <a:ext cx="3657600" cy="3657600"/>
          </a:xfrm>
          <a:prstGeom prst="ellipse">
            <a:avLst/>
          </a:prstGeom>
          <a:solidFill>
            <a:srgbClr val="1C7293">
              <a:alpha val="60000"/>
            </a:srgbClr>
          </a:solidFill>
          <a:ln/>
        </p:spPr>
      </p:sp>
      <p:sp>
        <p:nvSpPr>
          <p:cNvPr id="4" name="Text 2"/>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9E795"/>
                </a:solidFill>
                <a:latin typeface="Georgia" pitchFamily="34" charset="0"/>
                <a:ea typeface="Georgia" pitchFamily="34" charset="-122"/>
                <a:cs typeface="Georgia" pitchFamily="34" charset="-120"/>
              </a:rPr>
              <a:t>Conclusion &amp; Future Directions</a:t>
            </a:r>
            <a:endParaRPr lang="en-US" sz="2800" dirty="0"/>
          </a:p>
        </p:txBody>
      </p:sp>
      <p:sp>
        <p:nvSpPr>
          <p:cNvPr id="5" name="Text 3"/>
          <p:cNvSpPr/>
          <p:nvPr/>
        </p:nvSpPr>
        <p:spPr>
          <a:xfrm>
            <a:off x="731520" y="822960"/>
            <a:ext cx="7772400" cy="3840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Summary</a:t>
            </a:r>
            <a:endParaRPr lang="en-US" sz="1600" dirty="0"/>
          </a:p>
          <a:p>
            <a:pPr indent="0" marL="0">
              <a:buNone/>
            </a:pPr>
            <a:endParaRPr lang="en-US" sz="1600" dirty="0"/>
          </a:p>
          <a:p>
            <a:pPr indent="0" marL="0">
              <a:buNone/>
            </a:pPr>
            <a:r>
              <a:rPr lang="en-US" sz="1300" dirty="0">
                <a:solidFill>
                  <a:srgbClr val="CADCFC"/>
                </a:solidFill>
                <a:latin typeface="Calibri" pitchFamily="34" charset="0"/>
                <a:ea typeface="Calibri" pitchFamily="34" charset="-122"/>
                <a:cs typeface="Calibri" pitchFamily="34" charset="-120"/>
              </a:rPr>
              <a:t>• Multiclass learning is fundamentally harder than binary — ERM and SRM fail</a:t>
            </a:r>
            <a:endParaRPr lang="en-US" sz="1600" dirty="0"/>
          </a:p>
          <a:p>
            <a:pPr indent="0" marL="0">
              <a:buNone/>
            </a:pPr>
            <a:endParaRPr lang="en-US" sz="1600" dirty="0"/>
          </a:p>
          <a:p>
            <a:pPr indent="0" marL="0">
              <a:buNone/>
            </a:pPr>
            <a:r>
              <a:rPr lang="en-US" sz="1300" dirty="0">
                <a:solidFill>
                  <a:srgbClr val="CADCFC"/>
                </a:solidFill>
                <a:latin typeface="Calibri" pitchFamily="34" charset="0"/>
                <a:ea typeface="Calibri" pitchFamily="34" charset="-122"/>
                <a:cs typeface="Calibri" pitchFamily="34" charset="-120"/>
              </a:rPr>
              <a:t>• Local regularization is a natural and powerful generalization of ERM</a:t>
            </a:r>
            <a:endParaRPr lang="en-US" sz="1600" dirty="0"/>
          </a:p>
          <a:p>
            <a:pPr indent="0" marL="0">
              <a:buNone/>
            </a:pPr>
            <a:endParaRPr lang="en-US" sz="1600" dirty="0"/>
          </a:p>
          <a:p>
            <a:pPr indent="0" marL="0">
              <a:buNone/>
            </a:pPr>
            <a:r>
              <a:rPr lang="en-US" sz="1300" dirty="0">
                <a:solidFill>
                  <a:srgbClr val="CADCFC"/>
                </a:solidFill>
                <a:latin typeface="Calibri" pitchFamily="34" charset="0"/>
                <a:ea typeface="Calibri" pitchFamily="34" charset="-122"/>
                <a:cs typeface="Calibri" pitchFamily="34" charset="-120"/>
              </a:rPr>
              <a:t>• Open question: is it powerful enough for ALL multiclass problems?</a:t>
            </a:r>
            <a:endParaRPr lang="en-US" sz="1600" dirty="0"/>
          </a:p>
          <a:p>
            <a:pPr indent="0" marL="0">
              <a:buNone/>
            </a:pPr>
            <a:endParaRPr lang="en-US" sz="1600" dirty="0"/>
          </a:p>
          <a:p>
            <a:pPr indent="0" marL="0">
              <a:buNone/>
            </a:pPr>
            <a:r>
              <a:rPr lang="en-US" sz="1300" dirty="0">
                <a:solidFill>
                  <a:srgbClr val="CADCFC"/>
                </a:solidFill>
                <a:latin typeface="Calibri" pitchFamily="34" charset="0"/>
                <a:ea typeface="Calibri" pitchFamily="34" charset="-122"/>
                <a:cs typeface="Calibri" pitchFamily="34" charset="-120"/>
              </a:rPr>
              <a:t>• H△ is proposed as a candidate counterexample</a:t>
            </a:r>
            <a:endParaRPr lang="en-US" sz="1600" dirty="0"/>
          </a:p>
          <a:p>
            <a:pPr indent="0" marL="0">
              <a:buNone/>
            </a:pPr>
            <a:endParaRPr lang="en-US" sz="1600" dirty="0"/>
          </a:p>
          <a:p>
            <a:pPr indent="0" marL="0">
              <a:buNone/>
            </a:pP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Future Directions</a:t>
            </a:r>
            <a:endParaRPr lang="en-US" sz="1600" dirty="0"/>
          </a:p>
          <a:p>
            <a:pPr indent="0" marL="0">
              <a:buNone/>
            </a:pPr>
            <a:endParaRPr lang="en-US" sz="1600" dirty="0"/>
          </a:p>
          <a:p>
            <a:pPr indent="0" marL="0">
              <a:buNone/>
            </a:pPr>
            <a:r>
              <a:rPr lang="en-US" sz="1300" dirty="0">
                <a:solidFill>
                  <a:srgbClr val="CADCFC"/>
                </a:solidFill>
                <a:latin typeface="Calibri" pitchFamily="34" charset="0"/>
                <a:ea typeface="Calibri" pitchFamily="34" charset="-122"/>
                <a:cs typeface="Calibri" pitchFamily="34" charset="-120"/>
              </a:rPr>
              <a:t>• Resolve Open Problem 2: formally prove or disprove H△ learnability by local reg</a:t>
            </a:r>
            <a:endParaRPr lang="en-US" sz="1600" dirty="0"/>
          </a:p>
          <a:p>
            <a:pPr indent="0" marL="0">
              <a:buNone/>
            </a:pPr>
            <a:endParaRPr lang="en-US" sz="1600" dirty="0"/>
          </a:p>
          <a:p>
            <a:pPr indent="0" marL="0">
              <a:buNone/>
            </a:pPr>
            <a:r>
              <a:rPr lang="en-US" sz="1300" dirty="0">
                <a:solidFill>
                  <a:srgbClr val="CADCFC"/>
                </a:solidFill>
                <a:latin typeface="Calibri" pitchFamily="34" charset="0"/>
                <a:ea typeface="Calibri" pitchFamily="34" charset="-122"/>
                <a:cs typeface="Calibri" pitchFamily="34" charset="-120"/>
              </a:rPr>
              <a:t>• Explore tighter connections between local reg and sample compression</a:t>
            </a:r>
            <a:endParaRPr lang="en-US" sz="1600" dirty="0"/>
          </a:p>
          <a:p>
            <a:pPr indent="0" marL="0">
              <a:buNone/>
            </a:pPr>
            <a:endParaRPr lang="en-US" sz="1600" dirty="0"/>
          </a:p>
          <a:p>
            <a:pPr indent="0" marL="0">
              <a:buNone/>
            </a:pPr>
            <a:r>
              <a:rPr lang="en-US" sz="1300" dirty="0">
                <a:solidFill>
                  <a:srgbClr val="CADCFC"/>
                </a:solidFill>
                <a:latin typeface="Calibri" pitchFamily="34" charset="0"/>
                <a:ea typeface="Calibri" pitchFamily="34" charset="-122"/>
                <a:cs typeface="Calibri" pitchFamily="34" charset="-120"/>
              </a:rPr>
              <a:t>• Investigate local regularization in other loss functions beyond 0-1</a:t>
            </a:r>
            <a:endParaRPr lang="en-US" sz="1600" dirty="0"/>
          </a:p>
          <a:p>
            <a:pPr indent="0" marL="0">
              <a:buNone/>
            </a:pPr>
            <a:endParaRPr lang="en-US" sz="1600" dirty="0"/>
          </a:p>
          <a:p>
            <a:pPr indent="0" marL="0">
              <a:buNone/>
            </a:pPr>
            <a:r>
              <a:rPr lang="en-US" sz="1300" dirty="0">
                <a:solidFill>
                  <a:srgbClr val="CADCFC"/>
                </a:solidFill>
                <a:latin typeface="Calibri" pitchFamily="34" charset="0"/>
                <a:ea typeface="Calibri" pitchFamily="34" charset="-122"/>
                <a:cs typeface="Calibri" pitchFamily="34" charset="-120"/>
              </a:rPr>
              <a:t>• Understand the role of unlabeled data in multiclass learning more broadly</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743200" y="914400"/>
            <a:ext cx="3657600" cy="3657600"/>
          </a:xfrm>
          <a:prstGeom prst="ellipse">
            <a:avLst/>
          </a:prstGeom>
          <a:solidFill>
            <a:srgbClr val="065A82">
              <a:alpha val="50000"/>
            </a:srgbClr>
          </a:solidFill>
          <a:ln/>
        </p:spPr>
      </p:sp>
      <p:sp>
        <p:nvSpPr>
          <p:cNvPr id="3" name="Text 1"/>
          <p:cNvSpPr/>
          <p:nvPr/>
        </p:nvSpPr>
        <p:spPr>
          <a:xfrm>
            <a:off x="731520" y="1371600"/>
            <a:ext cx="7680960" cy="91440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Thank You</a:t>
            </a:r>
            <a:endParaRPr lang="en-US" sz="4000" dirty="0"/>
          </a:p>
        </p:txBody>
      </p:sp>
      <p:sp>
        <p:nvSpPr>
          <p:cNvPr id="4" name="Text 2"/>
          <p:cNvSpPr/>
          <p:nvPr/>
        </p:nvSpPr>
        <p:spPr>
          <a:xfrm>
            <a:off x="731520" y="2286000"/>
            <a:ext cx="7680960" cy="548640"/>
          </a:xfrm>
          <a:prstGeom prst="rect">
            <a:avLst/>
          </a:prstGeom>
          <a:noFill/>
          <a:ln/>
        </p:spPr>
        <p:txBody>
          <a:bodyPr wrap="square" rtlCol="0" anchor="ctr"/>
          <a:lstStyle/>
          <a:p>
            <a:pPr algn="ctr" indent="0" marL="0">
              <a:buNone/>
            </a:pPr>
            <a:r>
              <a:rPr lang="en-US" sz="2000" dirty="0">
                <a:solidFill>
                  <a:srgbClr val="CADCFC"/>
                </a:solidFill>
                <a:latin typeface="Calibri" pitchFamily="34" charset="0"/>
                <a:ea typeface="Calibri" pitchFamily="34" charset="-122"/>
                <a:cs typeface="Calibri" pitchFamily="34" charset="-120"/>
              </a:rPr>
              <a:t>Questions &amp; Discussion</a:t>
            </a:r>
            <a:endParaRPr lang="en-US" sz="2000" dirty="0"/>
          </a:p>
        </p:txBody>
      </p:sp>
      <p:sp>
        <p:nvSpPr>
          <p:cNvPr id="5" name="Text 3"/>
          <p:cNvSpPr/>
          <p:nvPr/>
        </p:nvSpPr>
        <p:spPr>
          <a:xfrm>
            <a:off x="731520" y="3200400"/>
            <a:ext cx="7680960" cy="914400"/>
          </a:xfrm>
          <a:prstGeom prst="rect">
            <a:avLst/>
          </a:prstGeom>
          <a:noFill/>
          <a:ln/>
        </p:spPr>
        <p:txBody>
          <a:bodyPr wrap="square" rtlCol="0" anchor="ctr"/>
          <a:lstStyle/>
          <a:p>
            <a:pPr algn="ctr" indent="0" marL="0">
              <a:buNone/>
            </a:pPr>
            <a:r>
              <a:rPr lang="en-US" sz="1300" i="1" dirty="0">
                <a:solidFill>
                  <a:srgbClr val="CADCFC"/>
                </a:solidFill>
                <a:latin typeface="Calibri" pitchFamily="34" charset="0"/>
                <a:ea typeface="Calibri" pitchFamily="34" charset="-122"/>
                <a:cs typeface="Calibri" pitchFamily="34" charset="-120"/>
              </a:rPr>
              <a:t>Paper: Asilis et al. — COLT 2024, PMLR vol 196</a:t>
            </a:r>
            <a:endParaRPr lang="en-US" sz="1300" dirty="0"/>
          </a:p>
          <a:p>
            <a:pPr algn="ctr" indent="0" marL="0">
              <a:buNone/>
            </a:pPr>
            <a:r>
              <a:rPr lang="en-US" sz="1300" i="1" dirty="0">
                <a:solidFill>
                  <a:srgbClr val="CADCFC"/>
                </a:solidFill>
                <a:latin typeface="Calibri" pitchFamily="34" charset="0"/>
                <a:ea typeface="Calibri" pitchFamily="34" charset="-122"/>
                <a:cs typeface="Calibri" pitchFamily="34" charset="-120"/>
              </a:rPr>
              <a:t>Open Problem: Can Local Regularization Learn All Multiclass Problems?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Problem: Can Local Regularization Learn All Multiclass Problems?</dc:title>
  <dc:subject>PptxGenJS Presentation</dc:subject>
  <dc:creator>Student Presenter</dc:creator>
  <cp:lastModifiedBy>Student Presenter</cp:lastModifiedBy>
  <cp:revision>1</cp:revision>
  <dcterms:created xsi:type="dcterms:W3CDTF">2026-03-10T19:24:07Z</dcterms:created>
  <dcterms:modified xsi:type="dcterms:W3CDTF">2026-03-10T19:24:07Z</dcterms:modified>
</cp:coreProperties>
</file>