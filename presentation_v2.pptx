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628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present an open problem paper from COLT 2024 by Asilis, Devic, Dughmi, Sharan, and Teng from USC.
The big question: Is there a simple, universal algorithmic template for multiclass classification — the way ERM is for binary? Specifically, can local regularization play this role?
This is NOT just a theoretical curiosity. If we could find one simple learning rule that works for ALL multiclass problems, it would fundamentally simplify how we think about classification. Right now, the best learners are based on complex graph structures that are impractical. Local regularization could be the answer — or it could be provably insufficient, which would also be a deep insight.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I want to emphasize: we’re going to go deep into every formula. When I show you a math expression, I’ll explain what EACH symbol means, why it’s there, and how the parts connect. The goal is that by the end, you understand not just WHAT the open problem is, but WHY it’s hard and why it matters.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explain why this problem matters so much.
In binary classification, we have the COMPLETE package: we know exactly which problems are learnable (finite VC dimension), we have a simple universal algorithm (ERM), and it’s near-optimal. This is beautiful — one algorithm to rule them all.
For multiclass, we got the characterization in 2022 with the DS dimension. But the ALGORITHM part is still missing. We don’t have a simple, clean learning rule that works for everything. The best learners use one-inclusion graphs (OIGs), which are complex mathematical objects. OIGs can be infinite, exponentially large, and sometimes their existence requires the axiom of choice! They’re not something you’d implement in practice.
So the dream is: find one simple template — like ERM for binary — that handles ALL multiclass problems. Local regularization is the candidate.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 very concrete about why a simple rule matters.
Right now, the ONLY known learners that work for all multiclass problems are based on one-inclusion graphs (OIGs). These are mathematical objects that encode relationships between hypotheses. To learn, you need to find a favorable ‘orientation’ of this graph. But OIGs depend on three things: H, the unlabeled data in S, and the test point x. When the label set Y is infinite, OIGs can literally be infinite objects. Even when Y is finite, they can be exponentially large. Sometimes proving a favorable orientation EXISTS requires the axiom of choice — a foundational axiom that doesn’t give you a constructive algorithm.
Local regularization drops one of those dependencies: it doesn’t need the unlabeled data. You just need H and x. This is simpler, cleaner, and potentially more practical. But the question is: can you still learn everything?
This is like asking: can you navigate a maze with only a compass (local reg), or do you truly need a full map of the maze (OIGs)?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break down every piece of the classification setup.
X is the domain — the space of inputs. It could be anything: images, text, feature vectors. Y is the label set — the possible outputs. When |Y|=2, that’s binary classification (like spam/not-spam). When |Y| is larger — maybe 10 digits, 1000 ImageNet classes, or even infinitely many labels — that’s multiclass.
H is the hypothesis class: a set of functions from X to Y. Think of each h as a “rule” for predicting labels. The notation Y^X means ALL functions from X to Y; H is a SUBSET we believe contains (or approximates) the truth.
The loss function is simple: 0 if you’re right, 1 if you’re wrong. No partial credit.
Two key quantities: The true risk L_D(h) is the expected error over the TRUE distribution D — this is what we want to minimize but can’t compute directly. The empirical risk L_S(h) is the error over our training set S — this is what we CAN compute. The gap between these is the core challenge of learning.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unpack the PAC definition piece by piece.
The sample function m(ε,δ) tells you how many training examples you need. ε is your error tolerance (how close to perfect you want) and δ is your failure tolerance (how likely you are to get unlucky). Both are in (0,1). Smaller values mean stricter requirements, which means you need more data.
Realizability means the true labeling rule is IN your hypothesis class H. There exists some perfect h* in H. This is an optimistic assumption, but it’s the standard setting for this paper.
The PAC guarantee says: with enough samples, the learner’s output will be approximately correct (ε) with high probability (1-δ). The ‘P’ is Probably, the ‘AC’ is Approximately Correct.
The sample complexity of H, denoted m_H, is the BEST possible m achievable by any learner. This measures the intrinsic difficulty of learning 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ERM is beautifully simple: just pick any hypothesis from H that has zero training error. For binary, this is guaranteed to generalize well when H has finite VC dimension.
But look at the formula: argmin over h IN H. The search is restricted to H. This means ERM is a proper learner — its output is always a member of H.
Daniely and Shalev-Shwartz proved something devastating: there exist learnable multiclass classes where EVERY learner must be improper. The learner MUST sometimes output a function that is NOT in H.
Think about what this means: no matter how clever your tie-breaking rule is within ERM, no matter how you choose among the consistent hypotheses in H, you WILL fail on certain problems. The information needed to predict correctly is not captured by any single h in H — the learner needs to combine behaviors from multiple hypotheses.
This is a structural impossibility, not a matter of clever implementation. We fundamentally need a more powerful framework.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progression from simple to powerful.
ERM: No regularizer at all. Just minimize training error within H. Proper learner. Works for binary, fails for multiclass.
SRM: Adds a GLOBAL regularizer ψ(h). This penalizes complex hypotheses. But look at the argmin — still over H. Still proper. Still fails for multiclass. Adding a global bias doesn’t change the fundamental problem that you’re stuck within H.
Local Regularization: Changes ψ(h) to ψ(h, x). This seems like a small change, but it’s HUGE. Now the regularizer depends on the test point x. At test point x₁, maybe h₀ has the lowest ψ. At x₂, maybe h₁ does. The learner outputs h₀(x₁) at x₁ and h₁(x₂) at x₂. The resulting function ‘stitches together’ pieces from different hypotheses — and that composite function might NOT be in H.
That’s improper learning! And that’s exactly what we need for multiclass.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go through each piece of the local regularization formula in detail.
A(S)(x): A is the learning algorithm. S is the training set. A(S) is the function the learner outputs after seeing S. A(S)(x) is the prediction at test point x. Crucially, A(S) does NOT need to be a member of H.
ψ(h, x): This is the local regularizer itself. It takes a hypothesis h and a domain point x, and returns a non-negative real number. You can think of it as measuring how ‘suspicious’ or ‘complex’ hypothesis h is specifically at point x. The key innovation is the x-dependence: the same hypothesis can be considered simple at one point and complex at another.
L⁻¹_S(0): This is the set of hypotheses with zero training error. With realizability, this is non-empty. We restrict to these because we have no reason to consider hypotheses that already make mistakes on known data.
argmin: Among the zero-error hypotheses, find those that minimize ψ(h,x). This is like ERM but with a complexity-based tiebreaker that depends on where you’re evaluating.
{h(x): ...}: Extract the label. The key insight is that at different test points, different hypotheses might win the argmin. So the learner’s output function stitches together labels from different hypotheses — creating something potentially outside 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this concrete with an example.
Suppose we have two hypotheses h₀ and h₁, both with zero training error. The domain is divided into regions A and B. h₀ is a good, simple fit on region B but complex/suspicious on region A. h₁ is the opposite.
With SRM (global regularizer), you have to assign one complexity number to each hypothesis. You’d pick one or the other globally. But neither is the best choice everywhere!
With local regularization, the regularizer sees the test point x. When x is in A, h₁ has lower ψ, so h₁ wins and we output h₁(x). When x is in B, h₀ has lower ψ, so we output h₀(x). The result is a ‘stitched’ function that uses h₁ on A and h₀ on B. This composite function might not be ANY single hypothesis in H — it’s improper!
This is the power of local regularization. The x-dependence lets you build the best possible function by combining the strengths of different hypotheses across different regions.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trace the 50-year intellectual lineage.
1971: Vapnik and Chervonenkis introduced the VC dimension. This gave us the first characterization of binary learnability: a class is learnable iff it has finite VC dimension.
1984: Valiant formalized PAC learning, giving us the precise mathematical framework.
2014: Daniely and Shalev-Shwartz was the key breakthrough for multiclass. They proved ERM is insufficient and improper learning is necessary. They also introduced OIG-based learners — the only known general-purpose multiclass learners.
2016: David, Moran, and Yehudayoff showed the equivalence between learning and sublinear sample compression. This became a crucial tool.
2022: Brukhim et al. finally characterized multiclass learnability using the DS dimension, settling a 50-year-old question.
2024: Asilis et al. (the same group) introduced local regularization and showed a stronger variant (unsupervised, which also sees unlabeled data) learns everything. This paper asks: does the simpler version suffice?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open problem of the paper.
Can local regularization — the simple formula we just dissected — learn ALL learnable multiclass problems? And can it do so with optimal sample complexity?
The key nuance: a STRONGER version (unsupervised local regularization) has already been shown to work. That version can additionally inspect the unlabeled training points in S. The open question asks whether this is necessary. Can we drop the dependence on unlabeled data and still learn everything?
This is analogous to asking: is a compass sufficient to navigate any maze, or do you sometimes need the full map?
If yes: huge simplification of multiclass theory.
If no: fundamental insight that training set geometry is sometimes essential.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answers would be profound.
If YES: We get a clean, universal template. All the OIG complexity — infinite graphs, axiom of choice, exponential size — becomes unnecessary. And the finding that unlabeled training data is redundant would surprise many researchers, given how central unlabeled data is to OIG constructions.
If NO: This tells us something deep about the NATURE of multiclass learning. It would mean that you cannot simplify the learner below a certain complexity threshold. The training set geometry is fundamentally necessary — you can’t just look at hypotheses and test points in isolation. This defeats the purpose of trying to find simpler algorithms: no matter how clever your regularizer is, some problems require inspecting the training data structure.
This is what makes the open problem so compelling: either answer reshapes our understanding.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get to the candidate counterexample. This is the key construction.
The domain is the natural numbers. The label set is unusual: it’s the symbol * plus ALL subsets of the natural numbers. So a label at point x might be {1,3,5,7} — meaning ‘x belongs to this particular set.’
The construction centers on triples (A, B, C) of finite subsets with very specific structure: all the same size k, each pair overlapping in exactly k/2 elements, and NO element in all three. This creates a perfect three-way Venn diagram.
For each such triple, there are exactly 8 hypotheses. Outside A∪B∪C, every hypothesis outputs *. On each pairwise overlap, the hypothesis is constant and picks one of the two overlapping sets as its label. Three overlaps, two choices each: 2³ = 8.
H-triangle is the union of ALL such hypotheses over ALL valid triples.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gives a beautiful geometric analogy. Imagine three sheets of paper labeled A, B, and C laid over their respective regions.
Where two sheets overlap — say A and B on the region A∩B — you choose which sheet goes on top. Looking down from above, you see the topmost sheet’s label.
Since there are three pairwise overlaps and two stacking choices at each, you get 2³ = 8 possible configurations per triple.
The empty triple intersection A∩B∩C = ∅ means no point is under all three sheets. At most two sheets cover any given point, so each choice is a simple binary decision.
This symmetry is what makes the class beautiful — and problematic for simple learners.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ERM failure argument very carefully.
Step 1: Fix a large set A = {1, 2, ..., N} for large N. The distribution D uniformly labels every point in A with label A. This IS realizable — the hypothesis that outputs A everywhere on A and * elsewhere is in HΔ.
Step 2: Draw a training set S with fewer than N/2 samples. Since we’re sampling uniformly from N points, many points remain unseen. With high probability, a random test point was NOT in S.
Step 3: This is the killer. For any unseen x_test, we can construct a ‘spoiler’ set B that contains x_test but avoids all training points. Since x_test ∉ S and |A| is large, there’s plenty of room to build B and C completing a valid triple. The resulting hypothesis h has ZERO empirical error (because B avoids S), but predicts B instead of A at x_test.
Step 4: ERM sees two hypotheses with zero training error: the correct one (predicting A) and the spoiler (predicting B at x_test). It has no way to prefer one over the other. If it picks the spoiler, it gets constant error.
The key insight: the problem isn’t just ERM — it’s ANY learner that only sees empirical errors and the test point. The symmetry makes A and B indistinguishable. This is exactly what local regularizers have access to. That’s why the authors suspect HΔ defeats local regularization too.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crux of why the authors suspect local regularization fails on HΔ.
A local regularizer ψ(h, x) knows two things: the hypothesis h and the test point x. It doesn’t know which points were in the training set. It doesn’t know which labels appeared in the data.
Now consider x_test. Two hypotheses have zero training error. The correct one is from triple (A, B, C) and outputs label A at x_test. The spoiler is from triple (A, B’, C’) and outputs label B’. Both have identical structure — they’re both ‘layering’ hypotheses from valid triples. Both contain x_test in one of their sets.
The regularizer ψ(h, x_test) needs to assign different complexities to these hypotheses. But they’re STRUCTURALLY IDENTICAL from the information available to ψ. The only difference is WHICH sets they use — and that’s only distinguishable by looking at the training data.
The working learner for HΔ uses the labels seen in S to determine which set is correct. Local regularization can’t do this. It seems like you truly need to peek into 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ERM failing, HΔ IS learnable! The algorithm is simple but crucially IMPROPER.
The idea: default to *, but if you see a label A in the training data that contains your test point x, switch to outputting A. If two labels both contain x, use overlap information.
Why does this work? Each overlap region either has tiny probability (so errors there are negligible) or has significant probability (so you’ll quickly see training data from it, revealing the correct label).
The crucial difference: this learner inspects the CONTENT of training labels. It asks ‘does this label contain my test point?’ That’s something a local regularizer cannot do. ψ(h, x) measures the complexity of h at x, but it doesn’t know which labels actually appeared in the training data.
This is why HΔ is the authors’ candidate counterexample: the information needed to learn it seems to require looking inside S, which is exactly what local regularizers cannot do.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Problem 2 is the concrete version: can HΔ specifically be learned by a local regularizer?
This is still unresolved. The authors lean toward NO based on the symmetry argument, but they haven’t proved it. And a formal proof seems hard — you’d need to show that NO function ψ: H × X → R+ can break the symmetry, for ALL possible ψ.
People have tried different approaches: maybe ψ could use some topological or cardinality-based information about the sets in h. But these ultimately hit the same wall: for any specific ψ, you can construct a spoiler triple (A, B’, C’) that looks identical to the correct triple from ψ’s perspective.
This is an active area of research. Resolving it — either way — would be a significant contribution to learning theory.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Someone might ask: can’t we just tweak the framework? Try different techniques?
The answer is: yes, but each tweak defeats the purpose.
If you give ψ access to the training set S, that’s unsupervised local regularization — already proven to work. But the open problem specifically asks about the SIMPLER version.
If you use OIG structure, you’re back to the complex machinery we’re trying to replace.
If you try to encode S information implicitly, you’re changing the definition of local regularization.
If you weaken the guarantees, you’re dodging the question.
The beauty and the difficulty of this problem is that local regularization is precisely defined, and the question is whether that precise definition is powerful enough. Making it more powerful isn’t answering the question — it’s changing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regularization isn’t just a multiclass concept.
In linear regression, Vaskevičius and Zhivotovskiy showed that a modified VAW forecaster uses precisely a local regularizer: it favors predictions with small norm at the test point. And this BEATS all proper learners — showing that local regularization has genuine power in practice.
The sample compression equivalence from David et al. might be a useful tool: since learning is equivalent to sublinear compression, understanding whether local regularization can achieve compression might resolve the open problem.
The OIG research landscape is very active, with groups working on adversarial robustness, optimality questions, regression extensions, and list learning. Resolving this open problem would have implications across all of these directions.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wrap up with four key takeaways.
First, this problem is fundamental. It’s not a minor technical question — it’s about the nature of multiclass learning itself.
Second, local regularization is the most promising candidate for a universal learner. The formula ψ(h,x) is clean, interpretable, and enables improper learning. The stronger variant already works.
Third, HΔ is where the action is. This beautiful symmetric construction seems to trap local regularizers in an indistinguishability barrier. But it IS learnable, just by algorithms with more information.
Fourth, this is still open. We’re actively working on it. Different techniques have been tried but hit the symmetry barrier. Either resolution would reshape our understanding of multiclass learning.
My personal view: I lean toward a negative answer. The symmetry argument is compelling, and the gap between what local regularizers can see and what the working learner needs seems fundamental. But formal proofs are hard, and clever regularizers can be surprisingly powerful.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I’m happy to discuss any aspect of the paper.
Some good discussion questions: Do you think a clever regularizer could break the symmetry of HΔ? What would it mean practically if local regularization is insufficient? And how does this theoretical question connect to neural network classifiers that are used in practice for multiclass problems?
The paper is available in PMLR volume 196.</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2F"/>
        </a:solidFill>
        <a:effectLst/>
      </p:bgPr>
    </p:bg>
    <p:spTree>
      <p:nvGrpSpPr>
        <p:cNvPr id="1" name=""/>
        <p:cNvGrpSpPr/>
        <p:nvPr/>
      </p:nvGrpSpPr>
      <p:grpSpPr>
        <a:xfrm>
          <a:off x="0" y="0"/>
          <a:ext cx="0" cy="0"/>
          <a:chOff x="0" y="0"/>
          <a:chExt cx="0" cy="0"/>
        </a:xfrm>
      </p:grpSpPr>
      <p:sp>
        <p:nvSpPr>
          <p:cNvPr id="2" name="Shape 0"/>
          <p:cNvSpPr/>
          <p:nvPr/>
        </p:nvSpPr>
        <p:spPr>
          <a:xfrm>
            <a:off x="6400800" y="-1828800"/>
            <a:ext cx="5486400" cy="5486400"/>
          </a:xfrm>
          <a:prstGeom prst="ellipse">
            <a:avLst/>
          </a:prstGeom>
          <a:solidFill>
            <a:srgbClr val="1E2761">
              <a:alpha val="70000"/>
            </a:srgbClr>
          </a:solidFill>
          <a:ln/>
        </p:spPr>
        <p:txBody>
          <a:bodyPr/>
          <a:lstStyle/>
          <a:p>
            <a:endParaRPr lang="en-US"/>
          </a:p>
        </p:txBody>
      </p:sp>
      <p:sp>
        <p:nvSpPr>
          <p:cNvPr id="3" name="Shape 1"/>
          <p:cNvSpPr/>
          <p:nvPr/>
        </p:nvSpPr>
        <p:spPr>
          <a:xfrm>
            <a:off x="7772400" y="2286000"/>
            <a:ext cx="3200400" cy="3200400"/>
          </a:xfrm>
          <a:prstGeom prst="ellipse">
            <a:avLst/>
          </a:prstGeom>
          <a:solidFill>
            <a:srgbClr val="1C7293">
              <a:alpha val="55000"/>
            </a:srgbClr>
          </a:solidFill>
          <a:ln/>
        </p:spPr>
        <p:txBody>
          <a:bodyPr/>
          <a:lstStyle/>
          <a:p>
            <a:endParaRPr lang="en-US"/>
          </a:p>
        </p:txBody>
      </p:sp>
      <p:sp>
        <p:nvSpPr>
          <p:cNvPr id="4" name="Shape 2"/>
          <p:cNvSpPr/>
          <p:nvPr/>
        </p:nvSpPr>
        <p:spPr>
          <a:xfrm>
            <a:off x="-1828800" y="2743200"/>
            <a:ext cx="3657600" cy="3657600"/>
          </a:xfrm>
          <a:prstGeom prst="ellipse">
            <a:avLst/>
          </a:prstGeom>
          <a:solidFill>
            <a:srgbClr val="065A82">
              <a:alpha val="60000"/>
            </a:srgbClr>
          </a:solidFill>
          <a:ln/>
        </p:spPr>
        <p:txBody>
          <a:bodyPr/>
          <a:lstStyle/>
          <a:p>
            <a:endParaRPr lang="en-US"/>
          </a:p>
        </p:txBody>
      </p:sp>
      <p:sp>
        <p:nvSpPr>
          <p:cNvPr id="5" name="Text 3"/>
          <p:cNvSpPr/>
          <p:nvPr/>
        </p:nvSpPr>
        <p:spPr>
          <a:xfrm>
            <a:off x="640080" y="548640"/>
            <a:ext cx="7315200" cy="457200"/>
          </a:xfrm>
          <a:prstGeom prst="rect">
            <a:avLst/>
          </a:prstGeom>
          <a:noFill/>
          <a:ln/>
        </p:spPr>
        <p:txBody>
          <a:bodyPr wrap="square" lIns="0" tIns="0" rIns="0" bIns="0" rtlCol="0" anchor="ctr"/>
          <a:lstStyle/>
          <a:p>
            <a:pPr marL="0" indent="0">
              <a:buNone/>
            </a:pPr>
            <a:r>
              <a:rPr lang="en-US" sz="1400" b="1" kern="0" spc="500" dirty="0">
                <a:solidFill>
                  <a:srgbClr val="F4C430"/>
                </a:solidFill>
                <a:latin typeface="Calibri" pitchFamily="34" charset="0"/>
                <a:ea typeface="Calibri" pitchFamily="34" charset="-122"/>
                <a:cs typeface="Calibri" pitchFamily="34" charset="-120"/>
              </a:rPr>
              <a:t>COLT 2024  |  OPEN PROBLEM</a:t>
            </a:r>
            <a:endParaRPr lang="en-US" sz="1400" dirty="0"/>
          </a:p>
        </p:txBody>
      </p:sp>
      <p:sp>
        <p:nvSpPr>
          <p:cNvPr id="6" name="Text 4"/>
          <p:cNvSpPr/>
          <p:nvPr/>
        </p:nvSpPr>
        <p:spPr>
          <a:xfrm>
            <a:off x="640080" y="1097280"/>
            <a:ext cx="7772400" cy="2011680"/>
          </a:xfrm>
          <a:prstGeom prst="rect">
            <a:avLst/>
          </a:prstGeom>
          <a:noFill/>
          <a:ln/>
        </p:spPr>
        <p:txBody>
          <a:bodyPr wrap="square" rtlCol="0" anchor="ctr"/>
          <a:lstStyle/>
          <a:p>
            <a:pPr marL="0" indent="0">
              <a:lnSpc>
                <a:spcPct val="115000"/>
              </a:lnSpc>
              <a:buNone/>
            </a:pPr>
            <a:r>
              <a:rPr lang="en-US" sz="3400" b="1" dirty="0">
                <a:solidFill>
                  <a:srgbClr val="FFFFFF"/>
                </a:solidFill>
                <a:latin typeface="Georgia" pitchFamily="34" charset="0"/>
                <a:ea typeface="Georgia" pitchFamily="34" charset="-122"/>
                <a:cs typeface="Georgia" pitchFamily="34" charset="-120"/>
              </a:rPr>
              <a:t>Can Local Regularization</a:t>
            </a:r>
            <a:endParaRPr lang="en-US" sz="3400" dirty="0"/>
          </a:p>
          <a:p>
            <a:pPr marL="0" indent="0">
              <a:lnSpc>
                <a:spcPct val="115000"/>
              </a:lnSpc>
              <a:buNone/>
            </a:pPr>
            <a:r>
              <a:rPr lang="en-US" sz="3400" b="1" dirty="0">
                <a:solidFill>
                  <a:srgbClr val="FFFFFF"/>
                </a:solidFill>
                <a:latin typeface="Georgia" pitchFamily="34" charset="0"/>
                <a:ea typeface="Georgia" pitchFamily="34" charset="-122"/>
                <a:cs typeface="Georgia" pitchFamily="34" charset="-120"/>
              </a:rPr>
              <a:t>Learn All Multiclass Problems?</a:t>
            </a:r>
            <a:endParaRPr lang="en-US" sz="3400" dirty="0"/>
          </a:p>
        </p:txBody>
      </p:sp>
      <p:sp>
        <p:nvSpPr>
          <p:cNvPr id="7" name="Shape 5"/>
          <p:cNvSpPr/>
          <p:nvPr/>
        </p:nvSpPr>
        <p:spPr>
          <a:xfrm>
            <a:off x="640080" y="3108960"/>
            <a:ext cx="2286000" cy="36576"/>
          </a:xfrm>
          <a:prstGeom prst="rect">
            <a:avLst/>
          </a:prstGeom>
          <a:solidFill>
            <a:srgbClr val="F4C430"/>
          </a:solidFill>
          <a:ln/>
        </p:spPr>
        <p:txBody>
          <a:bodyPr/>
          <a:lstStyle/>
          <a:p>
            <a:endParaRPr lang="en-US"/>
          </a:p>
        </p:txBody>
      </p:sp>
      <p:sp>
        <p:nvSpPr>
          <p:cNvPr id="8" name="Text 6"/>
          <p:cNvSpPr/>
          <p:nvPr/>
        </p:nvSpPr>
        <p:spPr>
          <a:xfrm>
            <a:off x="640080" y="3291840"/>
            <a:ext cx="7315200" cy="731520"/>
          </a:xfrm>
          <a:prstGeom prst="rect">
            <a:avLst/>
          </a:prstGeom>
          <a:noFill/>
          <a:ln/>
        </p:spPr>
        <p:txBody>
          <a:bodyPr wrap="square" rtlCol="0" anchor="ctr"/>
          <a:lstStyle/>
          <a:p>
            <a:pPr marL="0" indent="0">
              <a:lnSpc>
                <a:spcPct val="130000"/>
              </a:lnSpc>
              <a:buNone/>
            </a:pPr>
            <a:r>
              <a:rPr lang="en-US" sz="1500" dirty="0">
                <a:solidFill>
                  <a:srgbClr val="CADCFC"/>
                </a:solidFill>
                <a:latin typeface="Calibri" pitchFamily="34" charset="0"/>
                <a:ea typeface="Calibri" pitchFamily="34" charset="-122"/>
                <a:cs typeface="Calibri" pitchFamily="34" charset="-120"/>
              </a:rPr>
              <a:t>Julian Asilis  ·  Siddartha Devic  ·  Shaddin Dughmi</a:t>
            </a:r>
            <a:endParaRPr lang="en-US" sz="1500" dirty="0"/>
          </a:p>
          <a:p>
            <a:pPr marL="0" indent="0">
              <a:lnSpc>
                <a:spcPct val="130000"/>
              </a:lnSpc>
              <a:buNone/>
            </a:pPr>
            <a:r>
              <a:rPr lang="en-US" sz="1500" dirty="0">
                <a:solidFill>
                  <a:srgbClr val="CADCFC"/>
                </a:solidFill>
                <a:latin typeface="Calibri" pitchFamily="34" charset="0"/>
                <a:ea typeface="Calibri" pitchFamily="34" charset="-122"/>
                <a:cs typeface="Calibri" pitchFamily="34" charset="-120"/>
              </a:rPr>
              <a:t>Vatsal Sharan  ·  Shang-Hua Teng</a:t>
            </a:r>
            <a:endParaRPr lang="en-US" sz="1500" dirty="0"/>
          </a:p>
        </p:txBody>
      </p:sp>
      <p:sp>
        <p:nvSpPr>
          <p:cNvPr id="9" name="Text 7"/>
          <p:cNvSpPr/>
          <p:nvPr/>
        </p:nvSpPr>
        <p:spPr>
          <a:xfrm>
            <a:off x="640080" y="4114800"/>
            <a:ext cx="7315200" cy="640080"/>
          </a:xfrm>
          <a:prstGeom prst="rect">
            <a:avLst/>
          </a:prstGeom>
          <a:noFill/>
          <a:ln/>
        </p:spPr>
        <p:txBody>
          <a:bodyPr wrap="square"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University of Southern California</a:t>
            </a:r>
            <a:endParaRPr lang="en-US" sz="1200" dirty="0"/>
          </a:p>
          <a:p>
            <a:pPr marL="0" indent="0">
              <a:buNone/>
            </a:pPr>
            <a:r>
              <a:rPr lang="en-US" sz="1200" i="1" dirty="0">
                <a:solidFill>
                  <a:srgbClr val="CADCFC"/>
                </a:solidFill>
                <a:latin typeface="Calibri" pitchFamily="34" charset="0"/>
                <a:ea typeface="Calibri" pitchFamily="34" charset="-122"/>
                <a:cs typeface="Calibri" pitchFamily="34" charset="-120"/>
              </a:rPr>
              <a:t>Proceedings of Machine Learning Research, vol 196, pp. 1–5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640080" y="274320"/>
            <a:ext cx="3657600" cy="640080"/>
          </a:xfrm>
          <a:prstGeom prst="rect">
            <a:avLst/>
          </a:prstGeom>
          <a:noFill/>
          <a:ln/>
        </p:spPr>
        <p:txBody>
          <a:bodyPr wrap="square" lIns="0" tIns="0" rIns="0" bIns="0" rtlCol="0" anchor="ctr"/>
          <a:lstStyle/>
          <a:p>
            <a:pPr marL="0" indent="0">
              <a:buNone/>
            </a:pPr>
            <a:r>
              <a:rPr lang="en-US" sz="2800" b="1" dirty="0">
                <a:solidFill>
                  <a:srgbClr val="1B1B2F"/>
                </a:solidFill>
                <a:latin typeface="Georgia" pitchFamily="34" charset="0"/>
                <a:ea typeface="Georgia" pitchFamily="34" charset="-122"/>
                <a:cs typeface="Georgia" pitchFamily="34" charset="-120"/>
              </a:rPr>
              <a:t>Roadmap</a:t>
            </a:r>
            <a:endParaRPr lang="en-US" sz="2800" dirty="0"/>
          </a:p>
        </p:txBody>
      </p:sp>
      <p:sp>
        <p:nvSpPr>
          <p:cNvPr id="3" name="Text 1"/>
          <p:cNvSpPr/>
          <p:nvPr/>
        </p:nvSpPr>
        <p:spPr>
          <a:xfrm>
            <a:off x="640080" y="777240"/>
            <a:ext cx="3657600" cy="32004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25-minute presentation</a:t>
            </a:r>
            <a:endParaRPr lang="en-US" sz="1300" dirty="0"/>
          </a:p>
        </p:txBody>
      </p:sp>
      <p:sp>
        <p:nvSpPr>
          <p:cNvPr id="4" name="Shape 2"/>
          <p:cNvSpPr/>
          <p:nvPr/>
        </p:nvSpPr>
        <p:spPr>
          <a:xfrm>
            <a:off x="457200" y="1280160"/>
            <a:ext cx="8229600" cy="6217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Shape 3"/>
          <p:cNvSpPr/>
          <p:nvPr/>
        </p:nvSpPr>
        <p:spPr>
          <a:xfrm>
            <a:off x="594360" y="1362456"/>
            <a:ext cx="457200" cy="457200"/>
          </a:xfrm>
          <a:prstGeom prst="ellipse">
            <a:avLst/>
          </a:prstGeom>
          <a:solidFill>
            <a:srgbClr val="E85D04"/>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94944" y="1463040"/>
            <a:ext cx="256032" cy="256032"/>
          </a:xfrm>
          <a:prstGeom prst="rect">
            <a:avLst/>
          </a:prstGeom>
        </p:spPr>
      </p:pic>
      <p:sp>
        <p:nvSpPr>
          <p:cNvPr id="7" name="Text 4"/>
          <p:cNvSpPr/>
          <p:nvPr/>
        </p:nvSpPr>
        <p:spPr>
          <a:xfrm>
            <a:off x="1234440" y="1298448"/>
            <a:ext cx="5029200" cy="274320"/>
          </a:xfrm>
          <a:prstGeom prst="rect">
            <a:avLst/>
          </a:prstGeom>
          <a:noFill/>
          <a:ln/>
        </p:spPr>
        <p:txBody>
          <a:bodyPr wrap="square" lIns="0" tIns="0" rIns="0" bIns="0"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Motivation</a:t>
            </a:r>
            <a:endParaRPr lang="en-US" sz="1500" dirty="0"/>
          </a:p>
        </p:txBody>
      </p:sp>
      <p:sp>
        <p:nvSpPr>
          <p:cNvPr id="8" name="Text 5"/>
          <p:cNvSpPr/>
          <p:nvPr/>
        </p:nvSpPr>
        <p:spPr>
          <a:xfrm>
            <a:off x="1234440" y="1572768"/>
            <a:ext cx="50292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Why one universal learner matters — and why multiclass is fundamentally harder</a:t>
            </a:r>
            <a:endParaRPr lang="en-US" sz="1100" dirty="0"/>
          </a:p>
        </p:txBody>
      </p:sp>
      <p:sp>
        <p:nvSpPr>
          <p:cNvPr id="9" name="Text 6"/>
          <p:cNvSpPr/>
          <p:nvPr/>
        </p:nvSpPr>
        <p:spPr>
          <a:xfrm>
            <a:off x="7132320" y="1408176"/>
            <a:ext cx="1371600" cy="320040"/>
          </a:xfrm>
          <a:prstGeom prst="rect">
            <a:avLst/>
          </a:prstGeom>
          <a:noFill/>
          <a:ln/>
        </p:spPr>
        <p:txBody>
          <a:bodyPr wrap="square" lIns="0" tIns="0" rIns="0" bIns="0" rtlCol="0" anchor="ctr"/>
          <a:lstStyle/>
          <a:p>
            <a:pPr marL="0" indent="0" algn="r">
              <a:buNone/>
            </a:pPr>
            <a:r>
              <a:rPr lang="en-US" sz="1100" b="1" dirty="0">
                <a:solidFill>
                  <a:srgbClr val="E85D04"/>
                </a:solidFill>
                <a:latin typeface="Calibri" pitchFamily="34" charset="0"/>
                <a:ea typeface="Calibri" pitchFamily="34" charset="-122"/>
                <a:cs typeface="Calibri" pitchFamily="34" charset="-120"/>
              </a:rPr>
              <a:t>~5 min</a:t>
            </a:r>
            <a:endParaRPr lang="en-US" sz="1100" dirty="0"/>
          </a:p>
        </p:txBody>
      </p:sp>
      <p:sp>
        <p:nvSpPr>
          <p:cNvPr id="10" name="Shape 7"/>
          <p:cNvSpPr/>
          <p:nvPr/>
        </p:nvSpPr>
        <p:spPr>
          <a:xfrm>
            <a:off x="457200" y="2011680"/>
            <a:ext cx="8229600" cy="6217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8"/>
          <p:cNvSpPr/>
          <p:nvPr/>
        </p:nvSpPr>
        <p:spPr>
          <a:xfrm>
            <a:off x="594360" y="2093976"/>
            <a:ext cx="457200" cy="457200"/>
          </a:xfrm>
          <a:prstGeom prst="ellipse">
            <a:avLst/>
          </a:prstGeom>
          <a:solidFill>
            <a:srgbClr val="065A82"/>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94944" y="2194560"/>
            <a:ext cx="256032" cy="256032"/>
          </a:xfrm>
          <a:prstGeom prst="rect">
            <a:avLst/>
          </a:prstGeom>
        </p:spPr>
      </p:pic>
      <p:sp>
        <p:nvSpPr>
          <p:cNvPr id="13" name="Text 9"/>
          <p:cNvSpPr/>
          <p:nvPr/>
        </p:nvSpPr>
        <p:spPr>
          <a:xfrm>
            <a:off x="1234440" y="2029968"/>
            <a:ext cx="5029200" cy="274320"/>
          </a:xfrm>
          <a:prstGeom prst="rect">
            <a:avLst/>
          </a:prstGeom>
          <a:noFill/>
          <a:ln/>
        </p:spPr>
        <p:txBody>
          <a:bodyPr wrap="square" lIns="0" tIns="0" rIns="0" bIns="0"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Related Works</a:t>
            </a:r>
            <a:endParaRPr lang="en-US" sz="1500" dirty="0"/>
          </a:p>
        </p:txBody>
      </p:sp>
      <p:sp>
        <p:nvSpPr>
          <p:cNvPr id="14" name="Text 10"/>
          <p:cNvSpPr/>
          <p:nvPr/>
        </p:nvSpPr>
        <p:spPr>
          <a:xfrm>
            <a:off x="1234440" y="2304288"/>
            <a:ext cx="50292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From VC dimension to DS dimension: 50 years of classification theory</a:t>
            </a:r>
            <a:endParaRPr lang="en-US" sz="1100" dirty="0"/>
          </a:p>
        </p:txBody>
      </p:sp>
      <p:sp>
        <p:nvSpPr>
          <p:cNvPr id="15" name="Text 11"/>
          <p:cNvSpPr/>
          <p:nvPr/>
        </p:nvSpPr>
        <p:spPr>
          <a:xfrm>
            <a:off x="7132320" y="2139696"/>
            <a:ext cx="1371600" cy="320040"/>
          </a:xfrm>
          <a:prstGeom prst="rect">
            <a:avLst/>
          </a:prstGeom>
          <a:noFill/>
          <a:ln/>
        </p:spPr>
        <p:txBody>
          <a:bodyPr wrap="square" lIns="0" tIns="0" rIns="0" bIns="0" rtlCol="0" anchor="ctr"/>
          <a:lstStyle/>
          <a:p>
            <a:pPr marL="0" indent="0" algn="r">
              <a:buNone/>
            </a:pPr>
            <a:r>
              <a:rPr lang="en-US" sz="1100" b="1" dirty="0">
                <a:solidFill>
                  <a:srgbClr val="065A82"/>
                </a:solidFill>
                <a:latin typeface="Calibri" pitchFamily="34" charset="0"/>
                <a:ea typeface="Calibri" pitchFamily="34" charset="-122"/>
                <a:cs typeface="Calibri" pitchFamily="34" charset="-120"/>
              </a:rPr>
              <a:t>~3 min</a:t>
            </a:r>
            <a:endParaRPr lang="en-US" sz="1100" dirty="0"/>
          </a:p>
        </p:txBody>
      </p:sp>
      <p:sp>
        <p:nvSpPr>
          <p:cNvPr id="16" name="Shape 12"/>
          <p:cNvSpPr/>
          <p:nvPr/>
        </p:nvSpPr>
        <p:spPr>
          <a:xfrm>
            <a:off x="457200" y="2743200"/>
            <a:ext cx="8229600" cy="6217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7" name="Shape 13"/>
          <p:cNvSpPr/>
          <p:nvPr/>
        </p:nvSpPr>
        <p:spPr>
          <a:xfrm>
            <a:off x="594360" y="2825496"/>
            <a:ext cx="457200" cy="457200"/>
          </a:xfrm>
          <a:prstGeom prst="ellipse">
            <a:avLst/>
          </a:prstGeom>
          <a:solidFill>
            <a:srgbClr val="1C7293"/>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694944" y="2926080"/>
            <a:ext cx="256032" cy="256032"/>
          </a:xfrm>
          <a:prstGeom prst="rect">
            <a:avLst/>
          </a:prstGeom>
        </p:spPr>
      </p:pic>
      <p:sp>
        <p:nvSpPr>
          <p:cNvPr id="19" name="Text 14"/>
          <p:cNvSpPr/>
          <p:nvPr/>
        </p:nvSpPr>
        <p:spPr>
          <a:xfrm>
            <a:off x="1234440" y="2761488"/>
            <a:ext cx="5029200" cy="274320"/>
          </a:xfrm>
          <a:prstGeom prst="rect">
            <a:avLst/>
          </a:prstGeom>
          <a:noFill/>
          <a:ln/>
        </p:spPr>
        <p:txBody>
          <a:bodyPr wrap="square" lIns="0" tIns="0" rIns="0" bIns="0"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The Method: Local Regularization</a:t>
            </a:r>
            <a:endParaRPr lang="en-US" sz="1500" dirty="0"/>
          </a:p>
        </p:txBody>
      </p:sp>
      <p:sp>
        <p:nvSpPr>
          <p:cNvPr id="20" name="Text 15"/>
          <p:cNvSpPr/>
          <p:nvPr/>
        </p:nvSpPr>
        <p:spPr>
          <a:xfrm>
            <a:off x="1234440" y="3035808"/>
            <a:ext cx="50292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Every formula explained: what each part does and why it enables improper learning</a:t>
            </a:r>
            <a:endParaRPr lang="en-US" sz="1100" dirty="0"/>
          </a:p>
        </p:txBody>
      </p:sp>
      <p:sp>
        <p:nvSpPr>
          <p:cNvPr id="21" name="Text 16"/>
          <p:cNvSpPr/>
          <p:nvPr/>
        </p:nvSpPr>
        <p:spPr>
          <a:xfrm>
            <a:off x="7132320" y="2871216"/>
            <a:ext cx="1371600" cy="320040"/>
          </a:xfrm>
          <a:prstGeom prst="rect">
            <a:avLst/>
          </a:prstGeom>
          <a:noFill/>
          <a:ln/>
        </p:spPr>
        <p:txBody>
          <a:bodyPr wrap="square" lIns="0" tIns="0" rIns="0" bIns="0" rtlCol="0" anchor="ctr"/>
          <a:lstStyle/>
          <a:p>
            <a:pPr marL="0" indent="0" algn="r">
              <a:buNone/>
            </a:pPr>
            <a:r>
              <a:rPr lang="en-US" sz="1100" b="1" dirty="0">
                <a:solidFill>
                  <a:srgbClr val="1C7293"/>
                </a:solidFill>
                <a:latin typeface="Calibri" pitchFamily="34" charset="0"/>
                <a:ea typeface="Calibri" pitchFamily="34" charset="-122"/>
                <a:cs typeface="Calibri" pitchFamily="34" charset="-120"/>
              </a:rPr>
              <a:t>~7 min</a:t>
            </a:r>
            <a:endParaRPr lang="en-US" sz="1100" dirty="0"/>
          </a:p>
        </p:txBody>
      </p:sp>
      <p:sp>
        <p:nvSpPr>
          <p:cNvPr id="22" name="Shape 17"/>
          <p:cNvSpPr/>
          <p:nvPr/>
        </p:nvSpPr>
        <p:spPr>
          <a:xfrm>
            <a:off x="457200" y="3474720"/>
            <a:ext cx="8229600" cy="6217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3" name="Shape 18"/>
          <p:cNvSpPr/>
          <p:nvPr/>
        </p:nvSpPr>
        <p:spPr>
          <a:xfrm>
            <a:off x="594360" y="3557016"/>
            <a:ext cx="457200" cy="457200"/>
          </a:xfrm>
          <a:prstGeom prst="ellipse">
            <a:avLst/>
          </a:prstGeom>
          <a:solidFill>
            <a:srgbClr val="D62828"/>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694944" y="3657600"/>
            <a:ext cx="256032" cy="256032"/>
          </a:xfrm>
          <a:prstGeom prst="rect">
            <a:avLst/>
          </a:prstGeom>
        </p:spPr>
      </p:pic>
      <p:sp>
        <p:nvSpPr>
          <p:cNvPr id="25" name="Text 19"/>
          <p:cNvSpPr/>
          <p:nvPr/>
        </p:nvSpPr>
        <p:spPr>
          <a:xfrm>
            <a:off x="1234440" y="3493008"/>
            <a:ext cx="5029200" cy="274320"/>
          </a:xfrm>
          <a:prstGeom prst="rect">
            <a:avLst/>
          </a:prstGeom>
          <a:noFill/>
          <a:ln/>
        </p:spPr>
        <p:txBody>
          <a:bodyPr wrap="square" lIns="0" tIns="0" rIns="0" bIns="0"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Candidate Counterexample HΔ</a:t>
            </a:r>
            <a:endParaRPr lang="en-US" sz="1500" dirty="0"/>
          </a:p>
        </p:txBody>
      </p:sp>
      <p:sp>
        <p:nvSpPr>
          <p:cNvPr id="26" name="Text 20"/>
          <p:cNvSpPr/>
          <p:nvPr/>
        </p:nvSpPr>
        <p:spPr>
          <a:xfrm>
            <a:off x="1234440" y="3767328"/>
            <a:ext cx="50292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Why ERM fails, why local reg might fail, but the class IS learnable</a:t>
            </a:r>
            <a:endParaRPr lang="en-US" sz="1100" dirty="0"/>
          </a:p>
        </p:txBody>
      </p:sp>
      <p:sp>
        <p:nvSpPr>
          <p:cNvPr id="27" name="Text 21"/>
          <p:cNvSpPr/>
          <p:nvPr/>
        </p:nvSpPr>
        <p:spPr>
          <a:xfrm>
            <a:off x="7132320" y="3602736"/>
            <a:ext cx="1371600" cy="320040"/>
          </a:xfrm>
          <a:prstGeom prst="rect">
            <a:avLst/>
          </a:prstGeom>
          <a:noFill/>
          <a:ln/>
        </p:spPr>
        <p:txBody>
          <a:bodyPr wrap="square" lIns="0" tIns="0" rIns="0" bIns="0" rtlCol="0" anchor="ctr"/>
          <a:lstStyle/>
          <a:p>
            <a:pPr marL="0" indent="0" algn="r">
              <a:buNone/>
            </a:pPr>
            <a:r>
              <a:rPr lang="en-US" sz="1100" b="1" dirty="0">
                <a:solidFill>
                  <a:srgbClr val="D62828"/>
                </a:solidFill>
                <a:latin typeface="Calibri" pitchFamily="34" charset="0"/>
                <a:ea typeface="Calibri" pitchFamily="34" charset="-122"/>
                <a:cs typeface="Calibri" pitchFamily="34" charset="-120"/>
              </a:rPr>
              <a:t>~7 min</a:t>
            </a:r>
            <a:endParaRPr lang="en-US" sz="1100" dirty="0"/>
          </a:p>
        </p:txBody>
      </p:sp>
      <p:sp>
        <p:nvSpPr>
          <p:cNvPr id="28" name="Shape 22"/>
          <p:cNvSpPr/>
          <p:nvPr/>
        </p:nvSpPr>
        <p:spPr>
          <a:xfrm>
            <a:off x="457200" y="4206240"/>
            <a:ext cx="8229600" cy="621792"/>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9" name="Shape 23"/>
          <p:cNvSpPr/>
          <p:nvPr/>
        </p:nvSpPr>
        <p:spPr>
          <a:xfrm>
            <a:off x="594360" y="4288536"/>
            <a:ext cx="457200" cy="457200"/>
          </a:xfrm>
          <a:prstGeom prst="ellipse">
            <a:avLst/>
          </a:prstGeom>
          <a:solidFill>
            <a:srgbClr val="2D6A4F"/>
          </a:solidFill>
          <a:ln/>
        </p:spPr>
        <p:txBody>
          <a:bodyPr/>
          <a:lstStyle/>
          <a:p>
            <a:endParaRPr lang="en-US"/>
          </a:p>
        </p:txBody>
      </p:sp>
      <p:pic>
        <p:nvPicPr>
          <p:cNvPr id="30" name="Image 4" descr="preencoded.png"/>
          <p:cNvPicPr>
            <a:picLocks noChangeAspect="1"/>
          </p:cNvPicPr>
          <p:nvPr/>
        </p:nvPicPr>
        <p:blipFill>
          <a:blip r:embed="rId7"/>
          <a:stretch>
            <a:fillRect/>
          </a:stretch>
        </p:blipFill>
        <p:spPr>
          <a:xfrm>
            <a:off x="694944" y="4389120"/>
            <a:ext cx="256032" cy="256032"/>
          </a:xfrm>
          <a:prstGeom prst="rect">
            <a:avLst/>
          </a:prstGeom>
        </p:spPr>
      </p:pic>
      <p:sp>
        <p:nvSpPr>
          <p:cNvPr id="31" name="Text 24"/>
          <p:cNvSpPr/>
          <p:nvPr/>
        </p:nvSpPr>
        <p:spPr>
          <a:xfrm>
            <a:off x="1234440" y="4224528"/>
            <a:ext cx="5029200" cy="274320"/>
          </a:xfrm>
          <a:prstGeom prst="rect">
            <a:avLst/>
          </a:prstGeom>
          <a:noFill/>
          <a:ln/>
        </p:spPr>
        <p:txBody>
          <a:bodyPr wrap="square" lIns="0" tIns="0" rIns="0" bIns="0"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Conclusion &amp; Open Problems</a:t>
            </a:r>
            <a:endParaRPr lang="en-US" sz="1500" dirty="0"/>
          </a:p>
        </p:txBody>
      </p:sp>
      <p:sp>
        <p:nvSpPr>
          <p:cNvPr id="32" name="Text 25"/>
          <p:cNvSpPr/>
          <p:nvPr/>
        </p:nvSpPr>
        <p:spPr>
          <a:xfrm>
            <a:off x="1234440" y="4498848"/>
            <a:ext cx="50292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What we still don't know and why it matters</a:t>
            </a:r>
            <a:endParaRPr lang="en-US" sz="1100" dirty="0"/>
          </a:p>
        </p:txBody>
      </p:sp>
      <p:sp>
        <p:nvSpPr>
          <p:cNvPr id="33" name="Text 26"/>
          <p:cNvSpPr/>
          <p:nvPr/>
        </p:nvSpPr>
        <p:spPr>
          <a:xfrm>
            <a:off x="7132320" y="4334256"/>
            <a:ext cx="1371600" cy="320040"/>
          </a:xfrm>
          <a:prstGeom prst="rect">
            <a:avLst/>
          </a:prstGeom>
          <a:noFill/>
          <a:ln/>
        </p:spPr>
        <p:txBody>
          <a:bodyPr wrap="square" lIns="0" tIns="0" rIns="0" bIns="0" rtlCol="0" anchor="ctr"/>
          <a:lstStyle/>
          <a:p>
            <a:pPr marL="0" indent="0" algn="r">
              <a:buNone/>
            </a:pPr>
            <a:r>
              <a:rPr lang="en-US" sz="1100" b="1" dirty="0">
                <a:solidFill>
                  <a:srgbClr val="2D6A4F"/>
                </a:solidFill>
                <a:latin typeface="Calibri" pitchFamily="34" charset="0"/>
                <a:ea typeface="Calibri" pitchFamily="34" charset="-122"/>
                <a:cs typeface="Calibri" pitchFamily="34" charset="-120"/>
              </a:rPr>
              <a:t>~3 min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Motivation: The Dream of a Universal Learner</a:t>
            </a:r>
            <a:endParaRPr lang="en-US" sz="2400" dirty="0"/>
          </a:p>
        </p:txBody>
      </p:sp>
      <p:sp>
        <p:nvSpPr>
          <p:cNvPr id="4" name="Shape 2"/>
          <p:cNvSpPr/>
          <p:nvPr/>
        </p:nvSpPr>
        <p:spPr>
          <a:xfrm>
            <a:off x="457200" y="1005840"/>
            <a:ext cx="8229600" cy="13716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457200" y="1005840"/>
            <a:ext cx="54864" cy="1371600"/>
          </a:xfrm>
          <a:prstGeom prst="rect">
            <a:avLst/>
          </a:prstGeom>
          <a:solidFill>
            <a:srgbClr val="2D6A4F"/>
          </a:solidFill>
          <a:ln/>
        </p:spPr>
        <p:txBody>
          <a:bodyPr/>
          <a:lstStyle/>
          <a:p>
            <a:endParaRPr lang="en-US"/>
          </a:p>
        </p:txBody>
      </p:sp>
      <p:sp>
        <p:nvSpPr>
          <p:cNvPr id="6" name="Text 4"/>
          <p:cNvSpPr/>
          <p:nvPr/>
        </p:nvSpPr>
        <p:spPr>
          <a:xfrm>
            <a:off x="594360" y="922020"/>
            <a:ext cx="7772400" cy="274320"/>
          </a:xfrm>
          <a:prstGeom prst="rect">
            <a:avLst/>
          </a:prstGeom>
          <a:noFill/>
          <a:ln/>
        </p:spPr>
        <p:txBody>
          <a:bodyPr wrap="square" lIns="0" tIns="0" rIns="0" bIns="0" rtlCol="0" anchor="ctr"/>
          <a:lstStyle/>
          <a:p>
            <a:pPr marL="0" indent="0">
              <a:buNone/>
            </a:pPr>
            <a:r>
              <a:rPr lang="en-US" sz="1500" b="1" dirty="0">
                <a:solidFill>
                  <a:srgbClr val="2D6A4F"/>
                </a:solidFill>
                <a:latin typeface="Georgia" pitchFamily="34" charset="0"/>
                <a:ea typeface="Georgia" pitchFamily="34" charset="-122"/>
                <a:cs typeface="Georgia" pitchFamily="34" charset="-120"/>
              </a:rPr>
              <a:t>The Binary Classification Success Story</a:t>
            </a:r>
            <a:endParaRPr lang="en-US" sz="1500" dirty="0"/>
          </a:p>
        </p:txBody>
      </p:sp>
      <p:sp>
        <p:nvSpPr>
          <p:cNvPr id="7" name="Text 5"/>
          <p:cNvSpPr/>
          <p:nvPr/>
        </p:nvSpPr>
        <p:spPr>
          <a:xfrm>
            <a:off x="731520" y="1287401"/>
            <a:ext cx="7772400" cy="966977"/>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In binary (|Y| = 2), we have a COMPLETE answer:</a:t>
            </a:r>
            <a:endParaRPr lang="en-US" sz="1200" dirty="0"/>
          </a:p>
          <a:p>
            <a:pPr marL="0" indent="0">
              <a:buNone/>
            </a:pPr>
            <a:endParaRPr lang="en-US" sz="1200" dirty="0"/>
          </a:p>
          <a:p>
            <a:pPr marL="0" indent="0">
              <a:buNone/>
            </a:pPr>
            <a:r>
              <a:rPr lang="en-US" sz="1200" b="1" dirty="0">
                <a:solidFill>
                  <a:srgbClr val="1A1A2E"/>
                </a:solidFill>
                <a:latin typeface="Calibri" pitchFamily="34" charset="0"/>
                <a:ea typeface="Calibri" pitchFamily="34" charset="-122"/>
                <a:cs typeface="Calibri" pitchFamily="34" charset="-120"/>
              </a:rPr>
              <a:t>  1. </a:t>
            </a:r>
            <a:r>
              <a:rPr lang="en-US" sz="1200" dirty="0"/>
              <a:t> </a:t>
            </a:r>
            <a:r>
              <a:rPr lang="en-US" sz="1200" b="1" dirty="0">
                <a:solidFill>
                  <a:srgbClr val="065A82"/>
                </a:solidFill>
                <a:latin typeface="Calibri" pitchFamily="34" charset="0"/>
                <a:ea typeface="Calibri" pitchFamily="34" charset="-122"/>
                <a:cs typeface="Calibri" pitchFamily="34" charset="-120"/>
              </a:rPr>
              <a:t>Characterization: </a:t>
            </a:r>
            <a:r>
              <a:rPr lang="en-US" sz="1200" dirty="0">
                <a:solidFill>
                  <a:srgbClr val="1A1A2E"/>
                </a:solidFill>
                <a:latin typeface="Calibri" pitchFamily="34" charset="0"/>
                <a:ea typeface="Calibri" pitchFamily="34" charset="-122"/>
                <a:cs typeface="Calibri" pitchFamily="34" charset="-120"/>
              </a:rPr>
              <a:t>H is learnable  ⇔  VC-dim(H) &lt; ∞      (Vapnik &amp; Chervonenkis, 1971)</a:t>
            </a:r>
            <a:endParaRPr lang="en-US" sz="1200" dirty="0"/>
          </a:p>
          <a:p>
            <a:pPr marL="0" indent="0">
              <a:buNone/>
            </a:pPr>
            <a:r>
              <a:rPr lang="en-US" sz="1200" b="1" dirty="0">
                <a:solidFill>
                  <a:srgbClr val="1A1A2E"/>
                </a:solidFill>
                <a:latin typeface="Calibri" pitchFamily="34" charset="0"/>
                <a:ea typeface="Calibri" pitchFamily="34" charset="-122"/>
                <a:cs typeface="Calibri" pitchFamily="34" charset="-120"/>
              </a:rPr>
              <a:t>  2. </a:t>
            </a:r>
            <a:r>
              <a:rPr lang="en-US" sz="1200" dirty="0"/>
              <a:t> </a:t>
            </a:r>
            <a:r>
              <a:rPr lang="en-US" sz="1200" b="1" dirty="0">
                <a:solidFill>
                  <a:srgbClr val="065A82"/>
                </a:solidFill>
                <a:latin typeface="Calibri" pitchFamily="34" charset="0"/>
                <a:ea typeface="Calibri" pitchFamily="34" charset="-122"/>
                <a:cs typeface="Calibri" pitchFamily="34" charset="-120"/>
              </a:rPr>
              <a:t>Algorithm: </a:t>
            </a:r>
            <a:r>
              <a:rPr lang="en-US" sz="1200" dirty="0">
                <a:solidFill>
                  <a:srgbClr val="1A1A2E"/>
                </a:solidFill>
                <a:latin typeface="Calibri" pitchFamily="34" charset="0"/>
                <a:ea typeface="Calibri" pitchFamily="34" charset="-122"/>
                <a:cs typeface="Calibri" pitchFamily="34" charset="-120"/>
              </a:rPr>
              <a:t>ERM works for EVERY learnable binary class</a:t>
            </a:r>
            <a:endParaRPr lang="en-US" sz="1200" dirty="0"/>
          </a:p>
          <a:p>
            <a:pPr marL="0" indent="0">
              <a:buNone/>
            </a:pPr>
            <a:r>
              <a:rPr lang="en-US" sz="1200" b="1" dirty="0">
                <a:solidFill>
                  <a:srgbClr val="1A1A2E"/>
                </a:solidFill>
                <a:latin typeface="Calibri" pitchFamily="34" charset="0"/>
                <a:ea typeface="Calibri" pitchFamily="34" charset="-122"/>
                <a:cs typeface="Calibri" pitchFamily="34" charset="-120"/>
              </a:rPr>
              <a:t>  3.  </a:t>
            </a:r>
            <a:r>
              <a:rPr lang="en-US" sz="1200" b="1" dirty="0">
                <a:solidFill>
                  <a:srgbClr val="065A82"/>
                </a:solidFill>
                <a:latin typeface="Calibri" pitchFamily="34" charset="0"/>
                <a:ea typeface="Calibri" pitchFamily="34" charset="-122"/>
                <a:cs typeface="Calibri" pitchFamily="34" charset="-120"/>
              </a:rPr>
              <a:t>Optimality: </a:t>
            </a:r>
            <a:r>
              <a:rPr lang="en-US" sz="1200" dirty="0">
                <a:solidFill>
                  <a:srgbClr val="1A1A2E"/>
                </a:solidFill>
                <a:latin typeface="Calibri" pitchFamily="34" charset="0"/>
                <a:ea typeface="Calibri" pitchFamily="34" charset="-122"/>
                <a:cs typeface="Calibri" pitchFamily="34" charset="-120"/>
              </a:rPr>
              <a:t>ERM achieves near-optimal sample complexity</a:t>
            </a:r>
            <a:endParaRPr lang="en-US" sz="1200" dirty="0"/>
          </a:p>
        </p:txBody>
      </p:sp>
      <p:sp>
        <p:nvSpPr>
          <p:cNvPr id="8" name="Shape 6"/>
          <p:cNvSpPr/>
          <p:nvPr/>
        </p:nvSpPr>
        <p:spPr>
          <a:xfrm>
            <a:off x="560070" y="2777490"/>
            <a:ext cx="8172450" cy="1269493"/>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438912" y="2461260"/>
            <a:ext cx="54864" cy="1540003"/>
          </a:xfrm>
          <a:prstGeom prst="rect">
            <a:avLst/>
          </a:prstGeom>
          <a:solidFill>
            <a:srgbClr val="D62828"/>
          </a:solidFill>
          <a:ln/>
        </p:spPr>
        <p:txBody>
          <a:bodyPr/>
          <a:lstStyle/>
          <a:p>
            <a:endParaRPr lang="en-US"/>
          </a:p>
        </p:txBody>
      </p:sp>
      <p:sp>
        <p:nvSpPr>
          <p:cNvPr id="10" name="Text 8"/>
          <p:cNvSpPr/>
          <p:nvPr/>
        </p:nvSpPr>
        <p:spPr>
          <a:xfrm>
            <a:off x="594360" y="2461260"/>
            <a:ext cx="7772400" cy="274320"/>
          </a:xfrm>
          <a:prstGeom prst="rect">
            <a:avLst/>
          </a:prstGeom>
          <a:noFill/>
          <a:ln/>
        </p:spPr>
        <p:txBody>
          <a:bodyPr wrap="square" lIns="0" tIns="0" rIns="0" bIns="0" rtlCol="0" anchor="ctr"/>
          <a:lstStyle/>
          <a:p>
            <a:pPr marL="0" indent="0">
              <a:buNone/>
            </a:pPr>
            <a:r>
              <a:rPr lang="en-US" sz="1500" b="1" dirty="0">
                <a:solidFill>
                  <a:srgbClr val="D62828"/>
                </a:solidFill>
                <a:latin typeface="Georgia" pitchFamily="34" charset="0"/>
                <a:ea typeface="Georgia" pitchFamily="34" charset="-122"/>
                <a:cs typeface="Georgia" pitchFamily="34" charset="-120"/>
              </a:rPr>
              <a:t>The Multiclass Gap</a:t>
            </a:r>
            <a:endParaRPr lang="en-US" sz="1500" dirty="0"/>
          </a:p>
        </p:txBody>
      </p:sp>
      <p:sp>
        <p:nvSpPr>
          <p:cNvPr id="11" name="Text 9"/>
          <p:cNvSpPr/>
          <p:nvPr/>
        </p:nvSpPr>
        <p:spPr>
          <a:xfrm>
            <a:off x="628650" y="2766061"/>
            <a:ext cx="7932420" cy="1235202"/>
          </a:xfrm>
          <a:prstGeom prst="rect">
            <a:avLst/>
          </a:prstGeom>
          <a:noFill/>
          <a:ln/>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In multiclass (|Y| ≥ 3, possibly ∞), we are missing the algorithm:</a:t>
            </a:r>
            <a:endParaRPr lang="en-US" sz="1200" dirty="0"/>
          </a:p>
          <a:p>
            <a:pPr marL="0" indent="0">
              <a:buNone/>
            </a:pPr>
            <a:endParaRPr lang="en-US" sz="1200" dirty="0"/>
          </a:p>
          <a:p>
            <a:pPr marL="0" indent="0">
              <a:buNone/>
            </a:pPr>
            <a:r>
              <a:rPr lang="en-US" sz="1200" b="1" dirty="0">
                <a:solidFill>
                  <a:srgbClr val="1A1A2E"/>
                </a:solidFill>
                <a:latin typeface="Calibri" pitchFamily="34" charset="0"/>
                <a:ea typeface="Calibri" pitchFamily="34" charset="-122"/>
                <a:cs typeface="Calibri" pitchFamily="34" charset="-120"/>
              </a:rPr>
              <a:t>  1. </a:t>
            </a:r>
            <a:r>
              <a:rPr lang="en-US" sz="1200" b="1" dirty="0">
                <a:solidFill>
                  <a:srgbClr val="065A82"/>
                </a:solidFill>
                <a:latin typeface="Calibri" pitchFamily="34" charset="0"/>
                <a:ea typeface="Calibri" pitchFamily="34" charset="-122"/>
                <a:cs typeface="Calibri" pitchFamily="34" charset="-120"/>
              </a:rPr>
              <a:t>Characterization: </a:t>
            </a:r>
            <a:r>
              <a:rPr lang="en-US" sz="1200" dirty="0">
                <a:solidFill>
                  <a:srgbClr val="1A1A2E"/>
                </a:solidFill>
                <a:latin typeface="Calibri" pitchFamily="34" charset="0"/>
                <a:ea typeface="Calibri" pitchFamily="34" charset="-122"/>
                <a:cs typeface="Calibri" pitchFamily="34" charset="-120"/>
              </a:rPr>
              <a:t>H is learnable  ⇔  DS-dim(H) &lt; ∞      (Brukhim et al., 2022)  ✓</a:t>
            </a:r>
            <a:endParaRPr lang="en-US" sz="1200" dirty="0"/>
          </a:p>
          <a:p>
            <a:pPr marL="0" indent="0">
              <a:buNone/>
            </a:pPr>
            <a:r>
              <a:rPr lang="en-US" sz="1200" b="1" dirty="0">
                <a:solidFill>
                  <a:srgbClr val="1A1A2E"/>
                </a:solidFill>
                <a:latin typeface="Calibri" pitchFamily="34" charset="0"/>
                <a:ea typeface="Calibri" pitchFamily="34" charset="-122"/>
                <a:cs typeface="Calibri" pitchFamily="34" charset="-120"/>
              </a:rPr>
              <a:t>  2. </a:t>
            </a:r>
            <a:r>
              <a:rPr lang="en-US" sz="1200" b="1" dirty="0">
                <a:solidFill>
                  <a:srgbClr val="D62828"/>
                </a:solidFill>
                <a:latin typeface="Calibri" pitchFamily="34" charset="0"/>
                <a:ea typeface="Calibri" pitchFamily="34" charset="-122"/>
                <a:cs typeface="Calibri" pitchFamily="34" charset="-120"/>
              </a:rPr>
              <a:t>Algorithm: </a:t>
            </a:r>
            <a:r>
              <a:rPr lang="en-US" sz="1200" dirty="0">
                <a:solidFill>
                  <a:srgbClr val="D62828"/>
                </a:solidFill>
                <a:latin typeface="Calibri" pitchFamily="34" charset="0"/>
                <a:ea typeface="Calibri" pitchFamily="34" charset="-122"/>
                <a:cs typeface="Calibri" pitchFamily="34" charset="-120"/>
              </a:rPr>
              <a:t>ERM FAILS. SRM FAILS. What works?  ✘</a:t>
            </a:r>
            <a:endParaRPr lang="en-US" sz="1200" dirty="0"/>
          </a:p>
          <a:p>
            <a:pPr marL="0" indent="0">
              <a:buNone/>
            </a:pPr>
            <a:r>
              <a:rPr lang="en-US" sz="1200" b="1" dirty="0">
                <a:solidFill>
                  <a:srgbClr val="1A1A2E"/>
                </a:solidFill>
                <a:latin typeface="Calibri" pitchFamily="34" charset="0"/>
                <a:ea typeface="Calibri" pitchFamily="34" charset="-122"/>
                <a:cs typeface="Calibri" pitchFamily="34" charset="-120"/>
              </a:rPr>
              <a:t>  3. </a:t>
            </a:r>
            <a:r>
              <a:rPr lang="en-US" sz="1200" b="1" dirty="0">
                <a:solidFill>
                  <a:srgbClr val="D62828"/>
                </a:solidFill>
                <a:latin typeface="Calibri" pitchFamily="34" charset="0"/>
                <a:ea typeface="Calibri" pitchFamily="34" charset="-122"/>
                <a:cs typeface="Calibri" pitchFamily="34" charset="-120"/>
              </a:rPr>
              <a:t>Optimality: </a:t>
            </a:r>
            <a:r>
              <a:rPr lang="en-US" sz="1200" dirty="0">
                <a:solidFill>
                  <a:srgbClr val="D62828"/>
                </a:solidFill>
                <a:latin typeface="Calibri" pitchFamily="34" charset="0"/>
                <a:ea typeface="Calibri" pitchFamily="34" charset="-122"/>
                <a:cs typeface="Calibri" pitchFamily="34" charset="-120"/>
              </a:rPr>
              <a:t>Best known learners use OIGs — impractical, complex  ✘</a:t>
            </a:r>
            <a:endParaRPr lang="en-US" sz="1200" dirty="0"/>
          </a:p>
        </p:txBody>
      </p:sp>
      <p:sp>
        <p:nvSpPr>
          <p:cNvPr id="12" name="Shape 10"/>
          <p:cNvSpPr/>
          <p:nvPr/>
        </p:nvSpPr>
        <p:spPr>
          <a:xfrm>
            <a:off x="628650" y="4232910"/>
            <a:ext cx="7772400" cy="502920"/>
          </a:xfrm>
          <a:prstGeom prst="rect">
            <a:avLst/>
          </a:prstGeom>
          <a:solidFill>
            <a:srgbClr val="FFF3CD"/>
          </a:solidFill>
          <a:ln/>
        </p:spPr>
        <p:txBody>
          <a:bodyPr/>
          <a:lstStyle/>
          <a:p>
            <a:endParaRPr lang="en-US" dirty="0"/>
          </a:p>
        </p:txBody>
      </p:sp>
      <p:sp>
        <p:nvSpPr>
          <p:cNvPr id="13" name="Text 11"/>
          <p:cNvSpPr/>
          <p:nvPr/>
        </p:nvSpPr>
        <p:spPr>
          <a:xfrm>
            <a:off x="731520" y="4254628"/>
            <a:ext cx="7498080" cy="457200"/>
          </a:xfrm>
          <a:prstGeom prst="rect">
            <a:avLst/>
          </a:prstGeom>
          <a:noFill/>
          <a:ln/>
        </p:spPr>
        <p:txBody>
          <a:bodyPr wrap="square" lIns="0" tIns="0" rIns="0" bIns="0" rtlCol="0" anchor="ctr"/>
          <a:lstStyle/>
          <a:p>
            <a:pPr marL="0" indent="0">
              <a:buNone/>
            </a:pPr>
            <a:r>
              <a:rPr lang="en-US" sz="1300" b="1" dirty="0">
                <a:solidFill>
                  <a:srgbClr val="E85D04"/>
                </a:solidFill>
                <a:latin typeface="Calibri" pitchFamily="34" charset="0"/>
                <a:ea typeface="Calibri" pitchFamily="34" charset="-122"/>
                <a:cs typeface="Calibri" pitchFamily="34" charset="-120"/>
              </a:rPr>
              <a:t>The Open Problem: </a:t>
            </a:r>
            <a:r>
              <a:rPr lang="en-US" sz="1300" dirty="0">
                <a:solidFill>
                  <a:srgbClr val="1A1A2E"/>
                </a:solidFill>
                <a:latin typeface="Calibri" pitchFamily="34" charset="0"/>
                <a:ea typeface="Calibri" pitchFamily="34" charset="-122"/>
                <a:cs typeface="Calibri" pitchFamily="34" charset="-120"/>
              </a:rPr>
              <a:t>Can local regularization be the missing universal algorithm for multiclass — just as ERM is for binary?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Why Finding One Simple Rule Matters</a:t>
            </a:r>
            <a:endParaRPr lang="en-US" sz="2400" dirty="0"/>
          </a:p>
        </p:txBody>
      </p:sp>
      <p:sp>
        <p:nvSpPr>
          <p:cNvPr id="4" name="Shape 2"/>
          <p:cNvSpPr/>
          <p:nvPr/>
        </p:nvSpPr>
        <p:spPr>
          <a:xfrm>
            <a:off x="457200" y="1005840"/>
            <a:ext cx="3840480" cy="37490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457200" y="1005840"/>
            <a:ext cx="54864" cy="3749040"/>
          </a:xfrm>
          <a:prstGeom prst="rect">
            <a:avLst/>
          </a:prstGeom>
          <a:solidFill>
            <a:srgbClr val="D62828"/>
          </a:solidFill>
          <a:ln/>
        </p:spPr>
        <p:txBody>
          <a:bodyPr/>
          <a:lstStyle/>
          <a:p>
            <a:endParaRPr lang="en-US"/>
          </a:p>
        </p:txBody>
      </p:sp>
      <p:sp>
        <p:nvSpPr>
          <p:cNvPr id="6" name="Text 4"/>
          <p:cNvSpPr/>
          <p:nvPr/>
        </p:nvSpPr>
        <p:spPr>
          <a:xfrm>
            <a:off x="731520" y="1051560"/>
            <a:ext cx="3291840" cy="274320"/>
          </a:xfrm>
          <a:prstGeom prst="rect">
            <a:avLst/>
          </a:prstGeom>
          <a:noFill/>
          <a:ln/>
        </p:spPr>
        <p:txBody>
          <a:bodyPr wrap="square" lIns="0" tIns="0" rIns="0" bIns="0" rtlCol="0" anchor="ctr"/>
          <a:lstStyle/>
          <a:p>
            <a:pPr marL="0" indent="0">
              <a:buNone/>
            </a:pPr>
            <a:r>
              <a:rPr lang="en-US" sz="1300" b="1" dirty="0">
                <a:solidFill>
                  <a:srgbClr val="D62828"/>
                </a:solidFill>
                <a:latin typeface="Georgia" pitchFamily="34" charset="0"/>
                <a:ea typeface="Georgia" pitchFamily="34" charset="-122"/>
                <a:cs typeface="Georgia" pitchFamily="34" charset="-120"/>
              </a:rPr>
              <a:t>Current State: OIG-Based Learners</a:t>
            </a:r>
            <a:endParaRPr lang="en-US" sz="1300" dirty="0"/>
          </a:p>
        </p:txBody>
      </p:sp>
      <p:sp>
        <p:nvSpPr>
          <p:cNvPr id="7" name="Text 5"/>
          <p:cNvSpPr/>
          <p:nvPr/>
        </p:nvSpPr>
        <p:spPr>
          <a:xfrm>
            <a:off x="731520" y="1371600"/>
            <a:ext cx="3291840" cy="320040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OIGs depend on 3 things:</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The hypothesis class H</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Unlabeled data in training set S</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The test point x</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D62828"/>
                </a:solidFill>
                <a:latin typeface="Calibri" pitchFamily="34" charset="0"/>
                <a:ea typeface="Calibri" pitchFamily="34" charset="-122"/>
                <a:cs typeface="Calibri" pitchFamily="34" charset="-120"/>
              </a:rPr>
              <a:t>Problems:</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When |Y| = ∞, OIGs can be infinite</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Existence may need axiom of choice</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Even for finite Y, exponentially large</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Purely mathematical — not practical</a:t>
            </a:r>
            <a:endParaRPr lang="en-US" sz="1200" dirty="0"/>
          </a:p>
        </p:txBody>
      </p:sp>
      <p:sp>
        <p:nvSpPr>
          <p:cNvPr id="8" name="Shape 6"/>
          <p:cNvSpPr/>
          <p:nvPr/>
        </p:nvSpPr>
        <p:spPr>
          <a:xfrm>
            <a:off x="4846320" y="1005840"/>
            <a:ext cx="3840480" cy="37490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4846320" y="1005840"/>
            <a:ext cx="54864" cy="3749040"/>
          </a:xfrm>
          <a:prstGeom prst="rect">
            <a:avLst/>
          </a:prstGeom>
          <a:solidFill>
            <a:srgbClr val="2D6A4F"/>
          </a:solidFill>
          <a:ln/>
        </p:spPr>
        <p:txBody>
          <a:bodyPr/>
          <a:lstStyle/>
          <a:p>
            <a:endParaRPr lang="en-US"/>
          </a:p>
        </p:txBody>
      </p:sp>
      <p:sp>
        <p:nvSpPr>
          <p:cNvPr id="10" name="Text 8"/>
          <p:cNvSpPr/>
          <p:nvPr/>
        </p:nvSpPr>
        <p:spPr>
          <a:xfrm>
            <a:off x="5120640" y="1051560"/>
            <a:ext cx="3291840" cy="274320"/>
          </a:xfrm>
          <a:prstGeom prst="rect">
            <a:avLst/>
          </a:prstGeom>
          <a:noFill/>
          <a:ln/>
        </p:spPr>
        <p:txBody>
          <a:bodyPr wrap="square" lIns="0" tIns="0" rIns="0" bIns="0" rtlCol="0" anchor="ctr"/>
          <a:lstStyle/>
          <a:p>
            <a:pPr marL="0" indent="0">
              <a:buNone/>
            </a:pPr>
            <a:r>
              <a:rPr lang="en-US" sz="1300" b="1" dirty="0">
                <a:solidFill>
                  <a:srgbClr val="2D6A4F"/>
                </a:solidFill>
                <a:latin typeface="Georgia" pitchFamily="34" charset="0"/>
                <a:ea typeface="Georgia" pitchFamily="34" charset="-122"/>
                <a:cs typeface="Georgia" pitchFamily="34" charset="-120"/>
              </a:rPr>
              <a:t>The Dream: Local Regularization</a:t>
            </a:r>
            <a:endParaRPr lang="en-US" sz="1300" dirty="0"/>
          </a:p>
        </p:txBody>
      </p:sp>
      <p:sp>
        <p:nvSpPr>
          <p:cNvPr id="11" name="Text 9"/>
          <p:cNvSpPr/>
          <p:nvPr/>
        </p:nvSpPr>
        <p:spPr>
          <a:xfrm>
            <a:off x="5120640" y="1371600"/>
            <a:ext cx="3291840" cy="320040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Local reg depends on only 2 things:</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The hypothesis class H</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The test point x</a:t>
            </a:r>
            <a:endParaRPr lang="en-US" sz="1200" dirty="0"/>
          </a:p>
          <a:p>
            <a:pPr marL="0" indent="0">
              <a:buNone/>
            </a:pPr>
            <a:endParaRPr lang="en-US" sz="1200" dirty="0"/>
          </a:p>
          <a:p>
            <a:pPr marL="0" indent="0">
              <a:buNone/>
            </a:pPr>
            <a:endParaRPr lang="en-US" sz="1200" dirty="0"/>
          </a:p>
          <a:p>
            <a:pPr marL="0" indent="0">
              <a:buNone/>
            </a:pPr>
            <a:r>
              <a:rPr lang="en-US" sz="1100" i="1" dirty="0">
                <a:solidFill>
                  <a:srgbClr val="2D6A4F"/>
                </a:solidFill>
                <a:latin typeface="Calibri" pitchFamily="34" charset="0"/>
                <a:ea typeface="Calibri" pitchFamily="34" charset="-122"/>
                <a:cs typeface="Calibri" pitchFamily="34" charset="-120"/>
              </a:rPr>
              <a:t>  (No dependence on unlabeled S!)</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2D6A4F"/>
                </a:solidFill>
                <a:latin typeface="Calibri" pitchFamily="34" charset="0"/>
                <a:ea typeface="Calibri" pitchFamily="34" charset="-122"/>
                <a:cs typeface="Calibri" pitchFamily="34" charset="-120"/>
              </a:rPr>
              <a:t>Benefits:</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Simple closed-form regularizer</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Clean optimization problem</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Permits improper learning</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Potentially implementable!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The Classification Problem: Every Symbol Explained</a:t>
            </a:r>
            <a:endParaRPr lang="en-US" sz="2400" dirty="0"/>
          </a:p>
        </p:txBody>
      </p:sp>
      <p:sp>
        <p:nvSpPr>
          <p:cNvPr id="4" name="Shape 2"/>
          <p:cNvSpPr/>
          <p:nvPr/>
        </p:nvSpPr>
        <p:spPr>
          <a:xfrm>
            <a:off x="457200" y="1005840"/>
            <a:ext cx="8229600" cy="457200"/>
          </a:xfrm>
          <a:prstGeom prst="rect">
            <a:avLst/>
          </a:prstGeom>
          <a:solidFill>
            <a:srgbClr val="E8F0FE"/>
          </a:solidFill>
          <a:ln w="12700">
            <a:solidFill>
              <a:srgbClr val="1C7293"/>
            </a:solidFill>
            <a:prstDash val="solid"/>
          </a:ln>
        </p:spPr>
        <p:txBody>
          <a:bodyPr/>
          <a:lstStyle/>
          <a:p>
            <a:endParaRPr lang="en-US"/>
          </a:p>
        </p:txBody>
      </p:sp>
      <p:sp>
        <p:nvSpPr>
          <p:cNvPr id="5" name="Text 3"/>
          <p:cNvSpPr/>
          <p:nvPr/>
        </p:nvSpPr>
        <p:spPr>
          <a:xfrm>
            <a:off x="594360" y="1051560"/>
            <a:ext cx="7955280" cy="365760"/>
          </a:xfrm>
          <a:prstGeom prst="rect">
            <a:avLst/>
          </a:prstGeom>
          <a:noFill/>
          <a:ln/>
        </p:spPr>
        <p:txBody>
          <a:bodyPr wrap="square" lIns="0" tIns="0" rIns="0" bIns="0" rtlCol="0" anchor="ctr"/>
          <a:lstStyle/>
          <a:p>
            <a:pPr marL="0" indent="0" algn="ctr">
              <a:buNone/>
            </a:pPr>
            <a:r>
              <a:rPr lang="en-US" sz="1400" dirty="0">
                <a:solidFill>
                  <a:srgbClr val="1A1A2E"/>
                </a:solidFill>
                <a:latin typeface="Consolas" pitchFamily="34" charset="0"/>
                <a:ea typeface="Consolas" pitchFamily="34" charset="-122"/>
                <a:cs typeface="Consolas" pitchFamily="34" charset="-120"/>
              </a:rPr>
              <a:t>Given:  𝒳 (domain),   𝒴 (labels),   H ⊆ 𝒴^𝒳  (hypothesis class)</a:t>
            </a:r>
            <a:endParaRPr lang="en-US" sz="1400" dirty="0"/>
          </a:p>
        </p:txBody>
      </p:sp>
      <p:sp>
        <p:nvSpPr>
          <p:cNvPr id="6" name="Shape 4"/>
          <p:cNvSpPr/>
          <p:nvPr/>
        </p:nvSpPr>
        <p:spPr>
          <a:xfrm>
            <a:off x="457200" y="1691640"/>
            <a:ext cx="2560320" cy="14630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7" name="Shape 5"/>
          <p:cNvSpPr/>
          <p:nvPr/>
        </p:nvSpPr>
        <p:spPr>
          <a:xfrm>
            <a:off x="457200" y="1691640"/>
            <a:ext cx="54864" cy="1463040"/>
          </a:xfrm>
          <a:prstGeom prst="rect">
            <a:avLst/>
          </a:prstGeom>
          <a:solidFill>
            <a:srgbClr val="065A82"/>
          </a:solidFill>
          <a:ln/>
        </p:spPr>
        <p:txBody>
          <a:bodyPr/>
          <a:lstStyle/>
          <a:p>
            <a:endParaRPr lang="en-US"/>
          </a:p>
        </p:txBody>
      </p:sp>
      <p:sp>
        <p:nvSpPr>
          <p:cNvPr id="8" name="Text 6"/>
          <p:cNvSpPr/>
          <p:nvPr/>
        </p:nvSpPr>
        <p:spPr>
          <a:xfrm>
            <a:off x="685800" y="1737360"/>
            <a:ext cx="2103120" cy="274320"/>
          </a:xfrm>
          <a:prstGeom prst="rect">
            <a:avLst/>
          </a:prstGeom>
          <a:noFill/>
          <a:ln/>
        </p:spPr>
        <p:txBody>
          <a:bodyPr wrap="square" lIns="0" tIns="0" rIns="0" bIns="0" rtlCol="0" anchor="ctr"/>
          <a:lstStyle/>
          <a:p>
            <a:pPr marL="0" indent="0">
              <a:buNone/>
            </a:pPr>
            <a:r>
              <a:rPr lang="en-US" sz="1300" b="1" dirty="0">
                <a:solidFill>
                  <a:srgbClr val="065A82"/>
                </a:solidFill>
                <a:latin typeface="Georgia" pitchFamily="34" charset="0"/>
                <a:ea typeface="Georgia" pitchFamily="34" charset="-122"/>
                <a:cs typeface="Georgia" pitchFamily="34" charset="-120"/>
              </a:rPr>
              <a:t>𝒳 — Domain</a:t>
            </a:r>
            <a:endParaRPr lang="en-US" sz="1300" dirty="0"/>
          </a:p>
        </p:txBody>
      </p:sp>
      <p:sp>
        <p:nvSpPr>
          <p:cNvPr id="9" name="Text 7"/>
          <p:cNvSpPr/>
          <p:nvPr/>
        </p:nvSpPr>
        <p:spPr>
          <a:xfrm>
            <a:off x="685800" y="2029968"/>
            <a:ext cx="2103120" cy="100584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The input space. Could be images, text, numbers, etc. We only assume it’s a set from which samples are drawn.</a:t>
            </a:r>
            <a:endParaRPr lang="en-US" sz="1100" dirty="0"/>
          </a:p>
        </p:txBody>
      </p:sp>
      <p:sp>
        <p:nvSpPr>
          <p:cNvPr id="10" name="Shape 8"/>
          <p:cNvSpPr/>
          <p:nvPr/>
        </p:nvSpPr>
        <p:spPr>
          <a:xfrm>
            <a:off x="3291840" y="1691640"/>
            <a:ext cx="2560320" cy="14630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1" name="Shape 9"/>
          <p:cNvSpPr/>
          <p:nvPr/>
        </p:nvSpPr>
        <p:spPr>
          <a:xfrm>
            <a:off x="3291840" y="1691640"/>
            <a:ext cx="54864" cy="1463040"/>
          </a:xfrm>
          <a:prstGeom prst="rect">
            <a:avLst/>
          </a:prstGeom>
          <a:solidFill>
            <a:srgbClr val="1C7293"/>
          </a:solidFill>
          <a:ln/>
        </p:spPr>
        <p:txBody>
          <a:bodyPr/>
          <a:lstStyle/>
          <a:p>
            <a:endParaRPr lang="en-US"/>
          </a:p>
        </p:txBody>
      </p:sp>
      <p:sp>
        <p:nvSpPr>
          <p:cNvPr id="12" name="Text 10"/>
          <p:cNvSpPr/>
          <p:nvPr/>
        </p:nvSpPr>
        <p:spPr>
          <a:xfrm>
            <a:off x="3520440" y="1737360"/>
            <a:ext cx="2103120" cy="274320"/>
          </a:xfrm>
          <a:prstGeom prst="rect">
            <a:avLst/>
          </a:prstGeom>
          <a:noFill/>
          <a:ln/>
        </p:spPr>
        <p:txBody>
          <a:bodyPr wrap="square" lIns="0" tIns="0" rIns="0" bIns="0" rtlCol="0" anchor="ctr"/>
          <a:lstStyle/>
          <a:p>
            <a:pPr marL="0" indent="0">
              <a:buNone/>
            </a:pPr>
            <a:r>
              <a:rPr lang="en-US" sz="1300" b="1" dirty="0">
                <a:solidFill>
                  <a:srgbClr val="1C7293"/>
                </a:solidFill>
                <a:latin typeface="Georgia" pitchFamily="34" charset="0"/>
                <a:ea typeface="Georgia" pitchFamily="34" charset="-122"/>
                <a:cs typeface="Georgia" pitchFamily="34" charset="-120"/>
              </a:rPr>
              <a:t>𝒴 — Label Set</a:t>
            </a:r>
            <a:endParaRPr lang="en-US" sz="1300" dirty="0"/>
          </a:p>
        </p:txBody>
      </p:sp>
      <p:sp>
        <p:nvSpPr>
          <p:cNvPr id="13" name="Text 11"/>
          <p:cNvSpPr/>
          <p:nvPr/>
        </p:nvSpPr>
        <p:spPr>
          <a:xfrm>
            <a:off x="3520440" y="2029968"/>
            <a:ext cx="2103120" cy="100584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|Y| = 2 → binary</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|Y| = k → k-class</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|Y| = ∞ → infinite multiclass</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Multiclass = any |Y| ≥ 3.</a:t>
            </a:r>
            <a:endParaRPr lang="en-US" sz="1100" dirty="0"/>
          </a:p>
        </p:txBody>
      </p:sp>
      <p:sp>
        <p:nvSpPr>
          <p:cNvPr id="14" name="Shape 12"/>
          <p:cNvSpPr/>
          <p:nvPr/>
        </p:nvSpPr>
        <p:spPr>
          <a:xfrm>
            <a:off x="6126480" y="1691640"/>
            <a:ext cx="2560320" cy="14630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5" name="Shape 13"/>
          <p:cNvSpPr/>
          <p:nvPr/>
        </p:nvSpPr>
        <p:spPr>
          <a:xfrm>
            <a:off x="6126480" y="1691640"/>
            <a:ext cx="54864" cy="1463040"/>
          </a:xfrm>
          <a:prstGeom prst="rect">
            <a:avLst/>
          </a:prstGeom>
          <a:solidFill>
            <a:srgbClr val="E85D04"/>
          </a:solidFill>
          <a:ln/>
        </p:spPr>
        <p:txBody>
          <a:bodyPr/>
          <a:lstStyle/>
          <a:p>
            <a:endParaRPr lang="en-US"/>
          </a:p>
        </p:txBody>
      </p:sp>
      <p:sp>
        <p:nvSpPr>
          <p:cNvPr id="16" name="Text 14"/>
          <p:cNvSpPr/>
          <p:nvPr/>
        </p:nvSpPr>
        <p:spPr>
          <a:xfrm>
            <a:off x="6355080" y="1737360"/>
            <a:ext cx="2103120" cy="274320"/>
          </a:xfrm>
          <a:prstGeom prst="rect">
            <a:avLst/>
          </a:prstGeom>
          <a:noFill/>
          <a:ln/>
        </p:spPr>
        <p:txBody>
          <a:bodyPr wrap="square" lIns="0" tIns="0" rIns="0" bIns="0" rtlCol="0" anchor="ctr"/>
          <a:lstStyle/>
          <a:p>
            <a:pPr marL="0" indent="0">
              <a:buNone/>
            </a:pPr>
            <a:r>
              <a:rPr lang="en-US" sz="1300" b="1" dirty="0">
                <a:solidFill>
                  <a:srgbClr val="E85D04"/>
                </a:solidFill>
                <a:latin typeface="Georgia" pitchFamily="34" charset="0"/>
                <a:ea typeface="Georgia" pitchFamily="34" charset="-122"/>
                <a:cs typeface="Georgia" pitchFamily="34" charset="-120"/>
              </a:rPr>
              <a:t>H ⊆ Y^X</a:t>
            </a:r>
            <a:endParaRPr lang="en-US" sz="1300" dirty="0"/>
          </a:p>
        </p:txBody>
      </p:sp>
      <p:sp>
        <p:nvSpPr>
          <p:cNvPr id="17" name="Text 15"/>
          <p:cNvSpPr/>
          <p:nvPr/>
        </p:nvSpPr>
        <p:spPr>
          <a:xfrm>
            <a:off x="6355080" y="2029968"/>
            <a:ext cx="2103120" cy="100584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 set of functions h: X → Y. Each h is a “rule” for predicting labels. Y^X means all functions from X to Y. H is a subset we believe contains a good rule.</a:t>
            </a:r>
            <a:endParaRPr lang="en-US" sz="1100" dirty="0"/>
          </a:p>
        </p:txBody>
      </p:sp>
      <p:sp>
        <p:nvSpPr>
          <p:cNvPr id="18" name="Shape 16"/>
          <p:cNvSpPr/>
          <p:nvPr/>
        </p:nvSpPr>
        <p:spPr>
          <a:xfrm>
            <a:off x="457200" y="3383280"/>
            <a:ext cx="8229600" cy="457200"/>
          </a:xfrm>
          <a:prstGeom prst="rect">
            <a:avLst/>
          </a:prstGeom>
          <a:solidFill>
            <a:srgbClr val="E8F0FE"/>
          </a:solidFill>
          <a:ln w="12700">
            <a:solidFill>
              <a:srgbClr val="1C7293"/>
            </a:solidFill>
            <a:prstDash val="solid"/>
          </a:ln>
        </p:spPr>
        <p:txBody>
          <a:bodyPr/>
          <a:lstStyle/>
          <a:p>
            <a:endParaRPr lang="en-US"/>
          </a:p>
        </p:txBody>
      </p:sp>
      <p:sp>
        <p:nvSpPr>
          <p:cNvPr id="19" name="Text 17"/>
          <p:cNvSpPr/>
          <p:nvPr/>
        </p:nvSpPr>
        <p:spPr>
          <a:xfrm>
            <a:off x="594360" y="3429000"/>
            <a:ext cx="7955280" cy="365760"/>
          </a:xfrm>
          <a:prstGeom prst="rect">
            <a:avLst/>
          </a:prstGeom>
          <a:noFill/>
          <a:ln/>
        </p:spPr>
        <p:txBody>
          <a:bodyPr wrap="square" lIns="0" tIns="0" rIns="0" bIns="0" rtlCol="0" anchor="ctr"/>
          <a:lstStyle/>
          <a:p>
            <a:pPr marL="0" indent="0" algn="ctr">
              <a:buNone/>
            </a:pPr>
            <a:r>
              <a:rPr lang="en-US" sz="1400" dirty="0">
                <a:solidFill>
                  <a:srgbClr val="1A1A2E"/>
                </a:solidFill>
                <a:latin typeface="Consolas" pitchFamily="34" charset="0"/>
                <a:ea typeface="Consolas" pitchFamily="34" charset="-122"/>
                <a:cs typeface="Consolas" pitchFamily="34" charset="-120"/>
              </a:rPr>
              <a:t>Loss:  ℓ(h(x), y) = 0 if h(x) = y,  1 if h(x) ≠ y        (0-1 loss)</a:t>
            </a:r>
            <a:endParaRPr lang="en-US" sz="1400" dirty="0"/>
          </a:p>
        </p:txBody>
      </p:sp>
      <p:sp>
        <p:nvSpPr>
          <p:cNvPr id="20" name="Shape 18"/>
          <p:cNvSpPr/>
          <p:nvPr/>
        </p:nvSpPr>
        <p:spPr>
          <a:xfrm>
            <a:off x="457200" y="4069080"/>
            <a:ext cx="3840480" cy="8686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1" name="Shape 19"/>
          <p:cNvSpPr/>
          <p:nvPr/>
        </p:nvSpPr>
        <p:spPr>
          <a:xfrm>
            <a:off x="457200" y="4069080"/>
            <a:ext cx="54864" cy="868680"/>
          </a:xfrm>
          <a:prstGeom prst="rect">
            <a:avLst/>
          </a:prstGeom>
          <a:solidFill>
            <a:srgbClr val="065A82"/>
          </a:solidFill>
          <a:ln/>
        </p:spPr>
        <p:txBody>
          <a:bodyPr/>
          <a:lstStyle/>
          <a:p>
            <a:endParaRPr lang="en-US"/>
          </a:p>
        </p:txBody>
      </p:sp>
      <p:sp>
        <p:nvSpPr>
          <p:cNvPr id="22" name="Text 20"/>
          <p:cNvSpPr/>
          <p:nvPr/>
        </p:nvSpPr>
        <p:spPr>
          <a:xfrm>
            <a:off x="685800" y="4114800"/>
            <a:ext cx="3383280" cy="274320"/>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True Risk:  </a:t>
            </a:r>
            <a:r>
              <a:rPr lang="en-US" sz="1300" dirty="0">
                <a:solidFill>
                  <a:srgbClr val="1A1A2E"/>
                </a:solidFill>
                <a:latin typeface="Consolas" pitchFamily="34" charset="0"/>
                <a:ea typeface="Consolas" pitchFamily="34" charset="-122"/>
                <a:cs typeface="Consolas" pitchFamily="34" charset="-120"/>
              </a:rPr>
              <a:t>L_D(h) = E_{(x,y)~D}[ℓ(h(x), y)]</a:t>
            </a:r>
            <a:endParaRPr lang="en-US" sz="1300" dirty="0"/>
          </a:p>
        </p:txBody>
      </p:sp>
      <p:sp>
        <p:nvSpPr>
          <p:cNvPr id="23" name="Text 21"/>
          <p:cNvSpPr/>
          <p:nvPr/>
        </p:nvSpPr>
        <p:spPr>
          <a:xfrm>
            <a:off x="685800" y="4407408"/>
            <a:ext cx="3383280" cy="45720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Average error over the true distribution D.</a:t>
            </a:r>
            <a:endParaRPr lang="en-US" sz="1100" dirty="0"/>
          </a:p>
          <a:p>
            <a:pPr marL="0" indent="0">
              <a:buNone/>
            </a:pPr>
            <a:r>
              <a:rPr lang="en-US" sz="1100" dirty="0">
                <a:solidFill>
                  <a:srgbClr val="6B7280"/>
                </a:solidFill>
                <a:latin typeface="Calibri" pitchFamily="34" charset="0"/>
                <a:ea typeface="Calibri" pitchFamily="34" charset="-122"/>
                <a:cs typeface="Calibri" pitchFamily="34" charset="-120"/>
              </a:rPr>
              <a:t>This is what we WANT to minimize.</a:t>
            </a:r>
            <a:endParaRPr lang="en-US" sz="1100" dirty="0"/>
          </a:p>
        </p:txBody>
      </p:sp>
      <p:sp>
        <p:nvSpPr>
          <p:cNvPr id="24" name="Shape 22"/>
          <p:cNvSpPr/>
          <p:nvPr/>
        </p:nvSpPr>
        <p:spPr>
          <a:xfrm>
            <a:off x="4846320" y="4069080"/>
            <a:ext cx="3840480" cy="8686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5" name="Shape 23"/>
          <p:cNvSpPr/>
          <p:nvPr/>
        </p:nvSpPr>
        <p:spPr>
          <a:xfrm>
            <a:off x="4846320" y="4069080"/>
            <a:ext cx="54864" cy="868680"/>
          </a:xfrm>
          <a:prstGeom prst="rect">
            <a:avLst/>
          </a:prstGeom>
          <a:solidFill>
            <a:srgbClr val="1C7293"/>
          </a:solidFill>
          <a:ln/>
        </p:spPr>
        <p:txBody>
          <a:bodyPr/>
          <a:lstStyle/>
          <a:p>
            <a:endParaRPr lang="en-US"/>
          </a:p>
        </p:txBody>
      </p:sp>
      <p:sp>
        <p:nvSpPr>
          <p:cNvPr id="26" name="Text 24"/>
          <p:cNvSpPr/>
          <p:nvPr/>
        </p:nvSpPr>
        <p:spPr>
          <a:xfrm>
            <a:off x="5074920" y="4114800"/>
            <a:ext cx="3383280" cy="27432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Empirical Risk:  </a:t>
            </a:r>
            <a:r>
              <a:rPr lang="en-US" sz="1300" dirty="0">
                <a:solidFill>
                  <a:srgbClr val="1A1A2E"/>
                </a:solidFill>
                <a:latin typeface="Consolas" pitchFamily="34" charset="0"/>
                <a:ea typeface="Consolas" pitchFamily="34" charset="-122"/>
                <a:cs typeface="Consolas" pitchFamily="34" charset="-120"/>
              </a:rPr>
              <a:t>L_S(h) = (1/n)∑ℓ(h(x_i), y_i)</a:t>
            </a:r>
            <a:endParaRPr lang="en-US" sz="1300" dirty="0"/>
          </a:p>
        </p:txBody>
      </p:sp>
      <p:sp>
        <p:nvSpPr>
          <p:cNvPr id="27" name="Text 25"/>
          <p:cNvSpPr/>
          <p:nvPr/>
        </p:nvSpPr>
        <p:spPr>
          <a:xfrm>
            <a:off x="5074920" y="4407408"/>
            <a:ext cx="3383280" cy="45720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Average error over training data S.</a:t>
            </a:r>
            <a:endParaRPr lang="en-US" sz="1100" dirty="0"/>
          </a:p>
          <a:p>
            <a:pPr marL="0" indent="0">
              <a:buNone/>
            </a:pPr>
            <a:r>
              <a:rPr lang="en-US" sz="1100" dirty="0">
                <a:solidFill>
                  <a:srgbClr val="6B7280"/>
                </a:solidFill>
                <a:latin typeface="Calibri" pitchFamily="34" charset="0"/>
                <a:ea typeface="Calibri" pitchFamily="34" charset="-122"/>
                <a:cs typeface="Calibri" pitchFamily="34" charset="-120"/>
              </a:rPr>
              <a:t>This is what we CAN compute.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PAC Learning: The Formal Goal</a:t>
            </a:r>
            <a:endParaRPr lang="en-US" sz="2400" dirty="0"/>
          </a:p>
        </p:txBody>
      </p:sp>
      <p:sp>
        <p:nvSpPr>
          <p:cNvPr id="4" name="Shape 2"/>
          <p:cNvSpPr/>
          <p:nvPr/>
        </p:nvSpPr>
        <p:spPr>
          <a:xfrm>
            <a:off x="457200" y="1005840"/>
            <a:ext cx="8229600" cy="1005840"/>
          </a:xfrm>
          <a:prstGeom prst="rect">
            <a:avLst/>
          </a:prstGeom>
          <a:solidFill>
            <a:srgbClr val="E8F0FE"/>
          </a:solidFill>
          <a:ln w="19050">
            <a:solidFill>
              <a:srgbClr val="1C7293"/>
            </a:solidFill>
            <a:prstDash val="solid"/>
          </a:ln>
        </p:spPr>
        <p:txBody>
          <a:bodyPr/>
          <a:lstStyle/>
          <a:p>
            <a:endParaRPr lang="en-US"/>
          </a:p>
        </p:txBody>
      </p:sp>
      <p:sp>
        <p:nvSpPr>
          <p:cNvPr id="5" name="Text 3"/>
          <p:cNvSpPr/>
          <p:nvPr/>
        </p:nvSpPr>
        <p:spPr>
          <a:xfrm>
            <a:off x="640080" y="1024128"/>
            <a:ext cx="7772400" cy="274320"/>
          </a:xfrm>
          <a:prstGeom prst="rect">
            <a:avLst/>
          </a:prstGeom>
          <a:noFill/>
          <a:ln/>
        </p:spPr>
        <p:txBody>
          <a:bodyPr wrap="square" lIns="0" tIns="0" rIns="0" bIns="0" rtlCol="0" anchor="ctr"/>
          <a:lstStyle/>
          <a:p>
            <a:pPr marL="0" indent="0">
              <a:buNone/>
            </a:pPr>
            <a:r>
              <a:rPr lang="en-US" sz="1400" b="1" dirty="0">
                <a:solidFill>
                  <a:srgbClr val="065A82"/>
                </a:solidFill>
                <a:latin typeface="Georgia" pitchFamily="34" charset="0"/>
                <a:ea typeface="Georgia" pitchFamily="34" charset="-122"/>
                <a:cs typeface="Georgia" pitchFamily="34" charset="-120"/>
              </a:rPr>
              <a:t>PAC Learning (Valiant, 1984)</a:t>
            </a:r>
            <a:endParaRPr lang="en-US" sz="1400" dirty="0"/>
          </a:p>
        </p:txBody>
      </p:sp>
      <p:sp>
        <p:nvSpPr>
          <p:cNvPr id="6" name="Text 4"/>
          <p:cNvSpPr/>
          <p:nvPr/>
        </p:nvSpPr>
        <p:spPr>
          <a:xfrm>
            <a:off x="640080" y="1280160"/>
            <a:ext cx="7772400" cy="64008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A learner A is PAC for H if ∃ m: (0,1)² → ℕ s.t. ∀ realizable D, ∀ ε,δ ∈ (0,1):</a:t>
            </a:r>
            <a:endParaRPr lang="en-US" sz="1200" dirty="0"/>
          </a:p>
          <a:p>
            <a:pPr marL="0" indent="0">
              <a:buNone/>
            </a:pPr>
            <a:endParaRPr lang="en-US" sz="1200" dirty="0"/>
          </a:p>
          <a:p>
            <a:pPr marL="0" indent="0">
              <a:buNone/>
            </a:pPr>
            <a:r>
              <a:rPr lang="en-US" sz="1500" b="1" dirty="0">
                <a:solidFill>
                  <a:srgbClr val="1A1A2E"/>
                </a:solidFill>
                <a:latin typeface="Consolas" pitchFamily="34" charset="0"/>
                <a:ea typeface="Consolas" pitchFamily="34" charset="-122"/>
                <a:cs typeface="Consolas" pitchFamily="34" charset="-120"/>
              </a:rPr>
              <a:t>           |S| ≥ m(ε,δ)   ⇒   Pr[ L_D(A(S)) ≤ ε ] ≥ 1 − δ</a:t>
            </a:r>
            <a:endParaRPr lang="en-US" sz="1200" dirty="0"/>
          </a:p>
        </p:txBody>
      </p:sp>
      <p:sp>
        <p:nvSpPr>
          <p:cNvPr id="7" name="Shape 5"/>
          <p:cNvSpPr/>
          <p:nvPr/>
        </p:nvSpPr>
        <p:spPr>
          <a:xfrm>
            <a:off x="457200" y="2286000"/>
            <a:ext cx="4069080" cy="1143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8" name="Shape 6"/>
          <p:cNvSpPr/>
          <p:nvPr/>
        </p:nvSpPr>
        <p:spPr>
          <a:xfrm>
            <a:off x="457200" y="2286000"/>
            <a:ext cx="54864" cy="1143000"/>
          </a:xfrm>
          <a:prstGeom prst="rect">
            <a:avLst/>
          </a:prstGeom>
          <a:solidFill>
            <a:srgbClr val="065A82"/>
          </a:solidFill>
          <a:ln/>
        </p:spPr>
        <p:txBody>
          <a:bodyPr/>
          <a:lstStyle/>
          <a:p>
            <a:endParaRPr lang="en-US"/>
          </a:p>
        </p:txBody>
      </p:sp>
      <p:sp>
        <p:nvSpPr>
          <p:cNvPr id="9" name="Text 7"/>
          <p:cNvSpPr/>
          <p:nvPr/>
        </p:nvSpPr>
        <p:spPr>
          <a:xfrm>
            <a:off x="685800" y="2331720"/>
            <a:ext cx="1371600" cy="274320"/>
          </a:xfrm>
          <a:prstGeom prst="rect">
            <a:avLst/>
          </a:prstGeom>
          <a:noFill/>
          <a:ln/>
        </p:spPr>
        <p:txBody>
          <a:bodyPr wrap="square" lIns="0" tIns="0" rIns="0" bIns="0" rtlCol="0" anchor="ctr"/>
          <a:lstStyle/>
          <a:p>
            <a:pPr marL="0" indent="0">
              <a:buNone/>
            </a:pPr>
            <a:r>
              <a:rPr lang="en-US" sz="1400" b="1" dirty="0">
                <a:solidFill>
                  <a:srgbClr val="065A82"/>
                </a:solidFill>
                <a:latin typeface="Consolas" pitchFamily="34" charset="0"/>
                <a:ea typeface="Consolas" pitchFamily="34" charset="-122"/>
                <a:cs typeface="Consolas" pitchFamily="34" charset="-120"/>
              </a:rPr>
              <a:t>m(ε,δ)</a:t>
            </a:r>
            <a:endParaRPr lang="en-US" sz="1400" dirty="0"/>
          </a:p>
        </p:txBody>
      </p:sp>
      <p:sp>
        <p:nvSpPr>
          <p:cNvPr id="10" name="Text 8"/>
          <p:cNvSpPr/>
          <p:nvPr/>
        </p:nvSpPr>
        <p:spPr>
          <a:xfrm>
            <a:off x="2103120" y="2331720"/>
            <a:ext cx="2194560" cy="274320"/>
          </a:xfrm>
          <a:prstGeom prst="rect">
            <a:avLst/>
          </a:prstGeom>
          <a:noFill/>
          <a:ln/>
        </p:spPr>
        <p:txBody>
          <a:bodyPr wrap="square" lIns="0" tIns="0" rIns="0" bIns="0" rtlCol="0" anchor="ctr"/>
          <a:lstStyle/>
          <a:p>
            <a:pPr marL="0" indent="0">
              <a:buNone/>
            </a:pPr>
            <a:r>
              <a:rPr lang="en-US" sz="1200" b="1" dirty="0">
                <a:solidFill>
                  <a:srgbClr val="065A82"/>
                </a:solidFill>
                <a:latin typeface="Georgia" pitchFamily="34" charset="0"/>
                <a:ea typeface="Georgia" pitchFamily="34" charset="-122"/>
                <a:cs typeface="Georgia" pitchFamily="34" charset="-120"/>
              </a:rPr>
              <a:t>Sample Function</a:t>
            </a:r>
            <a:endParaRPr lang="en-US" sz="1200" dirty="0"/>
          </a:p>
        </p:txBody>
      </p:sp>
      <p:sp>
        <p:nvSpPr>
          <p:cNvPr id="11" name="Text 9"/>
          <p:cNvSpPr/>
          <p:nvPr/>
        </p:nvSpPr>
        <p:spPr>
          <a:xfrm>
            <a:off x="685800" y="2651760"/>
            <a:ext cx="3657600" cy="73152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How many training samples you need. Depends on your desired accuracy ε and confidence δ. Smaller ε or δ means more samples.</a:t>
            </a:r>
            <a:endParaRPr lang="en-US" sz="1100" dirty="0"/>
          </a:p>
        </p:txBody>
      </p:sp>
      <p:sp>
        <p:nvSpPr>
          <p:cNvPr id="12" name="Shape 10"/>
          <p:cNvSpPr/>
          <p:nvPr/>
        </p:nvSpPr>
        <p:spPr>
          <a:xfrm>
            <a:off x="4800600" y="2286000"/>
            <a:ext cx="4069080" cy="1143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3" name="Shape 11"/>
          <p:cNvSpPr/>
          <p:nvPr/>
        </p:nvSpPr>
        <p:spPr>
          <a:xfrm>
            <a:off x="4800600" y="2286000"/>
            <a:ext cx="54864" cy="1143000"/>
          </a:xfrm>
          <a:prstGeom prst="rect">
            <a:avLst/>
          </a:prstGeom>
          <a:solidFill>
            <a:srgbClr val="1C7293"/>
          </a:solidFill>
          <a:ln/>
        </p:spPr>
        <p:txBody>
          <a:bodyPr/>
          <a:lstStyle/>
          <a:p>
            <a:endParaRPr lang="en-US"/>
          </a:p>
        </p:txBody>
      </p:sp>
      <p:sp>
        <p:nvSpPr>
          <p:cNvPr id="14" name="Text 12"/>
          <p:cNvSpPr/>
          <p:nvPr/>
        </p:nvSpPr>
        <p:spPr>
          <a:xfrm>
            <a:off x="5029200" y="2331720"/>
            <a:ext cx="1371600" cy="274320"/>
          </a:xfrm>
          <a:prstGeom prst="rect">
            <a:avLst/>
          </a:prstGeom>
          <a:noFill/>
          <a:ln/>
        </p:spPr>
        <p:txBody>
          <a:bodyPr wrap="square" lIns="0" tIns="0" rIns="0" bIns="0" rtlCol="0" anchor="ctr"/>
          <a:lstStyle/>
          <a:p>
            <a:pPr marL="0" indent="0">
              <a:buNone/>
            </a:pPr>
            <a:r>
              <a:rPr lang="en-US" sz="1400" b="1" dirty="0">
                <a:solidFill>
                  <a:srgbClr val="1C7293"/>
                </a:solidFill>
                <a:latin typeface="Consolas" pitchFamily="34" charset="0"/>
                <a:ea typeface="Consolas" pitchFamily="34" charset="-122"/>
                <a:cs typeface="Consolas" pitchFamily="34" charset="-120"/>
              </a:rPr>
              <a:t>Realizable D</a:t>
            </a:r>
            <a:endParaRPr lang="en-US" sz="1400" dirty="0"/>
          </a:p>
        </p:txBody>
      </p:sp>
      <p:sp>
        <p:nvSpPr>
          <p:cNvPr id="15" name="Text 13"/>
          <p:cNvSpPr/>
          <p:nvPr/>
        </p:nvSpPr>
        <p:spPr>
          <a:xfrm>
            <a:off x="6446520" y="2331720"/>
            <a:ext cx="2194560" cy="274320"/>
          </a:xfrm>
          <a:prstGeom prst="rect">
            <a:avLst/>
          </a:prstGeom>
          <a:noFill/>
          <a:ln/>
        </p:spPr>
        <p:txBody>
          <a:bodyPr wrap="square" lIns="0" tIns="0" rIns="0" bIns="0" rtlCol="0" anchor="ctr"/>
          <a:lstStyle/>
          <a:p>
            <a:pPr marL="0" indent="0">
              <a:buNone/>
            </a:pPr>
            <a:r>
              <a:rPr lang="en-US" sz="1200" b="1" dirty="0">
                <a:solidFill>
                  <a:srgbClr val="1C7293"/>
                </a:solidFill>
                <a:latin typeface="Georgia" pitchFamily="34" charset="0"/>
                <a:ea typeface="Georgia" pitchFamily="34" charset="-122"/>
                <a:cs typeface="Georgia" pitchFamily="34" charset="-120"/>
              </a:rPr>
              <a:t>Realizability</a:t>
            </a:r>
            <a:endParaRPr lang="en-US" sz="1200" dirty="0"/>
          </a:p>
        </p:txBody>
      </p:sp>
      <p:sp>
        <p:nvSpPr>
          <p:cNvPr id="16" name="Text 14"/>
          <p:cNvSpPr/>
          <p:nvPr/>
        </p:nvSpPr>
        <p:spPr>
          <a:xfrm>
            <a:off x="5029200" y="2651760"/>
            <a:ext cx="3657600" cy="73152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There EXISTS some h* ∈ H with Pr[h*(x) = y] = 1. The true labeling is IN H. This is the “best case” assumption.</a:t>
            </a:r>
            <a:endParaRPr lang="en-US" sz="1100" dirty="0"/>
          </a:p>
        </p:txBody>
      </p:sp>
      <p:sp>
        <p:nvSpPr>
          <p:cNvPr id="17" name="Shape 15"/>
          <p:cNvSpPr/>
          <p:nvPr/>
        </p:nvSpPr>
        <p:spPr>
          <a:xfrm>
            <a:off x="457200" y="3611880"/>
            <a:ext cx="4069080" cy="1143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8" name="Shape 16"/>
          <p:cNvSpPr/>
          <p:nvPr/>
        </p:nvSpPr>
        <p:spPr>
          <a:xfrm>
            <a:off x="457200" y="3611880"/>
            <a:ext cx="54864" cy="1143000"/>
          </a:xfrm>
          <a:prstGeom prst="rect">
            <a:avLst/>
          </a:prstGeom>
          <a:solidFill>
            <a:srgbClr val="E85D04"/>
          </a:solidFill>
          <a:ln/>
        </p:spPr>
        <p:txBody>
          <a:bodyPr/>
          <a:lstStyle/>
          <a:p>
            <a:endParaRPr lang="en-US"/>
          </a:p>
        </p:txBody>
      </p:sp>
      <p:sp>
        <p:nvSpPr>
          <p:cNvPr id="19" name="Text 17"/>
          <p:cNvSpPr/>
          <p:nvPr/>
        </p:nvSpPr>
        <p:spPr>
          <a:xfrm>
            <a:off x="685800" y="3657600"/>
            <a:ext cx="1371600" cy="274320"/>
          </a:xfrm>
          <a:prstGeom prst="rect">
            <a:avLst/>
          </a:prstGeom>
          <a:noFill/>
          <a:ln/>
        </p:spPr>
        <p:txBody>
          <a:bodyPr wrap="square" lIns="0" tIns="0" rIns="0" bIns="0" rtlCol="0" anchor="ctr"/>
          <a:lstStyle/>
          <a:p>
            <a:pPr marL="0" indent="0">
              <a:buNone/>
            </a:pPr>
            <a:r>
              <a:rPr lang="en-US" sz="1400" b="1" dirty="0">
                <a:solidFill>
                  <a:srgbClr val="E85D04"/>
                </a:solidFill>
                <a:latin typeface="Consolas" pitchFamily="34" charset="0"/>
                <a:ea typeface="Consolas" pitchFamily="34" charset="-122"/>
                <a:cs typeface="Consolas" pitchFamily="34" charset="-120"/>
              </a:rPr>
              <a:t>L_D(A(S)) ≤ ε</a:t>
            </a:r>
            <a:endParaRPr lang="en-US" sz="1400" dirty="0"/>
          </a:p>
        </p:txBody>
      </p:sp>
      <p:sp>
        <p:nvSpPr>
          <p:cNvPr id="20" name="Text 18"/>
          <p:cNvSpPr/>
          <p:nvPr/>
        </p:nvSpPr>
        <p:spPr>
          <a:xfrm>
            <a:off x="2103120" y="3657600"/>
            <a:ext cx="2194560" cy="274320"/>
          </a:xfrm>
          <a:prstGeom prst="rect">
            <a:avLst/>
          </a:prstGeom>
          <a:noFill/>
          <a:ln/>
        </p:spPr>
        <p:txBody>
          <a:bodyPr wrap="square" lIns="0" tIns="0" rIns="0" bIns="0" rtlCol="0" anchor="ctr"/>
          <a:lstStyle/>
          <a:p>
            <a:pPr marL="0" indent="0">
              <a:buNone/>
            </a:pPr>
            <a:r>
              <a:rPr lang="en-US" sz="1200" b="1" dirty="0">
                <a:solidFill>
                  <a:srgbClr val="E85D04"/>
                </a:solidFill>
                <a:latin typeface="Georgia" pitchFamily="34" charset="0"/>
                <a:ea typeface="Georgia" pitchFamily="34" charset="-122"/>
                <a:cs typeface="Georgia" pitchFamily="34" charset="-120"/>
              </a:rPr>
              <a:t>Accuracy (ε)</a:t>
            </a:r>
            <a:endParaRPr lang="en-US" sz="1200" dirty="0"/>
          </a:p>
        </p:txBody>
      </p:sp>
      <p:sp>
        <p:nvSpPr>
          <p:cNvPr id="21" name="Text 19"/>
          <p:cNvSpPr/>
          <p:nvPr/>
        </p:nvSpPr>
        <p:spPr>
          <a:xfrm>
            <a:off x="685800" y="3977640"/>
            <a:ext cx="3657600" cy="73152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The learner’s output has true error at most ε. Approximately correct — we tolerate small error. ε = 0.01 means 99% accurate.</a:t>
            </a:r>
            <a:endParaRPr lang="en-US" sz="1100" dirty="0"/>
          </a:p>
        </p:txBody>
      </p:sp>
      <p:sp>
        <p:nvSpPr>
          <p:cNvPr id="22" name="Shape 20"/>
          <p:cNvSpPr/>
          <p:nvPr/>
        </p:nvSpPr>
        <p:spPr>
          <a:xfrm>
            <a:off x="4800600" y="3611880"/>
            <a:ext cx="4069080" cy="1143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3" name="Shape 21"/>
          <p:cNvSpPr/>
          <p:nvPr/>
        </p:nvSpPr>
        <p:spPr>
          <a:xfrm>
            <a:off x="4800600" y="3611880"/>
            <a:ext cx="54864" cy="1143000"/>
          </a:xfrm>
          <a:prstGeom prst="rect">
            <a:avLst/>
          </a:prstGeom>
          <a:solidFill>
            <a:srgbClr val="2D6A4F"/>
          </a:solidFill>
          <a:ln/>
        </p:spPr>
        <p:txBody>
          <a:bodyPr/>
          <a:lstStyle/>
          <a:p>
            <a:endParaRPr lang="en-US"/>
          </a:p>
        </p:txBody>
      </p:sp>
      <p:sp>
        <p:nvSpPr>
          <p:cNvPr id="24" name="Text 22"/>
          <p:cNvSpPr/>
          <p:nvPr/>
        </p:nvSpPr>
        <p:spPr>
          <a:xfrm>
            <a:off x="5029200" y="3657600"/>
            <a:ext cx="1371600" cy="274320"/>
          </a:xfrm>
          <a:prstGeom prst="rect">
            <a:avLst/>
          </a:prstGeom>
          <a:noFill/>
          <a:ln/>
        </p:spPr>
        <p:txBody>
          <a:bodyPr wrap="square" lIns="0" tIns="0" rIns="0" bIns="0" rtlCol="0" anchor="ctr"/>
          <a:lstStyle/>
          <a:p>
            <a:pPr marL="0" indent="0">
              <a:buNone/>
            </a:pPr>
            <a:r>
              <a:rPr lang="en-US" sz="1400" b="1" dirty="0">
                <a:solidFill>
                  <a:srgbClr val="2D6A4F"/>
                </a:solidFill>
                <a:latin typeface="Consolas" pitchFamily="34" charset="0"/>
                <a:ea typeface="Consolas" pitchFamily="34" charset="-122"/>
                <a:cs typeface="Consolas" pitchFamily="34" charset="-120"/>
              </a:rPr>
              <a:t>Pr[·] ≥ 1−δ</a:t>
            </a:r>
            <a:endParaRPr lang="en-US" sz="1400" dirty="0"/>
          </a:p>
        </p:txBody>
      </p:sp>
      <p:sp>
        <p:nvSpPr>
          <p:cNvPr id="25" name="Text 23"/>
          <p:cNvSpPr/>
          <p:nvPr/>
        </p:nvSpPr>
        <p:spPr>
          <a:xfrm>
            <a:off x="6446520" y="3657600"/>
            <a:ext cx="2194560" cy="274320"/>
          </a:xfrm>
          <a:prstGeom prst="rect">
            <a:avLst/>
          </a:prstGeom>
          <a:noFill/>
          <a:ln/>
        </p:spPr>
        <p:txBody>
          <a:bodyPr wrap="square" lIns="0" tIns="0" rIns="0" bIns="0" rtlCol="0" anchor="ctr"/>
          <a:lstStyle/>
          <a:p>
            <a:pPr marL="0" indent="0">
              <a:buNone/>
            </a:pPr>
            <a:r>
              <a:rPr lang="en-US" sz="1200" b="1" dirty="0">
                <a:solidFill>
                  <a:srgbClr val="2D6A4F"/>
                </a:solidFill>
                <a:latin typeface="Georgia" pitchFamily="34" charset="0"/>
                <a:ea typeface="Georgia" pitchFamily="34" charset="-122"/>
                <a:cs typeface="Georgia" pitchFamily="34" charset="-120"/>
              </a:rPr>
              <a:t>Confidence (δ)</a:t>
            </a:r>
            <a:endParaRPr lang="en-US" sz="1200" dirty="0"/>
          </a:p>
        </p:txBody>
      </p:sp>
      <p:sp>
        <p:nvSpPr>
          <p:cNvPr id="26" name="Text 24"/>
          <p:cNvSpPr/>
          <p:nvPr/>
        </p:nvSpPr>
        <p:spPr>
          <a:xfrm>
            <a:off x="5029200" y="3977640"/>
            <a:ext cx="3657600" cy="73152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This holds with high probability over the random training set. Probably correct — we tolerate rare failure. δ = 0.05 means 95% confident.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ERM: The Gold Standard for Binary</a:t>
            </a:r>
            <a:endParaRPr lang="en-US" sz="2400" dirty="0"/>
          </a:p>
        </p:txBody>
      </p:sp>
      <p:sp>
        <p:nvSpPr>
          <p:cNvPr id="4" name="Shape 2"/>
          <p:cNvSpPr/>
          <p:nvPr/>
        </p:nvSpPr>
        <p:spPr>
          <a:xfrm>
            <a:off x="457200" y="1005840"/>
            <a:ext cx="8229600" cy="822960"/>
          </a:xfrm>
          <a:prstGeom prst="rect">
            <a:avLst/>
          </a:prstGeom>
          <a:solidFill>
            <a:srgbClr val="E8F0FE"/>
          </a:solidFill>
          <a:ln w="19050">
            <a:solidFill>
              <a:srgbClr val="1C7293"/>
            </a:solidFill>
            <a:prstDash val="solid"/>
          </a:ln>
        </p:spPr>
        <p:txBody>
          <a:bodyPr/>
          <a:lstStyle/>
          <a:p>
            <a:endParaRPr lang="en-US"/>
          </a:p>
        </p:txBody>
      </p:sp>
      <p:sp>
        <p:nvSpPr>
          <p:cNvPr id="5" name="Text 3"/>
          <p:cNvSpPr/>
          <p:nvPr/>
        </p:nvSpPr>
        <p:spPr>
          <a:xfrm>
            <a:off x="640080" y="1024128"/>
            <a:ext cx="4572000" cy="274320"/>
          </a:xfrm>
          <a:prstGeom prst="rect">
            <a:avLst/>
          </a:prstGeom>
          <a:noFill/>
          <a:ln/>
        </p:spPr>
        <p:txBody>
          <a:bodyPr wrap="square" lIns="0" tIns="0" rIns="0" bIns="0" rtlCol="0" anchor="ctr"/>
          <a:lstStyle/>
          <a:p>
            <a:pPr marL="0" indent="0">
              <a:buNone/>
            </a:pPr>
            <a:r>
              <a:rPr lang="en-US" sz="1400" b="1" dirty="0">
                <a:solidFill>
                  <a:srgbClr val="065A82"/>
                </a:solidFill>
                <a:latin typeface="Georgia" pitchFamily="34" charset="0"/>
                <a:ea typeface="Georgia" pitchFamily="34" charset="-122"/>
                <a:cs typeface="Georgia" pitchFamily="34" charset="-120"/>
              </a:rPr>
              <a:t>Empirical Risk Minimization (ERM)</a:t>
            </a:r>
            <a:endParaRPr lang="en-US" sz="1400" dirty="0"/>
          </a:p>
        </p:txBody>
      </p:sp>
      <p:sp>
        <p:nvSpPr>
          <p:cNvPr id="6" name="Text 4"/>
          <p:cNvSpPr/>
          <p:nvPr/>
        </p:nvSpPr>
        <p:spPr>
          <a:xfrm>
            <a:off x="640080" y="1298448"/>
            <a:ext cx="7772400" cy="457200"/>
          </a:xfrm>
          <a:prstGeom prst="rect">
            <a:avLst/>
          </a:prstGeom>
          <a:noFill/>
          <a:ln/>
        </p:spPr>
        <p:txBody>
          <a:bodyPr wrap="square" lIns="0" tIns="0" rIns="0" bIns="0" rtlCol="0" anchor="ctr"/>
          <a:lstStyle/>
          <a:p>
            <a:pPr marL="0" indent="0">
              <a:buNone/>
            </a:pPr>
            <a:r>
              <a:rPr lang="en-US" sz="1800" b="1" dirty="0">
                <a:solidFill>
                  <a:srgbClr val="1A1A2E"/>
                </a:solidFill>
                <a:latin typeface="Consolas" pitchFamily="34" charset="0"/>
                <a:ea typeface="Consolas" pitchFamily="34" charset="-122"/>
                <a:cs typeface="Consolas" pitchFamily="34" charset="-120"/>
              </a:rPr>
              <a:t>A_ERM(S)  ∈  argmin_{h ∈ H}  L_S(h)</a:t>
            </a:r>
            <a:r>
              <a:rPr lang="en-US" sz="1200" i="1" dirty="0">
                <a:solidFill>
                  <a:srgbClr val="6B7280"/>
                </a:solidFill>
                <a:latin typeface="Calibri" pitchFamily="34" charset="0"/>
                <a:ea typeface="Calibri" pitchFamily="34" charset="-122"/>
                <a:cs typeface="Calibri" pitchFamily="34" charset="-120"/>
              </a:rPr>
              <a:t>     “Pick any h ∈ H with zero training error”</a:t>
            </a:r>
            <a:endParaRPr lang="en-US" sz="1800" dirty="0"/>
          </a:p>
        </p:txBody>
      </p:sp>
      <p:sp>
        <p:nvSpPr>
          <p:cNvPr id="7" name="Shape 5"/>
          <p:cNvSpPr/>
          <p:nvPr/>
        </p:nvSpPr>
        <p:spPr>
          <a:xfrm>
            <a:off x="457200" y="2057400"/>
            <a:ext cx="2560320" cy="9144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8" name="Shape 6"/>
          <p:cNvSpPr/>
          <p:nvPr/>
        </p:nvSpPr>
        <p:spPr>
          <a:xfrm>
            <a:off x="457200" y="2057400"/>
            <a:ext cx="54864" cy="914400"/>
          </a:xfrm>
          <a:prstGeom prst="rect">
            <a:avLst/>
          </a:prstGeom>
          <a:solidFill>
            <a:srgbClr val="065A82"/>
          </a:solidFill>
          <a:ln/>
        </p:spPr>
        <p:txBody>
          <a:bodyPr/>
          <a:lstStyle/>
          <a:p>
            <a:endParaRPr lang="en-US"/>
          </a:p>
        </p:txBody>
      </p:sp>
      <p:sp>
        <p:nvSpPr>
          <p:cNvPr id="9" name="Text 7"/>
          <p:cNvSpPr/>
          <p:nvPr/>
        </p:nvSpPr>
        <p:spPr>
          <a:xfrm>
            <a:off x="685800" y="2103120"/>
            <a:ext cx="2103120" cy="228600"/>
          </a:xfrm>
          <a:prstGeom prst="rect">
            <a:avLst/>
          </a:prstGeom>
          <a:noFill/>
          <a:ln/>
        </p:spPr>
        <p:txBody>
          <a:bodyPr wrap="square" lIns="0" tIns="0" rIns="0" bIns="0" rtlCol="0" anchor="ctr"/>
          <a:lstStyle/>
          <a:p>
            <a:pPr marL="0" indent="0">
              <a:buNone/>
            </a:pPr>
            <a:r>
              <a:rPr lang="en-US" sz="1200" b="1" dirty="0">
                <a:solidFill>
                  <a:srgbClr val="065A82"/>
                </a:solidFill>
                <a:latin typeface="Consolas" pitchFamily="34" charset="0"/>
                <a:ea typeface="Consolas" pitchFamily="34" charset="-122"/>
                <a:cs typeface="Consolas" pitchFamily="34" charset="-120"/>
              </a:rPr>
              <a:t>argmin_{h ∈ H}</a:t>
            </a:r>
            <a:endParaRPr lang="en-US" sz="1200" dirty="0"/>
          </a:p>
        </p:txBody>
      </p:sp>
      <p:sp>
        <p:nvSpPr>
          <p:cNvPr id="10" name="Text 8"/>
          <p:cNvSpPr/>
          <p:nvPr/>
        </p:nvSpPr>
        <p:spPr>
          <a:xfrm>
            <a:off x="685800" y="2377440"/>
            <a:ext cx="2103120" cy="50292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Search ONLY within H.</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This makes ERM proper: output is always in H.</a:t>
            </a:r>
            <a:endParaRPr lang="en-US" sz="1100" dirty="0"/>
          </a:p>
        </p:txBody>
      </p:sp>
      <p:sp>
        <p:nvSpPr>
          <p:cNvPr id="11" name="Shape 9"/>
          <p:cNvSpPr/>
          <p:nvPr/>
        </p:nvSpPr>
        <p:spPr>
          <a:xfrm>
            <a:off x="3291840" y="2057400"/>
            <a:ext cx="2560320" cy="9144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2" name="Shape 10"/>
          <p:cNvSpPr/>
          <p:nvPr/>
        </p:nvSpPr>
        <p:spPr>
          <a:xfrm>
            <a:off x="3291840" y="2057400"/>
            <a:ext cx="54864" cy="914400"/>
          </a:xfrm>
          <a:prstGeom prst="rect">
            <a:avLst/>
          </a:prstGeom>
          <a:solidFill>
            <a:srgbClr val="1C7293"/>
          </a:solidFill>
          <a:ln/>
        </p:spPr>
        <p:txBody>
          <a:bodyPr/>
          <a:lstStyle/>
          <a:p>
            <a:endParaRPr lang="en-US"/>
          </a:p>
        </p:txBody>
      </p:sp>
      <p:sp>
        <p:nvSpPr>
          <p:cNvPr id="13" name="Text 11"/>
          <p:cNvSpPr/>
          <p:nvPr/>
        </p:nvSpPr>
        <p:spPr>
          <a:xfrm>
            <a:off x="3520440" y="2103120"/>
            <a:ext cx="2103120" cy="228600"/>
          </a:xfrm>
          <a:prstGeom prst="rect">
            <a:avLst/>
          </a:prstGeom>
          <a:noFill/>
          <a:ln/>
        </p:spPr>
        <p:txBody>
          <a:bodyPr wrap="square" lIns="0" tIns="0" rIns="0" bIns="0" rtlCol="0" anchor="ctr"/>
          <a:lstStyle/>
          <a:p>
            <a:pPr marL="0" indent="0">
              <a:buNone/>
            </a:pPr>
            <a:r>
              <a:rPr lang="en-US" sz="1200" b="1" dirty="0">
                <a:solidFill>
                  <a:srgbClr val="1C7293"/>
                </a:solidFill>
                <a:latin typeface="Consolas" pitchFamily="34" charset="0"/>
                <a:ea typeface="Consolas" pitchFamily="34" charset="-122"/>
                <a:cs typeface="Consolas" pitchFamily="34" charset="-120"/>
              </a:rPr>
              <a:t>L_S(h)</a:t>
            </a:r>
            <a:endParaRPr lang="en-US" sz="1200" dirty="0"/>
          </a:p>
        </p:txBody>
      </p:sp>
      <p:sp>
        <p:nvSpPr>
          <p:cNvPr id="14" name="Text 12"/>
          <p:cNvSpPr/>
          <p:nvPr/>
        </p:nvSpPr>
        <p:spPr>
          <a:xfrm>
            <a:off x="3520440" y="2377440"/>
            <a:ext cx="2103120" cy="50292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Minimize training error.</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With realizability, some h achieves L_S = 0.</a:t>
            </a:r>
            <a:endParaRPr lang="en-US" sz="1100" dirty="0"/>
          </a:p>
        </p:txBody>
      </p:sp>
      <p:sp>
        <p:nvSpPr>
          <p:cNvPr id="15" name="Shape 13"/>
          <p:cNvSpPr/>
          <p:nvPr/>
        </p:nvSpPr>
        <p:spPr>
          <a:xfrm>
            <a:off x="6126480" y="2057400"/>
            <a:ext cx="2560320" cy="9144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6" name="Shape 14"/>
          <p:cNvSpPr/>
          <p:nvPr/>
        </p:nvSpPr>
        <p:spPr>
          <a:xfrm>
            <a:off x="6126480" y="2057400"/>
            <a:ext cx="54864" cy="914400"/>
          </a:xfrm>
          <a:prstGeom prst="rect">
            <a:avLst/>
          </a:prstGeom>
          <a:solidFill>
            <a:srgbClr val="2D6A4F"/>
          </a:solidFill>
          <a:ln/>
        </p:spPr>
        <p:txBody>
          <a:bodyPr/>
          <a:lstStyle/>
          <a:p>
            <a:endParaRPr lang="en-US"/>
          </a:p>
        </p:txBody>
      </p:sp>
      <p:sp>
        <p:nvSpPr>
          <p:cNvPr id="17" name="Text 15"/>
          <p:cNvSpPr/>
          <p:nvPr/>
        </p:nvSpPr>
        <p:spPr>
          <a:xfrm>
            <a:off x="6355080" y="2103120"/>
            <a:ext cx="2103120" cy="228600"/>
          </a:xfrm>
          <a:prstGeom prst="rect">
            <a:avLst/>
          </a:prstGeom>
          <a:noFill/>
          <a:ln/>
        </p:spPr>
        <p:txBody>
          <a:bodyPr wrap="square" lIns="0" tIns="0" rIns="0" bIns="0" rtlCol="0" anchor="ctr"/>
          <a:lstStyle/>
          <a:p>
            <a:pPr marL="0" indent="0">
              <a:buNone/>
            </a:pPr>
            <a:r>
              <a:rPr lang="en-US" sz="1200" b="1" dirty="0">
                <a:solidFill>
                  <a:srgbClr val="2D6A4F"/>
                </a:solidFill>
                <a:latin typeface="Georgia" pitchFamily="34" charset="0"/>
                <a:ea typeface="Georgia" pitchFamily="34" charset="-122"/>
                <a:cs typeface="Georgia" pitchFamily="34" charset="-120"/>
              </a:rPr>
              <a:t>Binary: Works!</a:t>
            </a:r>
            <a:endParaRPr lang="en-US" sz="1200" dirty="0"/>
          </a:p>
        </p:txBody>
      </p:sp>
      <p:sp>
        <p:nvSpPr>
          <p:cNvPr id="18" name="Text 16"/>
          <p:cNvSpPr/>
          <p:nvPr/>
        </p:nvSpPr>
        <p:spPr>
          <a:xfrm>
            <a:off x="6355080" y="2377440"/>
            <a:ext cx="2103120" cy="50292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Finite VC-dim ⇒ ERM learns.</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Nearly optimal sample complexity.</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No need for anything more complex.</a:t>
            </a:r>
            <a:endParaRPr lang="en-US" sz="1100" dirty="0"/>
          </a:p>
        </p:txBody>
      </p:sp>
      <p:sp>
        <p:nvSpPr>
          <p:cNvPr id="19" name="Shape 17"/>
          <p:cNvSpPr/>
          <p:nvPr/>
        </p:nvSpPr>
        <p:spPr>
          <a:xfrm>
            <a:off x="457200" y="3200400"/>
            <a:ext cx="8229600" cy="16916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0" name="Shape 18"/>
          <p:cNvSpPr/>
          <p:nvPr/>
        </p:nvSpPr>
        <p:spPr>
          <a:xfrm>
            <a:off x="457200" y="3200400"/>
            <a:ext cx="54864" cy="1691640"/>
          </a:xfrm>
          <a:prstGeom prst="rect">
            <a:avLst/>
          </a:prstGeom>
          <a:solidFill>
            <a:srgbClr val="D62828"/>
          </a:solidFill>
          <a:ln/>
        </p:spPr>
        <p:txBody>
          <a:bodyPr/>
          <a:lstStyle/>
          <a:p>
            <a:endParaRPr lang="en-US"/>
          </a:p>
        </p:txBody>
      </p:sp>
      <p:sp>
        <p:nvSpPr>
          <p:cNvPr id="21" name="Text 19"/>
          <p:cNvSpPr/>
          <p:nvPr/>
        </p:nvSpPr>
        <p:spPr>
          <a:xfrm>
            <a:off x="731520" y="3246120"/>
            <a:ext cx="7772400" cy="274320"/>
          </a:xfrm>
          <a:prstGeom prst="rect">
            <a:avLst/>
          </a:prstGeom>
          <a:noFill/>
          <a:ln/>
        </p:spPr>
        <p:txBody>
          <a:bodyPr wrap="square" lIns="0" tIns="0" rIns="0" bIns="0" rtlCol="0" anchor="ctr"/>
          <a:lstStyle/>
          <a:p>
            <a:pPr marL="0" indent="0">
              <a:buNone/>
            </a:pPr>
            <a:r>
              <a:rPr lang="en-US" sz="1400" b="1" dirty="0">
                <a:solidFill>
                  <a:srgbClr val="D62828"/>
                </a:solidFill>
                <a:latin typeface="Georgia" pitchFamily="34" charset="0"/>
                <a:ea typeface="Georgia" pitchFamily="34" charset="-122"/>
                <a:cs typeface="Georgia" pitchFamily="34" charset="-120"/>
              </a:rPr>
              <a:t>Why ERM FAILS for Multiclass (Daniely &amp; Shalev-Shwartz, 2014)</a:t>
            </a:r>
            <a:endParaRPr lang="en-US" sz="1400" dirty="0"/>
          </a:p>
        </p:txBody>
      </p:sp>
      <p:sp>
        <p:nvSpPr>
          <p:cNvPr id="22" name="Text 20"/>
          <p:cNvSpPr/>
          <p:nvPr/>
        </p:nvSpPr>
        <p:spPr>
          <a:xfrm>
            <a:off x="755904" y="4038600"/>
            <a:ext cx="7900416" cy="36576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Key Theorem: </a:t>
            </a:r>
            <a:r>
              <a:rPr lang="en-US" sz="1200" dirty="0">
                <a:solidFill>
                  <a:srgbClr val="1A1A2E"/>
                </a:solidFill>
                <a:latin typeface="Calibri" pitchFamily="34" charset="0"/>
                <a:ea typeface="Calibri" pitchFamily="34" charset="-122"/>
                <a:cs typeface="Calibri" pitchFamily="34" charset="-120"/>
              </a:rPr>
              <a:t>There exist learnable multiclass classes H where EVERY learner must be improper.</a:t>
            </a:r>
            <a:br>
              <a:rPr lang="en-US" sz="1200" dirty="0">
                <a:solidFill>
                  <a:srgbClr val="1A1A2E"/>
                </a:solidFill>
                <a:latin typeface="Calibri" pitchFamily="34" charset="0"/>
                <a:ea typeface="Calibri" pitchFamily="34" charset="-122"/>
                <a:cs typeface="Calibri" pitchFamily="34" charset="-120"/>
              </a:rPr>
            </a:br>
            <a:endParaRPr lang="en-US" sz="1200" dirty="0"/>
          </a:p>
          <a:p>
            <a:pPr marL="0" indent="0">
              <a:buNone/>
            </a:pPr>
            <a:r>
              <a:rPr lang="en-US" sz="1200" b="1" dirty="0">
                <a:solidFill>
                  <a:srgbClr val="1A1A2E"/>
                </a:solidFill>
                <a:latin typeface="Calibri" pitchFamily="34" charset="0"/>
                <a:ea typeface="Calibri" pitchFamily="34" charset="-122"/>
                <a:cs typeface="Calibri" pitchFamily="34" charset="-120"/>
              </a:rPr>
              <a:t>What “improper” means:</a:t>
            </a:r>
            <a:r>
              <a:rPr lang="en-US" sz="1200" b="1" dirty="0"/>
              <a:t> </a:t>
            </a:r>
            <a:r>
              <a:rPr lang="en-US" sz="1200" dirty="0">
                <a:solidFill>
                  <a:srgbClr val="1A1A2E"/>
                </a:solidFill>
                <a:latin typeface="Calibri" pitchFamily="34" charset="0"/>
                <a:ea typeface="Calibri" pitchFamily="34" charset="-122"/>
                <a:cs typeface="Calibri" pitchFamily="34" charset="-120"/>
              </a:rPr>
              <a:t>The learner must sometimes output a function A(S) ∉ H. The prediction for some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test points cannot come from ANY single hypothesis in H. The learner must “invent” new functions.</a:t>
            </a:r>
            <a:endParaRPr lang="en-US" sz="1200" dirty="0"/>
          </a:p>
          <a:p>
            <a:pPr marL="0" indent="0">
              <a:buNone/>
            </a:pPr>
            <a:endParaRPr lang="en-US" sz="1200" dirty="0"/>
          </a:p>
          <a:p>
            <a:pPr marL="0" indent="0">
              <a:buNone/>
            </a:pPr>
            <a:r>
              <a:rPr lang="en-US" sz="1200" b="1" dirty="0">
                <a:solidFill>
                  <a:srgbClr val="1A1A2E"/>
                </a:solidFill>
                <a:latin typeface="Calibri" pitchFamily="34" charset="0"/>
                <a:ea typeface="Calibri" pitchFamily="34" charset="-122"/>
                <a:cs typeface="Calibri" pitchFamily="34" charset="-120"/>
              </a:rPr>
              <a:t>Why this kills ERM:</a:t>
            </a:r>
            <a:r>
              <a:rPr lang="en-US" sz="1200" b="1" dirty="0"/>
              <a:t> </a:t>
            </a:r>
            <a:r>
              <a:rPr lang="en-US" sz="1200" dirty="0">
                <a:solidFill>
                  <a:srgbClr val="1A1A2E"/>
                </a:solidFill>
                <a:latin typeface="Calibri" pitchFamily="34" charset="0"/>
                <a:ea typeface="Calibri" pitchFamily="34" charset="-122"/>
                <a:cs typeface="Calibri" pitchFamily="34" charset="-120"/>
              </a:rPr>
              <a:t>ERM searches argmin over H — it can ONLY output hypotheses from H. Since improper</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learning is necessary, ERM is structurally incapable of learning some multiclass problems.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The Progression: ERM → SRM → Local Regularization</a:t>
            </a:r>
            <a:endParaRPr lang="en-US" sz="2400" dirty="0"/>
          </a:p>
        </p:txBody>
      </p:sp>
      <p:sp>
        <p:nvSpPr>
          <p:cNvPr id="4" name="Shape 2"/>
          <p:cNvSpPr/>
          <p:nvPr/>
        </p:nvSpPr>
        <p:spPr>
          <a:xfrm>
            <a:off x="274320" y="1005840"/>
            <a:ext cx="2560320" cy="25603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274320" y="1005840"/>
            <a:ext cx="54864" cy="2560320"/>
          </a:xfrm>
          <a:prstGeom prst="rect">
            <a:avLst/>
          </a:prstGeom>
          <a:solidFill>
            <a:srgbClr val="D62828"/>
          </a:solidFill>
          <a:ln/>
        </p:spPr>
        <p:txBody>
          <a:bodyPr/>
          <a:lstStyle/>
          <a:p>
            <a:endParaRPr lang="en-US"/>
          </a:p>
        </p:txBody>
      </p:sp>
      <p:sp>
        <p:nvSpPr>
          <p:cNvPr id="6" name="Text 4"/>
          <p:cNvSpPr/>
          <p:nvPr/>
        </p:nvSpPr>
        <p:spPr>
          <a:xfrm>
            <a:off x="502920" y="1051560"/>
            <a:ext cx="2103120" cy="274320"/>
          </a:xfrm>
          <a:prstGeom prst="rect">
            <a:avLst/>
          </a:prstGeom>
          <a:noFill/>
          <a:ln/>
        </p:spPr>
        <p:txBody>
          <a:bodyPr wrap="square" lIns="0" tIns="0" rIns="0" bIns="0" rtlCol="0" anchor="ctr"/>
          <a:lstStyle/>
          <a:p>
            <a:pPr marL="0" indent="0">
              <a:buNone/>
            </a:pPr>
            <a:r>
              <a:rPr lang="en-US" sz="1400" b="1" dirty="0">
                <a:solidFill>
                  <a:srgbClr val="D62828"/>
                </a:solidFill>
                <a:latin typeface="Georgia" pitchFamily="34" charset="0"/>
                <a:ea typeface="Georgia" pitchFamily="34" charset="-122"/>
                <a:cs typeface="Georgia" pitchFamily="34" charset="-120"/>
              </a:rPr>
              <a:t>ERM</a:t>
            </a:r>
            <a:endParaRPr lang="en-US" sz="1400" dirty="0"/>
          </a:p>
        </p:txBody>
      </p:sp>
      <p:sp>
        <p:nvSpPr>
          <p:cNvPr id="7" name="Shape 5"/>
          <p:cNvSpPr/>
          <p:nvPr/>
        </p:nvSpPr>
        <p:spPr>
          <a:xfrm>
            <a:off x="457200" y="1371600"/>
            <a:ext cx="2194560" cy="502920"/>
          </a:xfrm>
          <a:prstGeom prst="rect">
            <a:avLst/>
          </a:prstGeom>
          <a:solidFill>
            <a:srgbClr val="FDE8E8"/>
          </a:solidFill>
          <a:ln w="12700">
            <a:solidFill>
              <a:srgbClr val="1C7293"/>
            </a:solidFill>
            <a:prstDash val="solid"/>
          </a:ln>
        </p:spPr>
        <p:txBody>
          <a:bodyPr/>
          <a:lstStyle/>
          <a:p>
            <a:endParaRPr lang="en-US"/>
          </a:p>
        </p:txBody>
      </p:sp>
      <p:sp>
        <p:nvSpPr>
          <p:cNvPr id="8" name="Text 6"/>
          <p:cNvSpPr/>
          <p:nvPr/>
        </p:nvSpPr>
        <p:spPr>
          <a:xfrm>
            <a:off x="594360" y="1417320"/>
            <a:ext cx="1920240" cy="411480"/>
          </a:xfrm>
          <a:prstGeom prst="rect">
            <a:avLst/>
          </a:prstGeom>
          <a:noFill/>
          <a:ln/>
        </p:spPr>
        <p:txBody>
          <a:bodyPr wrap="square" lIns="0" tIns="0" rIns="0" bIns="0" rtlCol="0" anchor="ctr"/>
          <a:lstStyle/>
          <a:p>
            <a:pPr marL="0" indent="0" algn="ctr">
              <a:buNone/>
            </a:pPr>
            <a:r>
              <a:rPr lang="en-US" sz="1400" dirty="0">
                <a:solidFill>
                  <a:srgbClr val="1A1A2E"/>
                </a:solidFill>
                <a:latin typeface="Consolas" pitchFamily="34" charset="0"/>
                <a:ea typeface="Consolas" pitchFamily="34" charset="-122"/>
                <a:cs typeface="Consolas" pitchFamily="34" charset="-120"/>
              </a:rPr>
              <a:t>argmin_{h∈H} L_S(h)</a:t>
            </a:r>
            <a:endParaRPr lang="en-US" sz="1400" dirty="0"/>
          </a:p>
        </p:txBody>
      </p:sp>
      <p:sp>
        <p:nvSpPr>
          <p:cNvPr id="9" name="Text 7"/>
          <p:cNvSpPr/>
          <p:nvPr/>
        </p:nvSpPr>
        <p:spPr>
          <a:xfrm>
            <a:off x="502920" y="1965960"/>
            <a:ext cx="2103120" cy="146304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No regularizer.</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Search only in H.</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Proper? </a:t>
            </a:r>
            <a:endParaRPr lang="en-US" sz="1100" dirty="0"/>
          </a:p>
          <a:p>
            <a:pPr marL="0" indent="0">
              <a:buNone/>
            </a:pPr>
            <a:r>
              <a:rPr lang="en-US" sz="1100" b="1" dirty="0">
                <a:solidFill>
                  <a:srgbClr val="2D6A4F"/>
                </a:solidFill>
                <a:latin typeface="Calibri" pitchFamily="34" charset="0"/>
                <a:ea typeface="Calibri" pitchFamily="34" charset="-122"/>
                <a:cs typeface="Calibri" pitchFamily="34" charset="-120"/>
              </a:rPr>
              <a:t>YES</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Binary? </a:t>
            </a:r>
            <a:endParaRPr lang="en-US" sz="1100" dirty="0"/>
          </a:p>
          <a:p>
            <a:pPr marL="0" indent="0">
              <a:buNone/>
            </a:pPr>
            <a:r>
              <a:rPr lang="en-US" sz="1100" b="1" dirty="0">
                <a:solidFill>
                  <a:srgbClr val="2D6A4F"/>
                </a:solidFill>
                <a:latin typeface="Calibri" pitchFamily="34" charset="0"/>
                <a:ea typeface="Calibri" pitchFamily="34" charset="-122"/>
                <a:cs typeface="Calibri" pitchFamily="34" charset="-120"/>
              </a:rPr>
              <a:t>WORKS</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Multiclass? </a:t>
            </a:r>
            <a:endParaRPr lang="en-US" sz="1100" dirty="0"/>
          </a:p>
          <a:p>
            <a:pPr marL="0" indent="0">
              <a:buNone/>
            </a:pPr>
            <a:r>
              <a:rPr lang="en-US" sz="1100" b="1" dirty="0">
                <a:solidFill>
                  <a:srgbClr val="D62828"/>
                </a:solidFill>
                <a:latin typeface="Calibri" pitchFamily="34" charset="0"/>
                <a:ea typeface="Calibri" pitchFamily="34" charset="-122"/>
                <a:cs typeface="Calibri" pitchFamily="34" charset="-120"/>
              </a:rPr>
              <a:t>FAILS</a:t>
            </a:r>
            <a:endParaRPr lang="en-US" sz="1100" dirty="0"/>
          </a:p>
        </p:txBody>
      </p:sp>
      <p:pic>
        <p:nvPicPr>
          <p:cNvPr id="10" name="Image 0" descr="preencoded.png"/>
          <p:cNvPicPr>
            <a:picLocks noChangeAspect="1"/>
          </p:cNvPicPr>
          <p:nvPr/>
        </p:nvPicPr>
        <p:blipFill>
          <a:blip r:embed="rId3"/>
          <a:stretch>
            <a:fillRect/>
          </a:stretch>
        </p:blipFill>
        <p:spPr>
          <a:xfrm>
            <a:off x="2971800" y="2011680"/>
            <a:ext cx="320040" cy="320040"/>
          </a:xfrm>
          <a:prstGeom prst="rect">
            <a:avLst/>
          </a:prstGeom>
        </p:spPr>
      </p:pic>
      <p:sp>
        <p:nvSpPr>
          <p:cNvPr id="11" name="Shape 8"/>
          <p:cNvSpPr/>
          <p:nvPr/>
        </p:nvSpPr>
        <p:spPr>
          <a:xfrm>
            <a:off x="3291840" y="1005840"/>
            <a:ext cx="2560320" cy="25603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2" name="Shape 9"/>
          <p:cNvSpPr/>
          <p:nvPr/>
        </p:nvSpPr>
        <p:spPr>
          <a:xfrm>
            <a:off x="3291840" y="1005840"/>
            <a:ext cx="54864" cy="2560320"/>
          </a:xfrm>
          <a:prstGeom prst="rect">
            <a:avLst/>
          </a:prstGeom>
          <a:solidFill>
            <a:srgbClr val="E85D04"/>
          </a:solidFill>
          <a:ln/>
        </p:spPr>
        <p:txBody>
          <a:bodyPr/>
          <a:lstStyle/>
          <a:p>
            <a:endParaRPr lang="en-US"/>
          </a:p>
        </p:txBody>
      </p:sp>
      <p:sp>
        <p:nvSpPr>
          <p:cNvPr id="13" name="Text 10"/>
          <p:cNvSpPr/>
          <p:nvPr/>
        </p:nvSpPr>
        <p:spPr>
          <a:xfrm>
            <a:off x="3520440" y="1051560"/>
            <a:ext cx="2103120" cy="274320"/>
          </a:xfrm>
          <a:prstGeom prst="rect">
            <a:avLst/>
          </a:prstGeom>
          <a:noFill/>
          <a:ln/>
        </p:spPr>
        <p:txBody>
          <a:bodyPr wrap="square" lIns="0" tIns="0" rIns="0" bIns="0" rtlCol="0" anchor="ctr"/>
          <a:lstStyle/>
          <a:p>
            <a:pPr marL="0" indent="0">
              <a:buNone/>
            </a:pPr>
            <a:r>
              <a:rPr lang="en-US" sz="1400" b="1" dirty="0">
                <a:solidFill>
                  <a:srgbClr val="E85D04"/>
                </a:solidFill>
                <a:latin typeface="Georgia" pitchFamily="34" charset="0"/>
                <a:ea typeface="Georgia" pitchFamily="34" charset="-122"/>
                <a:cs typeface="Georgia" pitchFamily="34" charset="-120"/>
              </a:rPr>
              <a:t>SRM</a:t>
            </a:r>
            <a:endParaRPr lang="en-US" sz="1400" dirty="0"/>
          </a:p>
        </p:txBody>
      </p:sp>
      <p:sp>
        <p:nvSpPr>
          <p:cNvPr id="14" name="Shape 11"/>
          <p:cNvSpPr/>
          <p:nvPr/>
        </p:nvSpPr>
        <p:spPr>
          <a:xfrm>
            <a:off x="3474720" y="1371600"/>
            <a:ext cx="2194560" cy="502920"/>
          </a:xfrm>
          <a:prstGeom prst="rect">
            <a:avLst/>
          </a:prstGeom>
          <a:solidFill>
            <a:srgbClr val="FFF3E0"/>
          </a:solidFill>
          <a:ln w="12700">
            <a:solidFill>
              <a:srgbClr val="1C7293"/>
            </a:solidFill>
            <a:prstDash val="solid"/>
          </a:ln>
        </p:spPr>
        <p:txBody>
          <a:bodyPr/>
          <a:lstStyle/>
          <a:p>
            <a:endParaRPr lang="en-US"/>
          </a:p>
        </p:txBody>
      </p:sp>
      <p:sp>
        <p:nvSpPr>
          <p:cNvPr id="15" name="Text 12"/>
          <p:cNvSpPr/>
          <p:nvPr/>
        </p:nvSpPr>
        <p:spPr>
          <a:xfrm>
            <a:off x="3611880" y="1417320"/>
            <a:ext cx="1920240" cy="411480"/>
          </a:xfrm>
          <a:prstGeom prst="rect">
            <a:avLst/>
          </a:prstGeom>
          <a:noFill/>
          <a:ln/>
        </p:spPr>
        <p:txBody>
          <a:bodyPr wrap="square" lIns="0" tIns="0" rIns="0" bIns="0" rtlCol="0" anchor="ctr"/>
          <a:lstStyle/>
          <a:p>
            <a:pPr marL="0" indent="0" algn="ctr">
              <a:buNone/>
            </a:pPr>
            <a:r>
              <a:rPr lang="en-US" sz="1400" dirty="0">
                <a:solidFill>
                  <a:srgbClr val="1A1A2E"/>
                </a:solidFill>
                <a:latin typeface="Consolas" pitchFamily="34" charset="0"/>
                <a:ea typeface="Consolas" pitchFamily="34" charset="-122"/>
                <a:cs typeface="Consolas" pitchFamily="34" charset="-120"/>
              </a:rPr>
              <a:t>argmin_{h∈H}</a:t>
            </a:r>
            <a:endParaRPr lang="en-US" sz="1400" dirty="0"/>
          </a:p>
          <a:p>
            <a:pPr marL="0" indent="0" algn="ctr">
              <a:buNone/>
            </a:pPr>
            <a:r>
              <a:rPr lang="en-US" sz="1400" dirty="0">
                <a:solidFill>
                  <a:srgbClr val="1A1A2E"/>
                </a:solidFill>
                <a:latin typeface="Consolas" pitchFamily="34" charset="0"/>
                <a:ea typeface="Consolas" pitchFamily="34" charset="-122"/>
                <a:cs typeface="Consolas" pitchFamily="34" charset="-120"/>
              </a:rPr>
              <a:t>L_S(h) + ψ(h)</a:t>
            </a:r>
            <a:endParaRPr lang="en-US" sz="1400" dirty="0"/>
          </a:p>
        </p:txBody>
      </p:sp>
      <p:sp>
        <p:nvSpPr>
          <p:cNvPr id="16" name="Text 13"/>
          <p:cNvSpPr/>
          <p:nvPr/>
        </p:nvSpPr>
        <p:spPr>
          <a:xfrm>
            <a:off x="3520440" y="1965960"/>
            <a:ext cx="2103120" cy="146304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Global regularizer ψ(h).</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Penalizes complex h.</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Proper? </a:t>
            </a:r>
            <a:endParaRPr lang="en-US" sz="1100" dirty="0"/>
          </a:p>
          <a:p>
            <a:pPr marL="0" indent="0">
              <a:buNone/>
            </a:pPr>
            <a:r>
              <a:rPr lang="en-US" sz="1100" b="1" dirty="0">
                <a:solidFill>
                  <a:srgbClr val="2D6A4F"/>
                </a:solidFill>
                <a:latin typeface="Calibri" pitchFamily="34" charset="0"/>
                <a:ea typeface="Calibri" pitchFamily="34" charset="-122"/>
                <a:cs typeface="Calibri" pitchFamily="34" charset="-120"/>
              </a:rPr>
              <a:t>YES</a:t>
            </a:r>
            <a:endParaRPr lang="en-US" sz="1100" dirty="0"/>
          </a:p>
          <a:p>
            <a:pPr marL="0" indent="0">
              <a:buNone/>
            </a:pPr>
            <a:r>
              <a:rPr lang="en-US" sz="1000" dirty="0">
                <a:solidFill>
                  <a:srgbClr val="6B7280"/>
                </a:solidFill>
                <a:latin typeface="Calibri" pitchFamily="34" charset="0"/>
                <a:ea typeface="Calibri" pitchFamily="34" charset="-122"/>
                <a:cs typeface="Calibri" pitchFamily="34" charset="-120"/>
              </a:rPr>
              <a:t>  (still searches in H)</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Binary? </a:t>
            </a:r>
            <a:endParaRPr lang="en-US" sz="1100" dirty="0"/>
          </a:p>
          <a:p>
            <a:pPr marL="0" indent="0">
              <a:buNone/>
            </a:pPr>
            <a:r>
              <a:rPr lang="en-US" sz="1100" b="1" dirty="0">
                <a:solidFill>
                  <a:srgbClr val="2D6A4F"/>
                </a:solidFill>
                <a:latin typeface="Calibri" pitchFamily="34" charset="0"/>
                <a:ea typeface="Calibri" pitchFamily="34" charset="-122"/>
                <a:cs typeface="Calibri" pitchFamily="34" charset="-120"/>
              </a:rPr>
              <a:t>WORKS</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Multiclass? </a:t>
            </a:r>
            <a:endParaRPr lang="en-US" sz="1100" dirty="0"/>
          </a:p>
          <a:p>
            <a:pPr marL="0" indent="0">
              <a:buNone/>
            </a:pPr>
            <a:r>
              <a:rPr lang="en-US" sz="1100" b="1" dirty="0">
                <a:solidFill>
                  <a:srgbClr val="D62828"/>
                </a:solidFill>
                <a:latin typeface="Calibri" pitchFamily="34" charset="0"/>
                <a:ea typeface="Calibri" pitchFamily="34" charset="-122"/>
                <a:cs typeface="Calibri" pitchFamily="34" charset="-120"/>
              </a:rPr>
              <a:t>FAILS</a:t>
            </a:r>
            <a:endParaRPr lang="en-US" sz="1100" dirty="0"/>
          </a:p>
        </p:txBody>
      </p:sp>
      <p:pic>
        <p:nvPicPr>
          <p:cNvPr id="17" name="Image 1" descr="preencoded.png"/>
          <p:cNvPicPr>
            <a:picLocks noChangeAspect="1"/>
          </p:cNvPicPr>
          <p:nvPr/>
        </p:nvPicPr>
        <p:blipFill>
          <a:blip r:embed="rId3"/>
          <a:stretch>
            <a:fillRect/>
          </a:stretch>
        </p:blipFill>
        <p:spPr>
          <a:xfrm>
            <a:off x="5989320" y="2011680"/>
            <a:ext cx="320040" cy="320040"/>
          </a:xfrm>
          <a:prstGeom prst="rect">
            <a:avLst/>
          </a:prstGeom>
        </p:spPr>
      </p:pic>
      <p:sp>
        <p:nvSpPr>
          <p:cNvPr id="18" name="Shape 14"/>
          <p:cNvSpPr/>
          <p:nvPr/>
        </p:nvSpPr>
        <p:spPr>
          <a:xfrm>
            <a:off x="6309360" y="1005840"/>
            <a:ext cx="2560320" cy="25603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9" name="Shape 15"/>
          <p:cNvSpPr/>
          <p:nvPr/>
        </p:nvSpPr>
        <p:spPr>
          <a:xfrm>
            <a:off x="6309360" y="1005840"/>
            <a:ext cx="54864" cy="2560320"/>
          </a:xfrm>
          <a:prstGeom prst="rect">
            <a:avLst/>
          </a:prstGeom>
          <a:solidFill>
            <a:srgbClr val="1C7293"/>
          </a:solidFill>
          <a:ln/>
        </p:spPr>
        <p:txBody>
          <a:bodyPr/>
          <a:lstStyle/>
          <a:p>
            <a:endParaRPr lang="en-US"/>
          </a:p>
        </p:txBody>
      </p:sp>
      <p:sp>
        <p:nvSpPr>
          <p:cNvPr id="20" name="Text 16"/>
          <p:cNvSpPr/>
          <p:nvPr/>
        </p:nvSpPr>
        <p:spPr>
          <a:xfrm>
            <a:off x="6537960" y="1051560"/>
            <a:ext cx="2103120" cy="274320"/>
          </a:xfrm>
          <a:prstGeom prst="rect">
            <a:avLst/>
          </a:prstGeom>
          <a:noFill/>
          <a:ln/>
        </p:spPr>
        <p:txBody>
          <a:bodyPr wrap="square" lIns="0" tIns="0" rIns="0" bIns="0" rtlCol="0" anchor="ctr"/>
          <a:lstStyle/>
          <a:p>
            <a:pPr marL="0" indent="0">
              <a:buNone/>
            </a:pPr>
            <a:r>
              <a:rPr lang="en-US" sz="1400" b="1" dirty="0">
                <a:solidFill>
                  <a:srgbClr val="1C7293"/>
                </a:solidFill>
                <a:latin typeface="Georgia" pitchFamily="34" charset="0"/>
                <a:ea typeface="Georgia" pitchFamily="34" charset="-122"/>
                <a:cs typeface="Georgia" pitchFamily="34" charset="-120"/>
              </a:rPr>
              <a:t>Local Reg</a:t>
            </a:r>
            <a:endParaRPr lang="en-US" sz="1400" dirty="0"/>
          </a:p>
        </p:txBody>
      </p:sp>
      <p:sp>
        <p:nvSpPr>
          <p:cNvPr id="21" name="Shape 17"/>
          <p:cNvSpPr/>
          <p:nvPr/>
        </p:nvSpPr>
        <p:spPr>
          <a:xfrm>
            <a:off x="6492240" y="1371600"/>
            <a:ext cx="2194560" cy="502920"/>
          </a:xfrm>
          <a:prstGeom prst="rect">
            <a:avLst/>
          </a:prstGeom>
          <a:solidFill>
            <a:srgbClr val="E8F0FE"/>
          </a:solidFill>
          <a:ln w="12700">
            <a:solidFill>
              <a:srgbClr val="1C7293"/>
            </a:solidFill>
            <a:prstDash val="solid"/>
          </a:ln>
        </p:spPr>
        <p:txBody>
          <a:bodyPr/>
          <a:lstStyle/>
          <a:p>
            <a:endParaRPr lang="en-US"/>
          </a:p>
        </p:txBody>
      </p:sp>
      <p:sp>
        <p:nvSpPr>
          <p:cNvPr id="22" name="Text 18"/>
          <p:cNvSpPr/>
          <p:nvPr/>
        </p:nvSpPr>
        <p:spPr>
          <a:xfrm>
            <a:off x="6629400" y="1417320"/>
            <a:ext cx="1920240" cy="411480"/>
          </a:xfrm>
          <a:prstGeom prst="rect">
            <a:avLst/>
          </a:prstGeom>
          <a:noFill/>
          <a:ln/>
        </p:spPr>
        <p:txBody>
          <a:bodyPr wrap="square" lIns="0" tIns="0" rIns="0" bIns="0" rtlCol="0" anchor="ctr"/>
          <a:lstStyle/>
          <a:p>
            <a:pPr marL="0" indent="0" algn="ctr">
              <a:buNone/>
            </a:pPr>
            <a:r>
              <a:rPr lang="en-US" sz="1400" dirty="0">
                <a:solidFill>
                  <a:srgbClr val="1A1A2E"/>
                </a:solidFill>
                <a:latin typeface="Consolas" pitchFamily="34" charset="0"/>
                <a:ea typeface="Consolas" pitchFamily="34" charset="-122"/>
                <a:cs typeface="Consolas" pitchFamily="34" charset="-120"/>
              </a:rPr>
              <a:t>argmin_{h∈L⁻¹_S(0)}</a:t>
            </a:r>
            <a:endParaRPr lang="en-US" sz="1400" dirty="0"/>
          </a:p>
          <a:p>
            <a:pPr marL="0" indent="0" algn="ctr">
              <a:buNone/>
            </a:pPr>
            <a:r>
              <a:rPr lang="en-US" sz="1400" dirty="0">
                <a:solidFill>
                  <a:srgbClr val="1A1A2E"/>
                </a:solidFill>
                <a:latin typeface="Consolas" pitchFamily="34" charset="0"/>
                <a:ea typeface="Consolas" pitchFamily="34" charset="-122"/>
                <a:cs typeface="Consolas" pitchFamily="34" charset="-120"/>
              </a:rPr>
              <a:t>ψ(h, x)</a:t>
            </a:r>
            <a:endParaRPr lang="en-US" sz="1400" dirty="0"/>
          </a:p>
        </p:txBody>
      </p:sp>
      <p:sp>
        <p:nvSpPr>
          <p:cNvPr id="23" name="Text 19"/>
          <p:cNvSpPr/>
          <p:nvPr/>
        </p:nvSpPr>
        <p:spPr>
          <a:xfrm>
            <a:off x="6537960" y="1965960"/>
            <a:ext cx="2103120" cy="146304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Local regularizer ψ(h,x).</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Depends on test point!</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Proper? </a:t>
            </a:r>
            <a:endParaRPr lang="en-US" sz="1100" dirty="0"/>
          </a:p>
          <a:p>
            <a:pPr marL="0" indent="0">
              <a:buNone/>
            </a:pPr>
            <a:r>
              <a:rPr lang="en-US" sz="1100" b="1" dirty="0">
                <a:solidFill>
                  <a:srgbClr val="1C7293"/>
                </a:solidFill>
                <a:latin typeface="Calibri" pitchFamily="34" charset="0"/>
                <a:ea typeface="Calibri" pitchFamily="34" charset="-122"/>
                <a:cs typeface="Calibri" pitchFamily="34" charset="-120"/>
              </a:rPr>
              <a:t>NO — Improper!</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Binary? </a:t>
            </a:r>
            <a:endParaRPr lang="en-US" sz="1100" dirty="0"/>
          </a:p>
          <a:p>
            <a:pPr marL="0" indent="0">
              <a:buNone/>
            </a:pPr>
            <a:r>
              <a:rPr lang="en-US" sz="1100" b="1" dirty="0">
                <a:solidFill>
                  <a:srgbClr val="2D6A4F"/>
                </a:solidFill>
                <a:latin typeface="Calibri" pitchFamily="34" charset="0"/>
                <a:ea typeface="Calibri" pitchFamily="34" charset="-122"/>
                <a:cs typeface="Calibri" pitchFamily="34" charset="-120"/>
              </a:rPr>
              <a:t>WORKS</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Multiclass? </a:t>
            </a:r>
            <a:endParaRPr lang="en-US" sz="1100" dirty="0"/>
          </a:p>
          <a:p>
            <a:pPr marL="0" indent="0">
              <a:buNone/>
            </a:pPr>
            <a:r>
              <a:rPr lang="en-US" sz="1100" b="1" dirty="0">
                <a:solidFill>
                  <a:srgbClr val="E85D04"/>
                </a:solidFill>
                <a:latin typeface="Calibri" pitchFamily="34" charset="0"/>
                <a:ea typeface="Calibri" pitchFamily="34" charset="-122"/>
                <a:cs typeface="Calibri" pitchFamily="34" charset="-120"/>
              </a:rPr>
              <a:t>???</a:t>
            </a:r>
            <a:endParaRPr lang="en-US" sz="1100" dirty="0"/>
          </a:p>
        </p:txBody>
      </p:sp>
      <p:sp>
        <p:nvSpPr>
          <p:cNvPr id="24" name="Shape 20"/>
          <p:cNvSpPr/>
          <p:nvPr/>
        </p:nvSpPr>
        <p:spPr>
          <a:xfrm>
            <a:off x="274320" y="3794760"/>
            <a:ext cx="8595360" cy="10972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5" name="Shape 21"/>
          <p:cNvSpPr/>
          <p:nvPr/>
        </p:nvSpPr>
        <p:spPr>
          <a:xfrm>
            <a:off x="274320" y="3794760"/>
            <a:ext cx="54864" cy="1097280"/>
          </a:xfrm>
          <a:prstGeom prst="rect">
            <a:avLst/>
          </a:prstGeom>
          <a:solidFill>
            <a:srgbClr val="1C7293"/>
          </a:solidFill>
          <a:ln/>
        </p:spPr>
        <p:txBody>
          <a:bodyPr/>
          <a:lstStyle/>
          <a:p>
            <a:endParaRPr lang="en-US"/>
          </a:p>
        </p:txBody>
      </p:sp>
      <p:sp>
        <p:nvSpPr>
          <p:cNvPr id="26" name="Text 22"/>
          <p:cNvSpPr/>
          <p:nvPr/>
        </p:nvSpPr>
        <p:spPr>
          <a:xfrm>
            <a:off x="502920" y="3840480"/>
            <a:ext cx="8138160" cy="274320"/>
          </a:xfrm>
          <a:prstGeom prst="rect">
            <a:avLst/>
          </a:prstGeom>
          <a:noFill/>
          <a:ln/>
        </p:spPr>
        <p:txBody>
          <a:bodyPr wrap="square" lIns="0" tIns="0" rIns="0" bIns="0" rtlCol="0" anchor="ctr"/>
          <a:lstStyle/>
          <a:p>
            <a:pPr marL="0" indent="0">
              <a:buNone/>
            </a:pPr>
            <a:r>
              <a:rPr lang="en-US" sz="1300" b="1" dirty="0">
                <a:solidFill>
                  <a:srgbClr val="1C7293"/>
                </a:solidFill>
                <a:latin typeface="Georgia" pitchFamily="34" charset="0"/>
                <a:ea typeface="Georgia" pitchFamily="34" charset="-122"/>
                <a:cs typeface="Georgia" pitchFamily="34" charset="-120"/>
              </a:rPr>
              <a:t>Key: Why adding “x” makes all the difference</a:t>
            </a:r>
            <a:endParaRPr lang="en-US" sz="1300" dirty="0"/>
          </a:p>
        </p:txBody>
      </p:sp>
      <p:sp>
        <p:nvSpPr>
          <p:cNvPr id="27" name="Text 23"/>
          <p:cNvSpPr/>
          <p:nvPr/>
        </p:nvSpPr>
        <p:spPr>
          <a:xfrm>
            <a:off x="502920" y="4114800"/>
            <a:ext cx="8138160" cy="73152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SRM: ψ(h) is the same everywhere → picks one global winner h ∈ H → proper. It’s like ERM with bias.</a:t>
            </a: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Local Reg: ψ(h,x) can pick DIFFERENT hypotheses at different x. Output at x₁ might come from h₀, output at x₂ from h₁.</a:t>
            </a:r>
            <a:endParaRPr lang="en-US" sz="1200" dirty="0"/>
          </a:p>
          <a:p>
            <a:pPr marL="0" indent="0">
              <a:buNone/>
            </a:pPr>
            <a:endParaRPr lang="en-US" sz="1200" dirty="0"/>
          </a:p>
          <a:p>
            <a:pPr marL="0" indent="0">
              <a:buNone/>
            </a:pPr>
            <a:r>
              <a:rPr lang="en-US" sz="1200" b="1" dirty="0">
                <a:solidFill>
                  <a:srgbClr val="1A1A2E"/>
                </a:solidFill>
                <a:latin typeface="Calibri" pitchFamily="34" charset="0"/>
                <a:ea typeface="Calibri" pitchFamily="34" charset="-122"/>
                <a:cs typeface="Calibri" pitchFamily="34" charset="-120"/>
              </a:rPr>
              <a:t>The resulting function A(S) “stitches together” parts of different h ∈ H → A(S) may NOT be in H → improper!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Local Regularization: Every Part of the Formula</a:t>
            </a:r>
            <a:endParaRPr lang="en-US" sz="2400" dirty="0"/>
          </a:p>
        </p:txBody>
      </p:sp>
      <p:sp>
        <p:nvSpPr>
          <p:cNvPr id="4" name="Shape 2"/>
          <p:cNvSpPr/>
          <p:nvPr/>
        </p:nvSpPr>
        <p:spPr>
          <a:xfrm>
            <a:off x="457200" y="960120"/>
            <a:ext cx="8229600" cy="640080"/>
          </a:xfrm>
          <a:prstGeom prst="rect">
            <a:avLst/>
          </a:prstGeom>
          <a:solidFill>
            <a:srgbClr val="1B1B2F"/>
          </a:solidFill>
          <a:ln/>
        </p:spPr>
        <p:txBody>
          <a:bodyPr/>
          <a:lstStyle/>
          <a:p>
            <a:endParaRPr lang="en-US"/>
          </a:p>
        </p:txBody>
      </p:sp>
      <p:sp>
        <p:nvSpPr>
          <p:cNvPr id="5" name="Text 3"/>
          <p:cNvSpPr/>
          <p:nvPr/>
        </p:nvSpPr>
        <p:spPr>
          <a:xfrm>
            <a:off x="457200" y="960120"/>
            <a:ext cx="8229600" cy="640080"/>
          </a:xfrm>
          <a:prstGeom prst="rect">
            <a:avLst/>
          </a:prstGeom>
          <a:noFill/>
          <a:ln/>
        </p:spPr>
        <p:txBody>
          <a:bodyPr wrap="square" rtlCol="0" anchor="ctr"/>
          <a:lstStyle/>
          <a:p>
            <a:pPr marL="0" indent="0" algn="ctr">
              <a:buNone/>
            </a:pPr>
            <a:r>
              <a:rPr lang="en-US" sz="1800" b="1" dirty="0">
                <a:solidFill>
                  <a:srgbClr val="F4C430"/>
                </a:solidFill>
                <a:latin typeface="Consolas" pitchFamily="34" charset="0"/>
                <a:ea typeface="Consolas" pitchFamily="34" charset="-122"/>
                <a:cs typeface="Consolas" pitchFamily="34" charset="-120"/>
              </a:rPr>
              <a:t>A(S)(x)  ∈  { h(x) :  h ∈ argmin_{h ∈ L⁻¹_S(0)}  ψ(h, x) }</a:t>
            </a:r>
            <a:endParaRPr lang="en-US" sz="1800" dirty="0"/>
          </a:p>
        </p:txBody>
      </p:sp>
      <p:sp>
        <p:nvSpPr>
          <p:cNvPr id="6" name="Shape 4"/>
          <p:cNvSpPr/>
          <p:nvPr/>
        </p:nvSpPr>
        <p:spPr>
          <a:xfrm>
            <a:off x="457200" y="1828800"/>
            <a:ext cx="3931920" cy="8686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7" name="Shape 5"/>
          <p:cNvSpPr/>
          <p:nvPr/>
        </p:nvSpPr>
        <p:spPr>
          <a:xfrm>
            <a:off x="457200" y="1828800"/>
            <a:ext cx="54864" cy="868680"/>
          </a:xfrm>
          <a:prstGeom prst="rect">
            <a:avLst/>
          </a:prstGeom>
          <a:solidFill>
            <a:srgbClr val="065A82"/>
          </a:solidFill>
          <a:ln/>
        </p:spPr>
        <p:txBody>
          <a:bodyPr/>
          <a:lstStyle/>
          <a:p>
            <a:endParaRPr lang="en-US"/>
          </a:p>
        </p:txBody>
      </p:sp>
      <p:sp>
        <p:nvSpPr>
          <p:cNvPr id="8" name="Text 6"/>
          <p:cNvSpPr/>
          <p:nvPr/>
        </p:nvSpPr>
        <p:spPr>
          <a:xfrm>
            <a:off x="685800" y="1874520"/>
            <a:ext cx="1371600" cy="228600"/>
          </a:xfrm>
          <a:prstGeom prst="rect">
            <a:avLst/>
          </a:prstGeom>
          <a:noFill/>
          <a:ln/>
        </p:spPr>
        <p:txBody>
          <a:bodyPr wrap="square" lIns="0" tIns="0" rIns="0" bIns="0" rtlCol="0" anchor="ctr"/>
          <a:lstStyle/>
          <a:p>
            <a:pPr marL="0" indent="0">
              <a:buNone/>
            </a:pPr>
            <a:r>
              <a:rPr lang="en-US" sz="1300" b="1" dirty="0">
                <a:solidFill>
                  <a:srgbClr val="065A82"/>
                </a:solidFill>
                <a:latin typeface="Consolas" pitchFamily="34" charset="0"/>
                <a:ea typeface="Consolas" pitchFamily="34" charset="-122"/>
                <a:cs typeface="Consolas" pitchFamily="34" charset="-120"/>
              </a:rPr>
              <a:t>A(S)</a:t>
            </a:r>
            <a:endParaRPr lang="en-US" sz="1300" dirty="0"/>
          </a:p>
        </p:txBody>
      </p:sp>
      <p:sp>
        <p:nvSpPr>
          <p:cNvPr id="9" name="Text 7"/>
          <p:cNvSpPr/>
          <p:nvPr/>
        </p:nvSpPr>
        <p:spPr>
          <a:xfrm>
            <a:off x="2103120" y="1874520"/>
            <a:ext cx="1920240" cy="228600"/>
          </a:xfrm>
          <a:prstGeom prst="rect">
            <a:avLst/>
          </a:prstGeom>
          <a:noFill/>
          <a:ln/>
        </p:spPr>
        <p:txBody>
          <a:bodyPr wrap="square" lIns="0" tIns="0" rIns="0" bIns="0" rtlCol="0" anchor="ctr"/>
          <a:lstStyle/>
          <a:p>
            <a:pPr marL="0" indent="0">
              <a:buNone/>
            </a:pPr>
            <a:r>
              <a:rPr lang="en-US" sz="1200" b="1" dirty="0">
                <a:solidFill>
                  <a:srgbClr val="065A82"/>
                </a:solidFill>
                <a:latin typeface="Georgia" pitchFamily="34" charset="0"/>
                <a:ea typeface="Georgia" pitchFamily="34" charset="-122"/>
                <a:cs typeface="Georgia" pitchFamily="34" charset="-120"/>
              </a:rPr>
              <a:t>The Learner’s Output</a:t>
            </a:r>
            <a:endParaRPr lang="en-US" sz="1200" dirty="0"/>
          </a:p>
        </p:txBody>
      </p:sp>
      <p:sp>
        <p:nvSpPr>
          <p:cNvPr id="10" name="Text 8"/>
          <p:cNvSpPr/>
          <p:nvPr/>
        </p:nvSpPr>
        <p:spPr>
          <a:xfrm>
            <a:off x="685800" y="2148840"/>
            <a:ext cx="3474720" cy="50292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A is the learner. Given training set S, A(S) is a function from X to Y. At each point x, it predicts a label. A(S) need NOT be in H.</a:t>
            </a:r>
            <a:endParaRPr lang="en-US" sz="1050" dirty="0"/>
          </a:p>
        </p:txBody>
      </p:sp>
      <p:sp>
        <p:nvSpPr>
          <p:cNvPr id="11" name="Shape 9"/>
          <p:cNvSpPr/>
          <p:nvPr/>
        </p:nvSpPr>
        <p:spPr>
          <a:xfrm>
            <a:off x="4754880" y="1828800"/>
            <a:ext cx="3931920" cy="8686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2" name="Shape 10"/>
          <p:cNvSpPr/>
          <p:nvPr/>
        </p:nvSpPr>
        <p:spPr>
          <a:xfrm>
            <a:off x="4754880" y="1828800"/>
            <a:ext cx="54864" cy="868680"/>
          </a:xfrm>
          <a:prstGeom prst="rect">
            <a:avLst/>
          </a:prstGeom>
          <a:solidFill>
            <a:srgbClr val="E85D04"/>
          </a:solidFill>
          <a:ln/>
        </p:spPr>
        <p:txBody>
          <a:bodyPr/>
          <a:lstStyle/>
          <a:p>
            <a:endParaRPr lang="en-US"/>
          </a:p>
        </p:txBody>
      </p:sp>
      <p:sp>
        <p:nvSpPr>
          <p:cNvPr id="13" name="Text 11"/>
          <p:cNvSpPr/>
          <p:nvPr/>
        </p:nvSpPr>
        <p:spPr>
          <a:xfrm>
            <a:off x="4983480" y="1874520"/>
            <a:ext cx="1371600" cy="228600"/>
          </a:xfrm>
          <a:prstGeom prst="rect">
            <a:avLst/>
          </a:prstGeom>
          <a:noFill/>
          <a:ln/>
        </p:spPr>
        <p:txBody>
          <a:bodyPr wrap="square" lIns="0" tIns="0" rIns="0" bIns="0" rtlCol="0" anchor="ctr"/>
          <a:lstStyle/>
          <a:p>
            <a:pPr marL="0" indent="0">
              <a:buNone/>
            </a:pPr>
            <a:r>
              <a:rPr lang="en-US" sz="1300" b="1" dirty="0">
                <a:solidFill>
                  <a:srgbClr val="E85D04"/>
                </a:solidFill>
                <a:latin typeface="Consolas" pitchFamily="34" charset="0"/>
                <a:ea typeface="Consolas" pitchFamily="34" charset="-122"/>
                <a:cs typeface="Consolas" pitchFamily="34" charset="-120"/>
              </a:rPr>
              <a:t>ψ(h, x)</a:t>
            </a:r>
            <a:endParaRPr lang="en-US" sz="1300" dirty="0"/>
          </a:p>
        </p:txBody>
      </p:sp>
      <p:sp>
        <p:nvSpPr>
          <p:cNvPr id="14" name="Text 12"/>
          <p:cNvSpPr/>
          <p:nvPr/>
        </p:nvSpPr>
        <p:spPr>
          <a:xfrm>
            <a:off x="6400800" y="1874520"/>
            <a:ext cx="1920240" cy="228600"/>
          </a:xfrm>
          <a:prstGeom prst="rect">
            <a:avLst/>
          </a:prstGeom>
          <a:noFill/>
          <a:ln/>
        </p:spPr>
        <p:txBody>
          <a:bodyPr wrap="square" lIns="0" tIns="0" rIns="0" bIns="0" rtlCol="0" anchor="ctr"/>
          <a:lstStyle/>
          <a:p>
            <a:pPr marL="0" indent="0">
              <a:buNone/>
            </a:pPr>
            <a:r>
              <a:rPr lang="en-US" sz="1200" b="1" dirty="0">
                <a:solidFill>
                  <a:srgbClr val="E85D04"/>
                </a:solidFill>
                <a:latin typeface="Georgia" pitchFamily="34" charset="0"/>
                <a:ea typeface="Georgia" pitchFamily="34" charset="-122"/>
                <a:cs typeface="Georgia" pitchFamily="34" charset="-120"/>
              </a:rPr>
              <a:t>Local Regularizer</a:t>
            </a:r>
            <a:endParaRPr lang="en-US" sz="1200" dirty="0"/>
          </a:p>
        </p:txBody>
      </p:sp>
      <p:sp>
        <p:nvSpPr>
          <p:cNvPr id="15" name="Text 13"/>
          <p:cNvSpPr/>
          <p:nvPr/>
        </p:nvSpPr>
        <p:spPr>
          <a:xfrm>
            <a:off x="4983480" y="2148840"/>
            <a:ext cx="3474720" cy="50292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Maps (hypothesis, point) to a non-negative real. Measures how “complex” or “suspicious” h is AT THE SPECIFIC POINT x. Key: depends on BOTH h and x.</a:t>
            </a:r>
            <a:endParaRPr lang="en-US" sz="1050" dirty="0"/>
          </a:p>
        </p:txBody>
      </p:sp>
      <p:sp>
        <p:nvSpPr>
          <p:cNvPr id="16" name="Shape 14"/>
          <p:cNvSpPr/>
          <p:nvPr/>
        </p:nvSpPr>
        <p:spPr>
          <a:xfrm>
            <a:off x="457200" y="2926080"/>
            <a:ext cx="3931920" cy="8686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7" name="Shape 15"/>
          <p:cNvSpPr/>
          <p:nvPr/>
        </p:nvSpPr>
        <p:spPr>
          <a:xfrm>
            <a:off x="457200" y="2926080"/>
            <a:ext cx="54864" cy="868680"/>
          </a:xfrm>
          <a:prstGeom prst="rect">
            <a:avLst/>
          </a:prstGeom>
          <a:solidFill>
            <a:srgbClr val="1C7293"/>
          </a:solidFill>
          <a:ln/>
        </p:spPr>
        <p:txBody>
          <a:bodyPr/>
          <a:lstStyle/>
          <a:p>
            <a:endParaRPr lang="en-US"/>
          </a:p>
        </p:txBody>
      </p:sp>
      <p:sp>
        <p:nvSpPr>
          <p:cNvPr id="18" name="Text 16"/>
          <p:cNvSpPr/>
          <p:nvPr/>
        </p:nvSpPr>
        <p:spPr>
          <a:xfrm>
            <a:off x="685800" y="2971800"/>
            <a:ext cx="1371600" cy="228600"/>
          </a:xfrm>
          <a:prstGeom prst="rect">
            <a:avLst/>
          </a:prstGeom>
          <a:noFill/>
          <a:ln/>
        </p:spPr>
        <p:txBody>
          <a:bodyPr wrap="square" lIns="0" tIns="0" rIns="0" bIns="0" rtlCol="0" anchor="ctr"/>
          <a:lstStyle/>
          <a:p>
            <a:pPr marL="0" indent="0">
              <a:buNone/>
            </a:pPr>
            <a:r>
              <a:rPr lang="en-US" sz="1300" b="1" dirty="0">
                <a:solidFill>
                  <a:srgbClr val="1C7293"/>
                </a:solidFill>
                <a:latin typeface="Consolas" pitchFamily="34" charset="0"/>
                <a:ea typeface="Consolas" pitchFamily="34" charset="-122"/>
                <a:cs typeface="Consolas" pitchFamily="34" charset="-120"/>
              </a:rPr>
              <a:t>L⁻¹_S(0)</a:t>
            </a:r>
            <a:endParaRPr lang="en-US" sz="1300" dirty="0"/>
          </a:p>
        </p:txBody>
      </p:sp>
      <p:sp>
        <p:nvSpPr>
          <p:cNvPr id="19" name="Text 17"/>
          <p:cNvSpPr/>
          <p:nvPr/>
        </p:nvSpPr>
        <p:spPr>
          <a:xfrm>
            <a:off x="2103120" y="2971800"/>
            <a:ext cx="1920240" cy="228600"/>
          </a:xfrm>
          <a:prstGeom prst="rect">
            <a:avLst/>
          </a:prstGeom>
          <a:noFill/>
          <a:ln/>
        </p:spPr>
        <p:txBody>
          <a:bodyPr wrap="square" lIns="0" tIns="0" rIns="0" bIns="0" rtlCol="0" anchor="ctr"/>
          <a:lstStyle/>
          <a:p>
            <a:pPr marL="0" indent="0">
              <a:buNone/>
            </a:pPr>
            <a:r>
              <a:rPr lang="en-US" sz="1200" b="1" dirty="0">
                <a:solidFill>
                  <a:srgbClr val="1C7293"/>
                </a:solidFill>
                <a:latin typeface="Georgia" pitchFamily="34" charset="0"/>
                <a:ea typeface="Georgia" pitchFamily="34" charset="-122"/>
                <a:cs typeface="Georgia" pitchFamily="34" charset="-120"/>
              </a:rPr>
              <a:t>Zero-Error Set</a:t>
            </a:r>
            <a:endParaRPr lang="en-US" sz="1200" dirty="0"/>
          </a:p>
        </p:txBody>
      </p:sp>
      <p:sp>
        <p:nvSpPr>
          <p:cNvPr id="20" name="Text 18"/>
          <p:cNvSpPr/>
          <p:nvPr/>
        </p:nvSpPr>
        <p:spPr>
          <a:xfrm>
            <a:off x="685800" y="3246120"/>
            <a:ext cx="3474720" cy="50292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The set of all hypotheses h ∈ H with ZERO empirical error on S. Equivalent to: {h ∈ H : h(x_i) = y_i for all (x_i,y_i) in S}. We only consider consistent hypotheses.</a:t>
            </a:r>
            <a:endParaRPr lang="en-US" sz="1050" dirty="0"/>
          </a:p>
        </p:txBody>
      </p:sp>
      <p:sp>
        <p:nvSpPr>
          <p:cNvPr id="21" name="Shape 19"/>
          <p:cNvSpPr/>
          <p:nvPr/>
        </p:nvSpPr>
        <p:spPr>
          <a:xfrm>
            <a:off x="4754880" y="2926080"/>
            <a:ext cx="3931920" cy="8686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2" name="Shape 20"/>
          <p:cNvSpPr/>
          <p:nvPr/>
        </p:nvSpPr>
        <p:spPr>
          <a:xfrm>
            <a:off x="4754880" y="2926080"/>
            <a:ext cx="54864" cy="868680"/>
          </a:xfrm>
          <a:prstGeom prst="rect">
            <a:avLst/>
          </a:prstGeom>
          <a:solidFill>
            <a:srgbClr val="2D6A4F"/>
          </a:solidFill>
          <a:ln/>
        </p:spPr>
        <p:txBody>
          <a:bodyPr/>
          <a:lstStyle/>
          <a:p>
            <a:endParaRPr lang="en-US"/>
          </a:p>
        </p:txBody>
      </p:sp>
      <p:sp>
        <p:nvSpPr>
          <p:cNvPr id="23" name="Text 21"/>
          <p:cNvSpPr/>
          <p:nvPr/>
        </p:nvSpPr>
        <p:spPr>
          <a:xfrm>
            <a:off x="4983480" y="2971800"/>
            <a:ext cx="1371600" cy="228600"/>
          </a:xfrm>
          <a:prstGeom prst="rect">
            <a:avLst/>
          </a:prstGeom>
          <a:noFill/>
          <a:ln/>
        </p:spPr>
        <p:txBody>
          <a:bodyPr wrap="square" lIns="0" tIns="0" rIns="0" bIns="0" rtlCol="0" anchor="ctr"/>
          <a:lstStyle/>
          <a:p>
            <a:pPr marL="0" indent="0">
              <a:buNone/>
            </a:pPr>
            <a:r>
              <a:rPr lang="en-US" sz="1300" b="1" dirty="0">
                <a:solidFill>
                  <a:srgbClr val="2D6A4F"/>
                </a:solidFill>
                <a:latin typeface="Consolas" pitchFamily="34" charset="0"/>
                <a:ea typeface="Consolas" pitchFamily="34" charset="-122"/>
                <a:cs typeface="Consolas" pitchFamily="34" charset="-120"/>
              </a:rPr>
              <a:t>argmin</a:t>
            </a:r>
            <a:endParaRPr lang="en-US" sz="1300" dirty="0"/>
          </a:p>
        </p:txBody>
      </p:sp>
      <p:sp>
        <p:nvSpPr>
          <p:cNvPr id="24" name="Text 22"/>
          <p:cNvSpPr/>
          <p:nvPr/>
        </p:nvSpPr>
        <p:spPr>
          <a:xfrm>
            <a:off x="6400800" y="2971800"/>
            <a:ext cx="1920240" cy="228600"/>
          </a:xfrm>
          <a:prstGeom prst="rect">
            <a:avLst/>
          </a:prstGeom>
          <a:noFill/>
          <a:ln/>
        </p:spPr>
        <p:txBody>
          <a:bodyPr wrap="square" lIns="0" tIns="0" rIns="0" bIns="0" rtlCol="0" anchor="ctr"/>
          <a:lstStyle/>
          <a:p>
            <a:pPr marL="0" indent="0">
              <a:buNone/>
            </a:pPr>
            <a:r>
              <a:rPr lang="en-US" sz="1200" b="1" dirty="0">
                <a:solidFill>
                  <a:srgbClr val="2D6A4F"/>
                </a:solidFill>
                <a:latin typeface="Georgia" pitchFamily="34" charset="0"/>
                <a:ea typeface="Georgia" pitchFamily="34" charset="-122"/>
                <a:cs typeface="Georgia" pitchFamily="34" charset="-120"/>
              </a:rPr>
              <a:t>Selecting Simplest</a:t>
            </a:r>
            <a:endParaRPr lang="en-US" sz="1200" dirty="0"/>
          </a:p>
        </p:txBody>
      </p:sp>
      <p:sp>
        <p:nvSpPr>
          <p:cNvPr id="25" name="Text 23"/>
          <p:cNvSpPr/>
          <p:nvPr/>
        </p:nvSpPr>
        <p:spPr>
          <a:xfrm>
            <a:off x="4983480" y="3246120"/>
            <a:ext cx="3474720" cy="50292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Among all h with zero training error, find those minimizing ψ(h,x). At each test point x, we pick the “simplest” consistent hypothesis for THAT point specifically.</a:t>
            </a:r>
            <a:endParaRPr lang="en-US" sz="1050" dirty="0"/>
          </a:p>
        </p:txBody>
      </p:sp>
      <p:sp>
        <p:nvSpPr>
          <p:cNvPr id="26" name="Shape 24"/>
          <p:cNvSpPr/>
          <p:nvPr/>
        </p:nvSpPr>
        <p:spPr>
          <a:xfrm>
            <a:off x="457200" y="4023360"/>
            <a:ext cx="8229600" cy="8686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7" name="Shape 25"/>
          <p:cNvSpPr/>
          <p:nvPr/>
        </p:nvSpPr>
        <p:spPr>
          <a:xfrm>
            <a:off x="457200" y="4023360"/>
            <a:ext cx="54864" cy="868680"/>
          </a:xfrm>
          <a:prstGeom prst="rect">
            <a:avLst/>
          </a:prstGeom>
          <a:solidFill>
            <a:srgbClr val="1B1B2F"/>
          </a:solidFill>
          <a:ln/>
        </p:spPr>
        <p:txBody>
          <a:bodyPr/>
          <a:lstStyle/>
          <a:p>
            <a:endParaRPr lang="en-US"/>
          </a:p>
        </p:txBody>
      </p:sp>
      <p:sp>
        <p:nvSpPr>
          <p:cNvPr id="28" name="Text 26"/>
          <p:cNvSpPr/>
          <p:nvPr/>
        </p:nvSpPr>
        <p:spPr>
          <a:xfrm>
            <a:off x="685800" y="4069080"/>
            <a:ext cx="1371600" cy="228600"/>
          </a:xfrm>
          <a:prstGeom prst="rect">
            <a:avLst/>
          </a:prstGeom>
          <a:noFill/>
          <a:ln/>
        </p:spPr>
        <p:txBody>
          <a:bodyPr wrap="square" lIns="0" tIns="0" rIns="0" bIns="0" rtlCol="0" anchor="ctr"/>
          <a:lstStyle/>
          <a:p>
            <a:pPr marL="0" indent="0">
              <a:buNone/>
            </a:pPr>
            <a:r>
              <a:rPr lang="en-US" sz="1300" b="1" dirty="0">
                <a:solidFill>
                  <a:srgbClr val="1B1B2F"/>
                </a:solidFill>
                <a:latin typeface="Consolas" pitchFamily="34" charset="0"/>
                <a:ea typeface="Consolas" pitchFamily="34" charset="-122"/>
                <a:cs typeface="Consolas" pitchFamily="34" charset="-120"/>
              </a:rPr>
              <a:t>{ h(x) : ... }</a:t>
            </a:r>
            <a:endParaRPr lang="en-US" sz="1300" dirty="0"/>
          </a:p>
        </p:txBody>
      </p:sp>
      <p:sp>
        <p:nvSpPr>
          <p:cNvPr id="29" name="Text 27"/>
          <p:cNvSpPr/>
          <p:nvPr/>
        </p:nvSpPr>
        <p:spPr>
          <a:xfrm>
            <a:off x="2103120" y="4069080"/>
            <a:ext cx="6217920" cy="228600"/>
          </a:xfrm>
          <a:prstGeom prst="rect">
            <a:avLst/>
          </a:prstGeom>
          <a:noFill/>
          <a:ln/>
        </p:spPr>
        <p:txBody>
          <a:bodyPr wrap="square" lIns="0" tIns="0" rIns="0" bIns="0" rtlCol="0" anchor="ctr"/>
          <a:lstStyle/>
          <a:p>
            <a:pPr marL="0" indent="0">
              <a:buNone/>
            </a:pPr>
            <a:r>
              <a:rPr lang="en-US" sz="1200" b="1" dirty="0">
                <a:solidFill>
                  <a:srgbClr val="1B1B2F"/>
                </a:solidFill>
                <a:latin typeface="Georgia" pitchFamily="34" charset="0"/>
                <a:ea typeface="Georgia" pitchFamily="34" charset="-122"/>
                <a:cs typeface="Georgia" pitchFamily="34" charset="-120"/>
              </a:rPr>
              <a:t>Label Extraction</a:t>
            </a:r>
            <a:endParaRPr lang="en-US" sz="1200" dirty="0"/>
          </a:p>
        </p:txBody>
      </p:sp>
      <p:sp>
        <p:nvSpPr>
          <p:cNvPr id="30" name="Text 28"/>
          <p:cNvSpPr/>
          <p:nvPr/>
        </p:nvSpPr>
        <p:spPr>
          <a:xfrm>
            <a:off x="685800" y="4343400"/>
            <a:ext cx="7772400" cy="50292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Take the label h(x) of the winning hypothesis. Different x may select different winners → the composite function stitches together labels from multiple h ∈ H.</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How Local Regularization “Stitches” — Concrete Example</a:t>
            </a:r>
            <a:endParaRPr lang="en-US" sz="2400" dirty="0"/>
          </a:p>
        </p:txBody>
      </p:sp>
      <p:sp>
        <p:nvSpPr>
          <p:cNvPr id="4" name="Text 2"/>
          <p:cNvSpPr/>
          <p:nvPr/>
        </p:nvSpPr>
        <p:spPr>
          <a:xfrm>
            <a:off x="640080" y="960120"/>
            <a:ext cx="7863840" cy="320040"/>
          </a:xfrm>
          <a:prstGeom prst="rect">
            <a:avLst/>
          </a:prstGeom>
          <a:noFill/>
          <a:ln/>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Setup: Two hypotheses h₀, h₁ ∈ H, domain divided into regions A and B</a:t>
            </a:r>
            <a:endParaRPr lang="en-US" sz="1300" dirty="0"/>
          </a:p>
        </p:txBody>
      </p:sp>
      <p:sp>
        <p:nvSpPr>
          <p:cNvPr id="5" name="Shape 3"/>
          <p:cNvSpPr/>
          <p:nvPr/>
        </p:nvSpPr>
        <p:spPr>
          <a:xfrm>
            <a:off x="457200" y="1417320"/>
            <a:ext cx="3931920" cy="10515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457200" y="1417320"/>
            <a:ext cx="54864" cy="1051560"/>
          </a:xfrm>
          <a:prstGeom prst="rect">
            <a:avLst/>
          </a:prstGeom>
          <a:solidFill>
            <a:srgbClr val="065A82"/>
          </a:solidFill>
          <a:ln/>
        </p:spPr>
        <p:txBody>
          <a:bodyPr/>
          <a:lstStyle/>
          <a:p>
            <a:endParaRPr lang="en-US"/>
          </a:p>
        </p:txBody>
      </p:sp>
      <p:sp>
        <p:nvSpPr>
          <p:cNvPr id="7" name="Text 5"/>
          <p:cNvSpPr/>
          <p:nvPr/>
        </p:nvSpPr>
        <p:spPr>
          <a:xfrm>
            <a:off x="685800" y="1463040"/>
            <a:ext cx="3474720" cy="228600"/>
          </a:xfrm>
          <a:prstGeom prst="rect">
            <a:avLst/>
          </a:prstGeom>
          <a:noFill/>
          <a:ln/>
        </p:spPr>
        <p:txBody>
          <a:bodyPr wrap="square" lIns="0" tIns="0" rIns="0" bIns="0" rtlCol="0" anchor="ctr"/>
          <a:lstStyle/>
          <a:p>
            <a:pPr marL="0" indent="0">
              <a:buNone/>
            </a:pPr>
            <a:r>
              <a:rPr lang="en-US" sz="1200" b="1" dirty="0">
                <a:solidFill>
                  <a:srgbClr val="065A82"/>
                </a:solidFill>
                <a:latin typeface="Georgia" pitchFamily="34" charset="0"/>
                <a:ea typeface="Georgia" pitchFamily="34" charset="-122"/>
                <a:cs typeface="Georgia" pitchFamily="34" charset="-120"/>
              </a:rPr>
              <a:t>Hypothesis h₀</a:t>
            </a:r>
            <a:endParaRPr lang="en-US" sz="1200" dirty="0"/>
          </a:p>
        </p:txBody>
      </p:sp>
      <p:sp>
        <p:nvSpPr>
          <p:cNvPr id="8" name="Text 6"/>
          <p:cNvSpPr/>
          <p:nvPr/>
        </p:nvSpPr>
        <p:spPr>
          <a:xfrm>
            <a:off x="685800" y="1719072"/>
            <a:ext cx="3474720" cy="68580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h₀ is “simple” on region B, “complex” on region A.</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ψ(h₀, a) = 10  for a ∈ A   (high → complex)</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ψ(h₀, b) = 1    for b ∈ B   (low → simple)</a:t>
            </a:r>
            <a:endParaRPr lang="en-US" sz="1100" dirty="0"/>
          </a:p>
        </p:txBody>
      </p:sp>
      <p:sp>
        <p:nvSpPr>
          <p:cNvPr id="9" name="Shape 7"/>
          <p:cNvSpPr/>
          <p:nvPr/>
        </p:nvSpPr>
        <p:spPr>
          <a:xfrm>
            <a:off x="4754880" y="1417320"/>
            <a:ext cx="3931920" cy="10515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4754880" y="1417320"/>
            <a:ext cx="54864" cy="1051560"/>
          </a:xfrm>
          <a:prstGeom prst="rect">
            <a:avLst/>
          </a:prstGeom>
          <a:solidFill>
            <a:srgbClr val="1C7293"/>
          </a:solidFill>
          <a:ln/>
        </p:spPr>
        <p:txBody>
          <a:bodyPr/>
          <a:lstStyle/>
          <a:p>
            <a:endParaRPr lang="en-US"/>
          </a:p>
        </p:txBody>
      </p:sp>
      <p:sp>
        <p:nvSpPr>
          <p:cNvPr id="11" name="Text 9"/>
          <p:cNvSpPr/>
          <p:nvPr/>
        </p:nvSpPr>
        <p:spPr>
          <a:xfrm>
            <a:off x="4983480" y="1463040"/>
            <a:ext cx="3474720" cy="228600"/>
          </a:xfrm>
          <a:prstGeom prst="rect">
            <a:avLst/>
          </a:prstGeom>
          <a:noFill/>
          <a:ln/>
        </p:spPr>
        <p:txBody>
          <a:bodyPr wrap="square" lIns="0" tIns="0" rIns="0" bIns="0" rtlCol="0" anchor="ctr"/>
          <a:lstStyle/>
          <a:p>
            <a:pPr marL="0" indent="0">
              <a:buNone/>
            </a:pPr>
            <a:r>
              <a:rPr lang="en-US" sz="1200" b="1" dirty="0">
                <a:solidFill>
                  <a:srgbClr val="1C7293"/>
                </a:solidFill>
                <a:latin typeface="Georgia" pitchFamily="34" charset="0"/>
                <a:ea typeface="Georgia" pitchFamily="34" charset="-122"/>
                <a:cs typeface="Georgia" pitchFamily="34" charset="-120"/>
              </a:rPr>
              <a:t>Hypothesis h₁</a:t>
            </a:r>
            <a:endParaRPr lang="en-US" sz="1200" dirty="0"/>
          </a:p>
        </p:txBody>
      </p:sp>
      <p:sp>
        <p:nvSpPr>
          <p:cNvPr id="12" name="Text 10"/>
          <p:cNvSpPr/>
          <p:nvPr/>
        </p:nvSpPr>
        <p:spPr>
          <a:xfrm>
            <a:off x="4983480" y="1719072"/>
            <a:ext cx="3474720" cy="68580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h₁ is “simple” on region A, “complex” on region B.</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ψ(h₁, a) = 1    for a ∈ A   (low → simple)</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ψ(h₁, b) = 10  for b ∈ B   (high → complex)</a:t>
            </a:r>
            <a:endParaRPr lang="en-US" sz="1100" dirty="0"/>
          </a:p>
        </p:txBody>
      </p:sp>
      <p:sp>
        <p:nvSpPr>
          <p:cNvPr id="13" name="Shape 11"/>
          <p:cNvSpPr/>
          <p:nvPr/>
        </p:nvSpPr>
        <p:spPr>
          <a:xfrm>
            <a:off x="457200" y="2697480"/>
            <a:ext cx="8229600" cy="457200"/>
          </a:xfrm>
          <a:prstGeom prst="rect">
            <a:avLst/>
          </a:prstGeom>
          <a:solidFill>
            <a:srgbClr val="FFF3CD"/>
          </a:solidFill>
          <a:ln/>
        </p:spPr>
        <p:txBody>
          <a:bodyPr/>
          <a:lstStyle/>
          <a:p>
            <a:endParaRPr lang="en-US"/>
          </a:p>
        </p:txBody>
      </p:sp>
      <p:sp>
        <p:nvSpPr>
          <p:cNvPr id="14" name="Text 12"/>
          <p:cNvSpPr/>
          <p:nvPr/>
        </p:nvSpPr>
        <p:spPr>
          <a:xfrm>
            <a:off x="640080" y="2715768"/>
            <a:ext cx="7863840" cy="41148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Both h₀ and h₁ have zero training error. SRM must pick ONE globally. Local reg picks the best at each point.</a:t>
            </a:r>
            <a:endParaRPr lang="en-US" sz="1200" dirty="0"/>
          </a:p>
        </p:txBody>
      </p:sp>
      <p:sp>
        <p:nvSpPr>
          <p:cNvPr id="15" name="Shape 13"/>
          <p:cNvSpPr/>
          <p:nvPr/>
        </p:nvSpPr>
        <p:spPr>
          <a:xfrm>
            <a:off x="457200" y="3383280"/>
            <a:ext cx="8229600" cy="14630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6" name="Shape 14"/>
          <p:cNvSpPr/>
          <p:nvPr/>
        </p:nvSpPr>
        <p:spPr>
          <a:xfrm>
            <a:off x="457200" y="3383280"/>
            <a:ext cx="54864" cy="1463040"/>
          </a:xfrm>
          <a:prstGeom prst="rect">
            <a:avLst/>
          </a:prstGeom>
          <a:solidFill>
            <a:srgbClr val="E85D04"/>
          </a:solidFill>
          <a:ln/>
        </p:spPr>
        <p:txBody>
          <a:bodyPr/>
          <a:lstStyle/>
          <a:p>
            <a:endParaRPr lang="en-US"/>
          </a:p>
        </p:txBody>
      </p:sp>
      <p:sp>
        <p:nvSpPr>
          <p:cNvPr id="17" name="Text 15"/>
          <p:cNvSpPr/>
          <p:nvPr/>
        </p:nvSpPr>
        <p:spPr>
          <a:xfrm>
            <a:off x="685800" y="3429000"/>
            <a:ext cx="7772400" cy="274320"/>
          </a:xfrm>
          <a:prstGeom prst="rect">
            <a:avLst/>
          </a:prstGeom>
          <a:noFill/>
          <a:ln/>
        </p:spPr>
        <p:txBody>
          <a:bodyPr wrap="square" lIns="0" tIns="0" rIns="0" bIns="0" rtlCol="0" anchor="ctr"/>
          <a:lstStyle/>
          <a:p>
            <a:pPr marL="0" indent="0">
              <a:buNone/>
            </a:pPr>
            <a:r>
              <a:rPr lang="en-US" sz="1400" b="1" dirty="0">
                <a:solidFill>
                  <a:srgbClr val="E85D04"/>
                </a:solidFill>
                <a:latin typeface="Georgia" pitchFamily="34" charset="0"/>
                <a:ea typeface="Georgia" pitchFamily="34" charset="-122"/>
                <a:cs typeface="Georgia" pitchFamily="34" charset="-120"/>
              </a:rPr>
              <a:t>The Stitched Output: A(S)</a:t>
            </a:r>
            <a:endParaRPr lang="en-US" sz="1400" dirty="0"/>
          </a:p>
        </p:txBody>
      </p:sp>
      <p:sp>
        <p:nvSpPr>
          <p:cNvPr id="18" name="Text 16"/>
          <p:cNvSpPr/>
          <p:nvPr/>
        </p:nvSpPr>
        <p:spPr>
          <a:xfrm>
            <a:off x="685800" y="3749040"/>
            <a:ext cx="7772400" cy="1005840"/>
          </a:xfrm>
          <a:prstGeom prst="rect">
            <a:avLst/>
          </a:prstGeom>
          <a:noFill/>
          <a:ln/>
        </p:spPr>
        <p:txBody>
          <a:bodyPr wrap="square" lIns="0" tIns="0" rIns="0" bIns="0" rtlCol="0" anchor="ctr"/>
          <a:lstStyle/>
          <a:p>
            <a:pPr marL="0" indent="0">
              <a:buNone/>
            </a:pPr>
            <a:r>
              <a:rPr lang="en-US" sz="1200" dirty="0">
                <a:solidFill>
                  <a:srgbClr val="1A1A2E"/>
                </a:solidFill>
                <a:latin typeface="Consolas" pitchFamily="34" charset="0"/>
                <a:ea typeface="Consolas" pitchFamily="34" charset="-122"/>
                <a:cs typeface="Consolas" pitchFamily="34" charset="-120"/>
              </a:rPr>
              <a:t>For a ∈ A:  ψ(h₁,a) = 1 &lt; 10 = ψ(h₀,a)   →   h₁ wins   →   A(S)(a) = h₁(a)</a:t>
            </a:r>
            <a:endParaRPr lang="en-US" sz="1200" dirty="0"/>
          </a:p>
          <a:p>
            <a:pPr marL="0" indent="0">
              <a:buNone/>
            </a:pPr>
            <a:endParaRPr lang="en-US" sz="1200" dirty="0"/>
          </a:p>
          <a:p>
            <a:pPr marL="0" indent="0">
              <a:buNone/>
            </a:pPr>
            <a:r>
              <a:rPr lang="en-US" sz="1200" dirty="0">
                <a:solidFill>
                  <a:srgbClr val="1A1A2E"/>
                </a:solidFill>
                <a:latin typeface="Consolas" pitchFamily="34" charset="0"/>
                <a:ea typeface="Consolas" pitchFamily="34" charset="-122"/>
                <a:cs typeface="Consolas" pitchFamily="34" charset="-120"/>
              </a:rPr>
              <a:t>For b ∈ B:  ψ(h₀,b) = 1 &lt; 10 = ψ(h₁,b)   →   h₀ wins   →   A(S)(b) = h₀(b)</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1A1A2E"/>
                </a:solidFill>
                <a:latin typeface="Calibri" pitchFamily="34" charset="0"/>
                <a:ea typeface="Calibri" pitchFamily="34" charset="-122"/>
                <a:cs typeface="Calibri" pitchFamily="34" charset="-120"/>
              </a:rPr>
              <a:t>Result: A(S) uses h₁’s labels on A, h₀’s labels on B. This composite function may NOT be in 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Related Works: The Intellectual Lineage</a:t>
            </a:r>
            <a:endParaRPr lang="en-US" sz="2400" dirty="0"/>
          </a:p>
        </p:txBody>
      </p:sp>
      <p:sp>
        <p:nvSpPr>
          <p:cNvPr id="4" name="Shape 2"/>
          <p:cNvSpPr/>
          <p:nvPr/>
        </p:nvSpPr>
        <p:spPr>
          <a:xfrm>
            <a:off x="1097280" y="1115568"/>
            <a:ext cx="256032" cy="256032"/>
          </a:xfrm>
          <a:prstGeom prst="ellipse">
            <a:avLst/>
          </a:prstGeom>
          <a:solidFill>
            <a:srgbClr val="065A82"/>
          </a:solidFill>
          <a:ln/>
        </p:spPr>
        <p:txBody>
          <a:bodyPr/>
          <a:lstStyle/>
          <a:p>
            <a:endParaRPr lang="en-US"/>
          </a:p>
        </p:txBody>
      </p:sp>
      <p:sp>
        <p:nvSpPr>
          <p:cNvPr id="5" name="Shape 3"/>
          <p:cNvSpPr/>
          <p:nvPr/>
        </p:nvSpPr>
        <p:spPr>
          <a:xfrm>
            <a:off x="1197864" y="1371600"/>
            <a:ext cx="54864" cy="320040"/>
          </a:xfrm>
          <a:prstGeom prst="rect">
            <a:avLst/>
          </a:prstGeom>
          <a:solidFill>
            <a:srgbClr val="E5E7EB"/>
          </a:solidFill>
          <a:ln/>
        </p:spPr>
        <p:txBody>
          <a:bodyPr/>
          <a:lstStyle/>
          <a:p>
            <a:endParaRPr lang="en-US"/>
          </a:p>
        </p:txBody>
      </p:sp>
      <p:sp>
        <p:nvSpPr>
          <p:cNvPr id="6" name="Text 4"/>
          <p:cNvSpPr/>
          <p:nvPr/>
        </p:nvSpPr>
        <p:spPr>
          <a:xfrm>
            <a:off x="274320" y="1078992"/>
            <a:ext cx="731520" cy="320040"/>
          </a:xfrm>
          <a:prstGeom prst="rect">
            <a:avLst/>
          </a:prstGeom>
          <a:noFill/>
          <a:ln/>
        </p:spPr>
        <p:txBody>
          <a:bodyPr wrap="square" lIns="0" tIns="0" rIns="0" bIns="0" rtlCol="0" anchor="ctr"/>
          <a:lstStyle/>
          <a:p>
            <a:pPr marL="0" indent="0" algn="r">
              <a:buNone/>
            </a:pPr>
            <a:r>
              <a:rPr lang="en-US" sz="1300" b="1" dirty="0">
                <a:solidFill>
                  <a:srgbClr val="065A82"/>
                </a:solidFill>
                <a:latin typeface="Consolas" pitchFamily="34" charset="0"/>
                <a:ea typeface="Consolas" pitchFamily="34" charset="-122"/>
                <a:cs typeface="Consolas" pitchFamily="34" charset="-120"/>
              </a:rPr>
              <a:t>1971</a:t>
            </a:r>
            <a:endParaRPr lang="en-US" sz="1300" dirty="0"/>
          </a:p>
        </p:txBody>
      </p:sp>
      <p:sp>
        <p:nvSpPr>
          <p:cNvPr id="7" name="Text 5"/>
          <p:cNvSpPr/>
          <p:nvPr/>
        </p:nvSpPr>
        <p:spPr>
          <a:xfrm>
            <a:off x="1554480" y="1033272"/>
            <a:ext cx="6858000" cy="256032"/>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Vapnik &amp; Chervonenkis</a:t>
            </a:r>
            <a:endParaRPr lang="en-US" sz="1300" dirty="0"/>
          </a:p>
        </p:txBody>
      </p:sp>
      <p:sp>
        <p:nvSpPr>
          <p:cNvPr id="8" name="Text 6"/>
          <p:cNvSpPr/>
          <p:nvPr/>
        </p:nvSpPr>
        <p:spPr>
          <a:xfrm>
            <a:off x="1554480" y="1298448"/>
            <a:ext cx="68580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VC dimension characterizes binary learnability</a:t>
            </a:r>
            <a:endParaRPr lang="en-US" sz="1100" dirty="0"/>
          </a:p>
        </p:txBody>
      </p:sp>
      <p:sp>
        <p:nvSpPr>
          <p:cNvPr id="9" name="Shape 7"/>
          <p:cNvSpPr/>
          <p:nvPr/>
        </p:nvSpPr>
        <p:spPr>
          <a:xfrm>
            <a:off x="1097280" y="1773936"/>
            <a:ext cx="256032" cy="256032"/>
          </a:xfrm>
          <a:prstGeom prst="ellipse">
            <a:avLst/>
          </a:prstGeom>
          <a:solidFill>
            <a:srgbClr val="1C7293"/>
          </a:solidFill>
          <a:ln/>
        </p:spPr>
        <p:txBody>
          <a:bodyPr/>
          <a:lstStyle/>
          <a:p>
            <a:endParaRPr lang="en-US"/>
          </a:p>
        </p:txBody>
      </p:sp>
      <p:sp>
        <p:nvSpPr>
          <p:cNvPr id="10" name="Shape 8"/>
          <p:cNvSpPr/>
          <p:nvPr/>
        </p:nvSpPr>
        <p:spPr>
          <a:xfrm>
            <a:off x="1197864" y="2029968"/>
            <a:ext cx="54864" cy="320040"/>
          </a:xfrm>
          <a:prstGeom prst="rect">
            <a:avLst/>
          </a:prstGeom>
          <a:solidFill>
            <a:srgbClr val="E5E7EB"/>
          </a:solidFill>
          <a:ln/>
        </p:spPr>
        <p:txBody>
          <a:bodyPr/>
          <a:lstStyle/>
          <a:p>
            <a:endParaRPr lang="en-US"/>
          </a:p>
        </p:txBody>
      </p:sp>
      <p:sp>
        <p:nvSpPr>
          <p:cNvPr id="11" name="Text 9"/>
          <p:cNvSpPr/>
          <p:nvPr/>
        </p:nvSpPr>
        <p:spPr>
          <a:xfrm>
            <a:off x="274320" y="1737360"/>
            <a:ext cx="731520" cy="320040"/>
          </a:xfrm>
          <a:prstGeom prst="rect">
            <a:avLst/>
          </a:prstGeom>
          <a:noFill/>
          <a:ln/>
        </p:spPr>
        <p:txBody>
          <a:bodyPr wrap="square" lIns="0" tIns="0" rIns="0" bIns="0" rtlCol="0" anchor="ctr"/>
          <a:lstStyle/>
          <a:p>
            <a:pPr marL="0" indent="0" algn="r">
              <a:buNone/>
            </a:pPr>
            <a:r>
              <a:rPr lang="en-US" sz="1300" b="1" dirty="0">
                <a:solidFill>
                  <a:srgbClr val="1C7293"/>
                </a:solidFill>
                <a:latin typeface="Consolas" pitchFamily="34" charset="0"/>
                <a:ea typeface="Consolas" pitchFamily="34" charset="-122"/>
                <a:cs typeface="Consolas" pitchFamily="34" charset="-120"/>
              </a:rPr>
              <a:t>1984</a:t>
            </a:r>
            <a:endParaRPr lang="en-US" sz="1300" dirty="0"/>
          </a:p>
        </p:txBody>
      </p:sp>
      <p:sp>
        <p:nvSpPr>
          <p:cNvPr id="12" name="Text 10"/>
          <p:cNvSpPr/>
          <p:nvPr/>
        </p:nvSpPr>
        <p:spPr>
          <a:xfrm>
            <a:off x="1554480" y="1691640"/>
            <a:ext cx="6858000" cy="256032"/>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Valiant</a:t>
            </a:r>
            <a:endParaRPr lang="en-US" sz="1300" dirty="0"/>
          </a:p>
        </p:txBody>
      </p:sp>
      <p:sp>
        <p:nvSpPr>
          <p:cNvPr id="13" name="Text 11"/>
          <p:cNvSpPr/>
          <p:nvPr/>
        </p:nvSpPr>
        <p:spPr>
          <a:xfrm>
            <a:off x="1554480" y="1956816"/>
            <a:ext cx="68580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PAC learning framework formalized</a:t>
            </a:r>
            <a:endParaRPr lang="en-US" sz="1100" dirty="0"/>
          </a:p>
        </p:txBody>
      </p:sp>
      <p:sp>
        <p:nvSpPr>
          <p:cNvPr id="14" name="Shape 12"/>
          <p:cNvSpPr/>
          <p:nvPr/>
        </p:nvSpPr>
        <p:spPr>
          <a:xfrm>
            <a:off x="1097280" y="2432304"/>
            <a:ext cx="256032" cy="256032"/>
          </a:xfrm>
          <a:prstGeom prst="ellipse">
            <a:avLst/>
          </a:prstGeom>
          <a:solidFill>
            <a:srgbClr val="D62828"/>
          </a:solidFill>
          <a:ln/>
        </p:spPr>
        <p:txBody>
          <a:bodyPr/>
          <a:lstStyle/>
          <a:p>
            <a:endParaRPr lang="en-US"/>
          </a:p>
        </p:txBody>
      </p:sp>
      <p:sp>
        <p:nvSpPr>
          <p:cNvPr id="15" name="Shape 13"/>
          <p:cNvSpPr/>
          <p:nvPr/>
        </p:nvSpPr>
        <p:spPr>
          <a:xfrm>
            <a:off x="1197864" y="2688336"/>
            <a:ext cx="54864" cy="320040"/>
          </a:xfrm>
          <a:prstGeom prst="rect">
            <a:avLst/>
          </a:prstGeom>
          <a:solidFill>
            <a:srgbClr val="E5E7EB"/>
          </a:solidFill>
          <a:ln/>
        </p:spPr>
        <p:txBody>
          <a:bodyPr/>
          <a:lstStyle/>
          <a:p>
            <a:endParaRPr lang="en-US"/>
          </a:p>
        </p:txBody>
      </p:sp>
      <p:sp>
        <p:nvSpPr>
          <p:cNvPr id="16" name="Text 14"/>
          <p:cNvSpPr/>
          <p:nvPr/>
        </p:nvSpPr>
        <p:spPr>
          <a:xfrm>
            <a:off x="274320" y="2395728"/>
            <a:ext cx="731520" cy="320040"/>
          </a:xfrm>
          <a:prstGeom prst="rect">
            <a:avLst/>
          </a:prstGeom>
          <a:noFill/>
          <a:ln/>
        </p:spPr>
        <p:txBody>
          <a:bodyPr wrap="square" lIns="0" tIns="0" rIns="0" bIns="0" rtlCol="0" anchor="ctr"/>
          <a:lstStyle/>
          <a:p>
            <a:pPr marL="0" indent="0" algn="r">
              <a:buNone/>
            </a:pPr>
            <a:r>
              <a:rPr lang="en-US" sz="1300" b="1" dirty="0">
                <a:solidFill>
                  <a:srgbClr val="D62828"/>
                </a:solidFill>
                <a:latin typeface="Consolas" pitchFamily="34" charset="0"/>
                <a:ea typeface="Consolas" pitchFamily="34" charset="-122"/>
                <a:cs typeface="Consolas" pitchFamily="34" charset="-120"/>
              </a:rPr>
              <a:t>2014</a:t>
            </a:r>
            <a:endParaRPr lang="en-US" sz="1300" dirty="0"/>
          </a:p>
        </p:txBody>
      </p:sp>
      <p:sp>
        <p:nvSpPr>
          <p:cNvPr id="17" name="Text 15"/>
          <p:cNvSpPr/>
          <p:nvPr/>
        </p:nvSpPr>
        <p:spPr>
          <a:xfrm>
            <a:off x="1554480" y="2350008"/>
            <a:ext cx="6858000" cy="256032"/>
          </a:xfrm>
          <a:prstGeom prst="rect">
            <a:avLst/>
          </a:prstGeom>
          <a:noFill/>
          <a:ln/>
        </p:spPr>
        <p:txBody>
          <a:bodyPr wrap="square" lIns="0" tIns="0" rIns="0" bIns="0" rtlCol="0" anchor="ctr"/>
          <a:lstStyle/>
          <a:p>
            <a:pPr marL="0" indent="0">
              <a:buNone/>
            </a:pPr>
            <a:r>
              <a:rPr lang="en-US" sz="1300" b="1" dirty="0">
                <a:solidFill>
                  <a:srgbClr val="D62828"/>
                </a:solidFill>
                <a:latin typeface="Calibri" pitchFamily="34" charset="0"/>
                <a:ea typeface="Calibri" pitchFamily="34" charset="-122"/>
                <a:cs typeface="Calibri" pitchFamily="34" charset="-120"/>
              </a:rPr>
              <a:t>Daniely &amp; Shalev-Shwartz</a:t>
            </a:r>
            <a:endParaRPr lang="en-US" sz="1300" dirty="0"/>
          </a:p>
        </p:txBody>
      </p:sp>
      <p:sp>
        <p:nvSpPr>
          <p:cNvPr id="18" name="Text 16"/>
          <p:cNvSpPr/>
          <p:nvPr/>
        </p:nvSpPr>
        <p:spPr>
          <a:xfrm>
            <a:off x="1554480" y="2615184"/>
            <a:ext cx="68580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ERM fails for multiclass; improper learning necessary; OIG-based learners</a:t>
            </a:r>
            <a:endParaRPr lang="en-US" sz="1100" dirty="0"/>
          </a:p>
        </p:txBody>
      </p:sp>
      <p:sp>
        <p:nvSpPr>
          <p:cNvPr id="19" name="Shape 17"/>
          <p:cNvSpPr/>
          <p:nvPr/>
        </p:nvSpPr>
        <p:spPr>
          <a:xfrm>
            <a:off x="1097280" y="3090672"/>
            <a:ext cx="256032" cy="256032"/>
          </a:xfrm>
          <a:prstGeom prst="ellipse">
            <a:avLst/>
          </a:prstGeom>
          <a:solidFill>
            <a:srgbClr val="E85D04"/>
          </a:solidFill>
          <a:ln/>
        </p:spPr>
        <p:txBody>
          <a:bodyPr/>
          <a:lstStyle/>
          <a:p>
            <a:endParaRPr lang="en-US"/>
          </a:p>
        </p:txBody>
      </p:sp>
      <p:sp>
        <p:nvSpPr>
          <p:cNvPr id="20" name="Shape 18"/>
          <p:cNvSpPr/>
          <p:nvPr/>
        </p:nvSpPr>
        <p:spPr>
          <a:xfrm>
            <a:off x="1197864" y="3346704"/>
            <a:ext cx="54864" cy="320040"/>
          </a:xfrm>
          <a:prstGeom prst="rect">
            <a:avLst/>
          </a:prstGeom>
          <a:solidFill>
            <a:srgbClr val="E5E7EB"/>
          </a:solidFill>
          <a:ln/>
        </p:spPr>
        <p:txBody>
          <a:bodyPr/>
          <a:lstStyle/>
          <a:p>
            <a:endParaRPr lang="en-US"/>
          </a:p>
        </p:txBody>
      </p:sp>
      <p:sp>
        <p:nvSpPr>
          <p:cNvPr id="21" name="Text 19"/>
          <p:cNvSpPr/>
          <p:nvPr/>
        </p:nvSpPr>
        <p:spPr>
          <a:xfrm>
            <a:off x="274320" y="3054096"/>
            <a:ext cx="731520" cy="320040"/>
          </a:xfrm>
          <a:prstGeom prst="rect">
            <a:avLst/>
          </a:prstGeom>
          <a:noFill/>
          <a:ln/>
        </p:spPr>
        <p:txBody>
          <a:bodyPr wrap="square" lIns="0" tIns="0" rIns="0" bIns="0" rtlCol="0" anchor="ctr"/>
          <a:lstStyle/>
          <a:p>
            <a:pPr marL="0" indent="0" algn="r">
              <a:buNone/>
            </a:pPr>
            <a:r>
              <a:rPr lang="en-US" sz="1300" b="1" dirty="0">
                <a:solidFill>
                  <a:srgbClr val="E85D04"/>
                </a:solidFill>
                <a:latin typeface="Consolas" pitchFamily="34" charset="0"/>
                <a:ea typeface="Consolas" pitchFamily="34" charset="-122"/>
                <a:cs typeface="Consolas" pitchFamily="34" charset="-120"/>
              </a:rPr>
              <a:t>2016</a:t>
            </a:r>
            <a:endParaRPr lang="en-US" sz="1300" dirty="0"/>
          </a:p>
        </p:txBody>
      </p:sp>
      <p:sp>
        <p:nvSpPr>
          <p:cNvPr id="22" name="Text 20"/>
          <p:cNvSpPr/>
          <p:nvPr/>
        </p:nvSpPr>
        <p:spPr>
          <a:xfrm>
            <a:off x="1554480" y="3008376"/>
            <a:ext cx="6858000" cy="256032"/>
          </a:xfrm>
          <a:prstGeom prst="rect">
            <a:avLst/>
          </a:prstGeom>
          <a:noFill/>
          <a:ln/>
        </p:spPr>
        <p:txBody>
          <a:bodyPr wrap="square" lIns="0" tIns="0" rIns="0" bIns="0" rtlCol="0" anchor="ctr"/>
          <a:lstStyle/>
          <a:p>
            <a:pPr marL="0" indent="0">
              <a:buNone/>
            </a:pPr>
            <a:r>
              <a:rPr lang="en-US" sz="1300" b="1" dirty="0">
                <a:solidFill>
                  <a:srgbClr val="E85D04"/>
                </a:solidFill>
                <a:latin typeface="Calibri" pitchFamily="34" charset="0"/>
                <a:ea typeface="Calibri" pitchFamily="34" charset="-122"/>
                <a:cs typeface="Calibri" pitchFamily="34" charset="-120"/>
              </a:rPr>
              <a:t>David, Moran &amp; Yehudayoff</a:t>
            </a:r>
            <a:endParaRPr lang="en-US" sz="1300" dirty="0"/>
          </a:p>
        </p:txBody>
      </p:sp>
      <p:sp>
        <p:nvSpPr>
          <p:cNvPr id="23" name="Text 21"/>
          <p:cNvSpPr/>
          <p:nvPr/>
        </p:nvSpPr>
        <p:spPr>
          <a:xfrm>
            <a:off x="1554480" y="3273552"/>
            <a:ext cx="68580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Learning ⇔ sublinear sample compression schemes</a:t>
            </a:r>
            <a:endParaRPr lang="en-US" sz="1100" dirty="0"/>
          </a:p>
        </p:txBody>
      </p:sp>
      <p:sp>
        <p:nvSpPr>
          <p:cNvPr id="24" name="Shape 22"/>
          <p:cNvSpPr/>
          <p:nvPr/>
        </p:nvSpPr>
        <p:spPr>
          <a:xfrm>
            <a:off x="1097280" y="3749040"/>
            <a:ext cx="256032" cy="256032"/>
          </a:xfrm>
          <a:prstGeom prst="ellipse">
            <a:avLst/>
          </a:prstGeom>
          <a:solidFill>
            <a:srgbClr val="2D6A4F"/>
          </a:solidFill>
          <a:ln/>
        </p:spPr>
        <p:txBody>
          <a:bodyPr/>
          <a:lstStyle/>
          <a:p>
            <a:endParaRPr lang="en-US"/>
          </a:p>
        </p:txBody>
      </p:sp>
      <p:sp>
        <p:nvSpPr>
          <p:cNvPr id="25" name="Shape 23"/>
          <p:cNvSpPr/>
          <p:nvPr/>
        </p:nvSpPr>
        <p:spPr>
          <a:xfrm>
            <a:off x="1197864" y="4005072"/>
            <a:ext cx="54864" cy="320040"/>
          </a:xfrm>
          <a:prstGeom prst="rect">
            <a:avLst/>
          </a:prstGeom>
          <a:solidFill>
            <a:srgbClr val="E5E7EB"/>
          </a:solidFill>
          <a:ln/>
        </p:spPr>
        <p:txBody>
          <a:bodyPr/>
          <a:lstStyle/>
          <a:p>
            <a:endParaRPr lang="en-US"/>
          </a:p>
        </p:txBody>
      </p:sp>
      <p:sp>
        <p:nvSpPr>
          <p:cNvPr id="26" name="Text 24"/>
          <p:cNvSpPr/>
          <p:nvPr/>
        </p:nvSpPr>
        <p:spPr>
          <a:xfrm>
            <a:off x="274320" y="3712464"/>
            <a:ext cx="731520" cy="320040"/>
          </a:xfrm>
          <a:prstGeom prst="rect">
            <a:avLst/>
          </a:prstGeom>
          <a:noFill/>
          <a:ln/>
        </p:spPr>
        <p:txBody>
          <a:bodyPr wrap="square" lIns="0" tIns="0" rIns="0" bIns="0" rtlCol="0" anchor="ctr"/>
          <a:lstStyle/>
          <a:p>
            <a:pPr marL="0" indent="0" algn="r">
              <a:buNone/>
            </a:pPr>
            <a:r>
              <a:rPr lang="en-US" sz="1300" b="1" dirty="0">
                <a:solidFill>
                  <a:srgbClr val="2D6A4F"/>
                </a:solidFill>
                <a:latin typeface="Consolas" pitchFamily="34" charset="0"/>
                <a:ea typeface="Consolas" pitchFamily="34" charset="-122"/>
                <a:cs typeface="Consolas" pitchFamily="34" charset="-120"/>
              </a:rPr>
              <a:t>2022</a:t>
            </a:r>
            <a:endParaRPr lang="en-US" sz="1300" dirty="0"/>
          </a:p>
        </p:txBody>
      </p:sp>
      <p:sp>
        <p:nvSpPr>
          <p:cNvPr id="27" name="Text 25"/>
          <p:cNvSpPr/>
          <p:nvPr/>
        </p:nvSpPr>
        <p:spPr>
          <a:xfrm>
            <a:off x="1554480" y="3666744"/>
            <a:ext cx="6858000" cy="256032"/>
          </a:xfrm>
          <a:prstGeom prst="rect">
            <a:avLst/>
          </a:prstGeom>
          <a:noFill/>
          <a:ln/>
        </p:spPr>
        <p:txBody>
          <a:bodyPr wrap="square" lIns="0" tIns="0" rIns="0" bIns="0" rtlCol="0" anchor="ctr"/>
          <a:lstStyle/>
          <a:p>
            <a:pPr marL="0" indent="0">
              <a:buNone/>
            </a:pPr>
            <a:r>
              <a:rPr lang="en-US" sz="1300" b="1" dirty="0">
                <a:solidFill>
                  <a:srgbClr val="2D6A4F"/>
                </a:solidFill>
                <a:latin typeface="Calibri" pitchFamily="34" charset="0"/>
                <a:ea typeface="Calibri" pitchFamily="34" charset="-122"/>
                <a:cs typeface="Calibri" pitchFamily="34" charset="-120"/>
              </a:rPr>
              <a:t>Brukhim et al.</a:t>
            </a:r>
            <a:endParaRPr lang="en-US" sz="1300" dirty="0"/>
          </a:p>
        </p:txBody>
      </p:sp>
      <p:sp>
        <p:nvSpPr>
          <p:cNvPr id="28" name="Text 26"/>
          <p:cNvSpPr/>
          <p:nvPr/>
        </p:nvSpPr>
        <p:spPr>
          <a:xfrm>
            <a:off x="1554480" y="3931920"/>
            <a:ext cx="68580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DS dimension: first complete multiclass learnability characterization</a:t>
            </a:r>
            <a:endParaRPr lang="en-US" sz="1100" dirty="0"/>
          </a:p>
        </p:txBody>
      </p:sp>
      <p:sp>
        <p:nvSpPr>
          <p:cNvPr id="29" name="Shape 27"/>
          <p:cNvSpPr/>
          <p:nvPr/>
        </p:nvSpPr>
        <p:spPr>
          <a:xfrm>
            <a:off x="1097280" y="4407408"/>
            <a:ext cx="256032" cy="256032"/>
          </a:xfrm>
          <a:prstGeom prst="ellipse">
            <a:avLst/>
          </a:prstGeom>
          <a:solidFill>
            <a:srgbClr val="1B1B2F"/>
          </a:solidFill>
          <a:ln/>
        </p:spPr>
        <p:txBody>
          <a:bodyPr/>
          <a:lstStyle/>
          <a:p>
            <a:endParaRPr lang="en-US"/>
          </a:p>
        </p:txBody>
      </p:sp>
      <p:sp>
        <p:nvSpPr>
          <p:cNvPr id="30" name="Text 28"/>
          <p:cNvSpPr/>
          <p:nvPr/>
        </p:nvSpPr>
        <p:spPr>
          <a:xfrm>
            <a:off x="274320" y="4370832"/>
            <a:ext cx="731520" cy="320040"/>
          </a:xfrm>
          <a:prstGeom prst="rect">
            <a:avLst/>
          </a:prstGeom>
          <a:noFill/>
          <a:ln/>
        </p:spPr>
        <p:txBody>
          <a:bodyPr wrap="square" lIns="0" tIns="0" rIns="0" bIns="0" rtlCol="0" anchor="ctr"/>
          <a:lstStyle/>
          <a:p>
            <a:pPr marL="0" indent="0" algn="r">
              <a:buNone/>
            </a:pPr>
            <a:r>
              <a:rPr lang="en-US" sz="1300" b="1" dirty="0">
                <a:solidFill>
                  <a:srgbClr val="1B1B2F"/>
                </a:solidFill>
                <a:latin typeface="Consolas" pitchFamily="34" charset="0"/>
                <a:ea typeface="Consolas" pitchFamily="34" charset="-122"/>
                <a:cs typeface="Consolas" pitchFamily="34" charset="-120"/>
              </a:rPr>
              <a:t>2024</a:t>
            </a:r>
            <a:endParaRPr lang="en-US" sz="1300" dirty="0"/>
          </a:p>
        </p:txBody>
      </p:sp>
      <p:sp>
        <p:nvSpPr>
          <p:cNvPr id="31" name="Text 29"/>
          <p:cNvSpPr/>
          <p:nvPr/>
        </p:nvSpPr>
        <p:spPr>
          <a:xfrm>
            <a:off x="1554480" y="4325112"/>
            <a:ext cx="6858000" cy="256032"/>
          </a:xfrm>
          <a:prstGeom prst="rect">
            <a:avLst/>
          </a:prstGeom>
          <a:noFill/>
          <a:ln/>
        </p:spPr>
        <p:txBody>
          <a:bodyPr wrap="square" lIns="0" tIns="0" rIns="0" bIns="0" rtlCol="0" anchor="ctr"/>
          <a:lstStyle/>
          <a:p>
            <a:pPr marL="0" indent="0">
              <a:buNone/>
            </a:pPr>
            <a:r>
              <a:rPr lang="en-US" sz="1300" b="1" dirty="0">
                <a:solidFill>
                  <a:srgbClr val="1B1B2F"/>
                </a:solidFill>
                <a:latin typeface="Calibri" pitchFamily="34" charset="0"/>
                <a:ea typeface="Calibri" pitchFamily="34" charset="-122"/>
                <a:cs typeface="Calibri" pitchFamily="34" charset="-120"/>
              </a:rPr>
              <a:t>Asilis et al.</a:t>
            </a:r>
            <a:endParaRPr lang="en-US" sz="1300" dirty="0"/>
          </a:p>
        </p:txBody>
      </p:sp>
      <p:sp>
        <p:nvSpPr>
          <p:cNvPr id="32" name="Text 30"/>
          <p:cNvSpPr/>
          <p:nvPr/>
        </p:nvSpPr>
        <p:spPr>
          <a:xfrm>
            <a:off x="1554480" y="4590288"/>
            <a:ext cx="685800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Local regularization introduced; unsupervised variant learns all multiclass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B2F"/>
        </a:solidFill>
        <a:effectLst/>
      </p:bgPr>
    </p:bg>
    <p:spTree>
      <p:nvGrpSpPr>
        <p:cNvPr id="1" name=""/>
        <p:cNvGrpSpPr/>
        <p:nvPr/>
      </p:nvGrpSpPr>
      <p:grpSpPr>
        <a:xfrm>
          <a:off x="0" y="0"/>
          <a:ext cx="0" cy="0"/>
          <a:chOff x="0" y="0"/>
          <a:chExt cx="0" cy="0"/>
        </a:xfrm>
      </p:grpSpPr>
      <p:sp>
        <p:nvSpPr>
          <p:cNvPr id="2" name="Shape 0"/>
          <p:cNvSpPr/>
          <p:nvPr/>
        </p:nvSpPr>
        <p:spPr>
          <a:xfrm>
            <a:off x="-1828800" y="-914400"/>
            <a:ext cx="4572000" cy="4572000"/>
          </a:xfrm>
          <a:prstGeom prst="ellipse">
            <a:avLst/>
          </a:prstGeom>
          <a:solidFill>
            <a:srgbClr val="1E2761">
              <a:alpha val="70000"/>
            </a:srgbClr>
          </a:solidFill>
          <a:ln/>
        </p:spPr>
        <p:txBody>
          <a:bodyPr/>
          <a:lstStyle/>
          <a:p>
            <a:endParaRPr lang="en-US"/>
          </a:p>
        </p:txBody>
      </p:sp>
      <p:sp>
        <p:nvSpPr>
          <p:cNvPr id="3" name="Shape 1"/>
          <p:cNvSpPr/>
          <p:nvPr/>
        </p:nvSpPr>
        <p:spPr>
          <a:xfrm>
            <a:off x="6400800" y="2286000"/>
            <a:ext cx="4572000" cy="4572000"/>
          </a:xfrm>
          <a:prstGeom prst="ellipse">
            <a:avLst/>
          </a:prstGeom>
          <a:solidFill>
            <a:srgbClr val="1C7293">
              <a:alpha val="60000"/>
            </a:srgbClr>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023360" y="274320"/>
            <a:ext cx="1097280" cy="1097280"/>
          </a:xfrm>
          <a:prstGeom prst="rect">
            <a:avLst/>
          </a:prstGeom>
        </p:spPr>
      </p:pic>
      <p:sp>
        <p:nvSpPr>
          <p:cNvPr id="5" name="Text 2"/>
          <p:cNvSpPr/>
          <p:nvPr/>
        </p:nvSpPr>
        <p:spPr>
          <a:xfrm>
            <a:off x="457200" y="1371600"/>
            <a:ext cx="8229600" cy="457200"/>
          </a:xfrm>
          <a:prstGeom prst="rect">
            <a:avLst/>
          </a:prstGeom>
          <a:noFill/>
          <a:ln/>
        </p:spPr>
        <p:txBody>
          <a:bodyPr wrap="square" rtlCol="0" anchor="ctr"/>
          <a:lstStyle/>
          <a:p>
            <a:pPr marL="0" indent="0" algn="ctr">
              <a:buNone/>
            </a:pPr>
            <a:r>
              <a:rPr lang="en-US" sz="1600" b="1" kern="0" spc="600" dirty="0">
                <a:solidFill>
                  <a:srgbClr val="F4C430"/>
                </a:solidFill>
                <a:latin typeface="Calibri" pitchFamily="34" charset="0"/>
                <a:ea typeface="Calibri" pitchFamily="34" charset="-122"/>
                <a:cs typeface="Calibri" pitchFamily="34" charset="-120"/>
              </a:rPr>
              <a:t>OPEN PROBLEM 1</a:t>
            </a:r>
            <a:endParaRPr lang="en-US" sz="1600" dirty="0"/>
          </a:p>
        </p:txBody>
      </p:sp>
      <p:sp>
        <p:nvSpPr>
          <p:cNvPr id="6" name="Shape 3"/>
          <p:cNvSpPr/>
          <p:nvPr/>
        </p:nvSpPr>
        <p:spPr>
          <a:xfrm>
            <a:off x="731520" y="1920240"/>
            <a:ext cx="7680960" cy="1645920"/>
          </a:xfrm>
          <a:prstGeom prst="rect">
            <a:avLst/>
          </a:prstGeom>
          <a:solidFill>
            <a:srgbClr val="FFFFFF">
              <a:alpha val="12000"/>
            </a:srgbClr>
          </a:solidFill>
          <a:ln/>
        </p:spPr>
        <p:txBody>
          <a:bodyPr/>
          <a:lstStyle/>
          <a:p>
            <a:endParaRPr lang="en-US"/>
          </a:p>
        </p:txBody>
      </p:sp>
      <p:sp>
        <p:nvSpPr>
          <p:cNvPr id="7" name="Text 4"/>
          <p:cNvSpPr/>
          <p:nvPr/>
        </p:nvSpPr>
        <p:spPr>
          <a:xfrm>
            <a:off x="731520" y="1965960"/>
            <a:ext cx="7680960" cy="1554480"/>
          </a:xfrm>
          <a:prstGeom prst="rect">
            <a:avLst/>
          </a:prstGeom>
          <a:noFill/>
          <a:ln/>
        </p:spPr>
        <p:txBody>
          <a:bodyPr wrap="square" rtlCol="0" anchor="ctr"/>
          <a:lstStyle/>
          <a:p>
            <a:pPr marL="0" indent="0" algn="ctr">
              <a:lnSpc>
                <a:spcPct val="115000"/>
              </a:lnSpc>
              <a:buNone/>
            </a:pPr>
            <a:r>
              <a:rPr lang="en-US" sz="1900" b="1" dirty="0">
                <a:solidFill>
                  <a:srgbClr val="FFFFFF"/>
                </a:solidFill>
                <a:latin typeface="Georgia" pitchFamily="34" charset="0"/>
                <a:ea typeface="Georgia" pitchFamily="34" charset="-122"/>
                <a:cs typeface="Georgia" pitchFamily="34" charset="-120"/>
              </a:rPr>
              <a:t>In multiclass classification,</a:t>
            </a:r>
            <a:endParaRPr lang="en-US" sz="1900" dirty="0"/>
          </a:p>
          <a:p>
            <a:pPr marL="0" indent="0" algn="ctr">
              <a:lnSpc>
                <a:spcPct val="115000"/>
              </a:lnSpc>
              <a:buNone/>
            </a:pPr>
            <a:r>
              <a:rPr lang="en-US" sz="1900" b="1" dirty="0">
                <a:solidFill>
                  <a:srgbClr val="FFFFFF"/>
                </a:solidFill>
                <a:latin typeface="Georgia" pitchFamily="34" charset="0"/>
                <a:ea typeface="Georgia" pitchFamily="34" charset="-122"/>
                <a:cs typeface="Georgia" pitchFamily="34" charset="-120"/>
              </a:rPr>
              <a:t>can ALL learnable hypothesis classes</a:t>
            </a:r>
            <a:endParaRPr lang="en-US" sz="1900" dirty="0"/>
          </a:p>
          <a:p>
            <a:pPr marL="0" indent="0" algn="ctr">
              <a:lnSpc>
                <a:spcPct val="115000"/>
              </a:lnSpc>
              <a:buNone/>
            </a:pPr>
            <a:r>
              <a:rPr lang="en-US" sz="1900" b="1" dirty="0">
                <a:solidFill>
                  <a:srgbClr val="FFFFFF"/>
                </a:solidFill>
                <a:latin typeface="Georgia" pitchFamily="34" charset="0"/>
                <a:ea typeface="Georgia" pitchFamily="34" charset="-122"/>
                <a:cs typeface="Georgia" pitchFamily="34" charset="-120"/>
              </a:rPr>
              <a:t>be learned by a local regularizer?</a:t>
            </a:r>
            <a:endParaRPr lang="en-US" sz="1900" dirty="0"/>
          </a:p>
          <a:p>
            <a:pPr marL="0" indent="0" algn="ctr">
              <a:lnSpc>
                <a:spcPct val="115000"/>
              </a:lnSpc>
              <a:buNone/>
            </a:pPr>
            <a:endParaRPr lang="en-US" sz="1900" dirty="0"/>
          </a:p>
          <a:p>
            <a:pPr marL="0" indent="0" algn="ctr">
              <a:lnSpc>
                <a:spcPct val="115000"/>
              </a:lnSpc>
              <a:buNone/>
            </a:pPr>
            <a:r>
              <a:rPr lang="en-US" sz="1900" b="1" dirty="0">
                <a:solidFill>
                  <a:srgbClr val="FFFFFF"/>
                </a:solidFill>
                <a:latin typeface="Georgia" pitchFamily="34" charset="0"/>
                <a:ea typeface="Georgia" pitchFamily="34" charset="-122"/>
                <a:cs typeface="Georgia" pitchFamily="34" charset="-120"/>
              </a:rPr>
              <a:t>If so, with optimal (or nearly optimal) sample complexity?</a:t>
            </a:r>
            <a:endParaRPr lang="en-US" sz="1900" dirty="0"/>
          </a:p>
        </p:txBody>
      </p:sp>
      <p:sp>
        <p:nvSpPr>
          <p:cNvPr id="8" name="Text 5"/>
          <p:cNvSpPr/>
          <p:nvPr/>
        </p:nvSpPr>
        <p:spPr>
          <a:xfrm>
            <a:off x="731520" y="3840480"/>
            <a:ext cx="7680960" cy="548640"/>
          </a:xfrm>
          <a:prstGeom prst="rect">
            <a:avLst/>
          </a:prstGeom>
          <a:noFill/>
          <a:ln/>
        </p:spPr>
        <p:txBody>
          <a:bodyPr wrap="square" rtlCol="0" anchor="ctr"/>
          <a:lstStyle/>
          <a:p>
            <a:pPr marL="0" indent="0" algn="ctr">
              <a:buNone/>
            </a:pPr>
            <a:r>
              <a:rPr lang="en-US" sz="1400" i="1" dirty="0">
                <a:solidFill>
                  <a:srgbClr val="CADCFC"/>
                </a:solidFill>
                <a:latin typeface="Calibri" pitchFamily="34" charset="0"/>
                <a:ea typeface="Calibri" pitchFamily="34" charset="-122"/>
                <a:cs typeface="Calibri" pitchFamily="34" charset="-120"/>
              </a:rPr>
              <a:t>Equivalently: Does local regularization play the same role in multiclass</a:t>
            </a:r>
            <a:endParaRPr lang="en-US" sz="1400" dirty="0"/>
          </a:p>
          <a:p>
            <a:pPr marL="0" indent="0" algn="ctr">
              <a:buNone/>
            </a:pPr>
            <a:r>
              <a:rPr lang="en-US" sz="1400" i="1" dirty="0">
                <a:solidFill>
                  <a:srgbClr val="CADCFC"/>
                </a:solidFill>
                <a:latin typeface="Calibri" pitchFamily="34" charset="0"/>
                <a:ea typeface="Calibri" pitchFamily="34" charset="-122"/>
                <a:cs typeface="Calibri" pitchFamily="34" charset="-120"/>
              </a:rPr>
              <a:t>as ERM does in binary classification?</a:t>
            </a:r>
            <a:endParaRPr lang="en-US" sz="1400" dirty="0"/>
          </a:p>
        </p:txBody>
      </p:sp>
      <p:sp>
        <p:nvSpPr>
          <p:cNvPr id="9" name="Text 6"/>
          <p:cNvSpPr/>
          <p:nvPr/>
        </p:nvSpPr>
        <p:spPr>
          <a:xfrm>
            <a:off x="731520" y="4389120"/>
            <a:ext cx="7680960" cy="411480"/>
          </a:xfrm>
          <a:prstGeom prst="rect">
            <a:avLst/>
          </a:prstGeom>
          <a:noFill/>
          <a:ln/>
        </p:spPr>
        <p:txBody>
          <a:bodyPr wrap="square" rtlCol="0" anchor="ctr"/>
          <a:lstStyle/>
          <a:p>
            <a:pPr marL="0" indent="0" algn="ctr">
              <a:buNone/>
            </a:pPr>
            <a:r>
              <a:rPr lang="en-US" sz="1200" dirty="0">
                <a:solidFill>
                  <a:srgbClr val="F4C430"/>
                </a:solidFill>
                <a:latin typeface="Calibri" pitchFamily="34" charset="0"/>
                <a:ea typeface="Calibri" pitchFamily="34" charset="-122"/>
                <a:cs typeface="Calibri" pitchFamily="34" charset="-120"/>
              </a:rPr>
              <a:t>Known: Unsupervised local reg (which also sees unlabeled S) works.  Question: Can we drop that?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Why BOTH Answers Would Be Profound</a:t>
            </a:r>
            <a:endParaRPr lang="en-US" sz="2400" dirty="0"/>
          </a:p>
        </p:txBody>
      </p:sp>
      <p:sp>
        <p:nvSpPr>
          <p:cNvPr id="4" name="Shape 2"/>
          <p:cNvSpPr/>
          <p:nvPr/>
        </p:nvSpPr>
        <p:spPr>
          <a:xfrm>
            <a:off x="457200" y="1005840"/>
            <a:ext cx="3931920" cy="37490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457200" y="1005840"/>
            <a:ext cx="54864" cy="3749040"/>
          </a:xfrm>
          <a:prstGeom prst="rect">
            <a:avLst/>
          </a:prstGeom>
          <a:solidFill>
            <a:srgbClr val="2D6A4F"/>
          </a:solidFill>
          <a:ln/>
        </p:spPr>
        <p:txBody>
          <a:bodyPr/>
          <a:lstStyle/>
          <a:p>
            <a:endParaRPr lang="en-US"/>
          </a:p>
        </p:txBody>
      </p:sp>
      <p:sp>
        <p:nvSpPr>
          <p:cNvPr id="6" name="Text 4"/>
          <p:cNvSpPr/>
          <p:nvPr/>
        </p:nvSpPr>
        <p:spPr>
          <a:xfrm>
            <a:off x="685800" y="1051560"/>
            <a:ext cx="3474720" cy="274320"/>
          </a:xfrm>
          <a:prstGeom prst="rect">
            <a:avLst/>
          </a:prstGeom>
          <a:noFill/>
          <a:ln/>
        </p:spPr>
        <p:txBody>
          <a:bodyPr wrap="square" lIns="0" tIns="0" rIns="0" bIns="0" rtlCol="0" anchor="ctr"/>
          <a:lstStyle/>
          <a:p>
            <a:pPr marL="0" indent="0">
              <a:buNone/>
            </a:pPr>
            <a:r>
              <a:rPr lang="en-US" sz="1400" b="1" dirty="0">
                <a:solidFill>
                  <a:srgbClr val="2D6A4F"/>
                </a:solidFill>
                <a:latin typeface="Georgia" pitchFamily="34" charset="0"/>
                <a:ea typeface="Georgia" pitchFamily="34" charset="-122"/>
                <a:cs typeface="Georgia" pitchFamily="34" charset="-120"/>
              </a:rPr>
              <a:t>If YES — Positive Resolution</a:t>
            </a:r>
            <a:endParaRPr lang="en-US" sz="1400" dirty="0"/>
          </a:p>
        </p:txBody>
      </p:sp>
      <p:sp>
        <p:nvSpPr>
          <p:cNvPr id="7" name="Text 5"/>
          <p:cNvSpPr/>
          <p:nvPr/>
        </p:nvSpPr>
        <p:spPr>
          <a:xfrm>
            <a:off x="685800" y="1371600"/>
            <a:ext cx="3474720" cy="3200400"/>
          </a:xfrm>
          <a:prstGeom prst="rect">
            <a:avLst/>
          </a:prstGeom>
          <a:noFill/>
          <a:ln/>
        </p:spPr>
        <p:txBody>
          <a:bodyPr wrap="square" lIns="0" tIns="0" rIns="0" bIns="0" rtlCol="0" anchor="ctr"/>
          <a:lstStyle/>
          <a:p>
            <a:pPr marL="0" indent="0">
              <a:buNone/>
            </a:pPr>
            <a:r>
              <a:rPr lang="en-US" sz="1200" b="1" dirty="0">
                <a:solidFill>
                  <a:srgbClr val="2D6A4F"/>
                </a:solidFill>
                <a:latin typeface="Calibri" pitchFamily="34" charset="0"/>
                <a:ea typeface="Calibri" pitchFamily="34" charset="-122"/>
                <a:cs typeface="Calibri" pitchFamily="34" charset="-120"/>
              </a:rPr>
              <a:t>1. Universal template:</a:t>
            </a: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One simple rule for all multiclass — like ERM for binary. Practitioners get a clean framework.</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2D6A4F"/>
                </a:solidFill>
                <a:latin typeface="Calibri" pitchFamily="34" charset="0"/>
                <a:ea typeface="Calibri" pitchFamily="34" charset="-122"/>
                <a:cs typeface="Calibri" pitchFamily="34" charset="-120"/>
              </a:rPr>
              <a:t>2. OIGs become redundant:</a:t>
            </a: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The complex OIG machinery is unnecessary. Exponential-size graphs, axiom of choice — all avoidable.</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2D6A4F"/>
                </a:solidFill>
                <a:latin typeface="Calibri" pitchFamily="34" charset="0"/>
                <a:ea typeface="Calibri" pitchFamily="34" charset="-122"/>
                <a:cs typeface="Calibri" pitchFamily="34" charset="-120"/>
              </a:rPr>
              <a:t>3. Unlabeled data is unnecessary:</a:t>
            </a: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OIGs use unlabeled training data. Local reg doesn’t. This reveals a fundamental redundancy in what information learners need.</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2D6A4F"/>
                </a:solidFill>
                <a:latin typeface="Calibri" pitchFamily="34" charset="0"/>
                <a:ea typeface="Calibri" pitchFamily="34" charset="-122"/>
                <a:cs typeface="Calibri" pitchFamily="34" charset="-120"/>
              </a:rPr>
              <a:t>4. Sample compression connection:</a:t>
            </a: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May yield new insights linking regularization to compression schemes.</a:t>
            </a:r>
            <a:endParaRPr lang="en-US" sz="1200" dirty="0"/>
          </a:p>
        </p:txBody>
      </p:sp>
      <p:sp>
        <p:nvSpPr>
          <p:cNvPr id="8" name="Shape 6"/>
          <p:cNvSpPr/>
          <p:nvPr/>
        </p:nvSpPr>
        <p:spPr>
          <a:xfrm>
            <a:off x="4754880" y="1005840"/>
            <a:ext cx="3931920" cy="37490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4754880" y="1005840"/>
            <a:ext cx="54864" cy="3749040"/>
          </a:xfrm>
          <a:prstGeom prst="rect">
            <a:avLst/>
          </a:prstGeom>
          <a:solidFill>
            <a:srgbClr val="D62828"/>
          </a:solidFill>
          <a:ln/>
        </p:spPr>
        <p:txBody>
          <a:bodyPr/>
          <a:lstStyle/>
          <a:p>
            <a:endParaRPr lang="en-US"/>
          </a:p>
        </p:txBody>
      </p:sp>
      <p:sp>
        <p:nvSpPr>
          <p:cNvPr id="10" name="Text 8"/>
          <p:cNvSpPr/>
          <p:nvPr/>
        </p:nvSpPr>
        <p:spPr>
          <a:xfrm>
            <a:off x="4983480" y="1051560"/>
            <a:ext cx="3474720" cy="274320"/>
          </a:xfrm>
          <a:prstGeom prst="rect">
            <a:avLst/>
          </a:prstGeom>
          <a:noFill/>
          <a:ln/>
        </p:spPr>
        <p:txBody>
          <a:bodyPr wrap="square" lIns="0" tIns="0" rIns="0" bIns="0" rtlCol="0" anchor="ctr"/>
          <a:lstStyle/>
          <a:p>
            <a:pPr marL="0" indent="0">
              <a:buNone/>
            </a:pPr>
            <a:r>
              <a:rPr lang="en-US" sz="1400" b="1" dirty="0">
                <a:solidFill>
                  <a:srgbClr val="D62828"/>
                </a:solidFill>
                <a:latin typeface="Georgia" pitchFamily="34" charset="0"/>
                <a:ea typeface="Georgia" pitchFamily="34" charset="-122"/>
                <a:cs typeface="Georgia" pitchFamily="34" charset="-120"/>
              </a:rPr>
              <a:t>If NO — Negative Resolution</a:t>
            </a:r>
            <a:endParaRPr lang="en-US" sz="1400" dirty="0"/>
          </a:p>
        </p:txBody>
      </p:sp>
      <p:sp>
        <p:nvSpPr>
          <p:cNvPr id="11" name="Text 9"/>
          <p:cNvSpPr/>
          <p:nvPr/>
        </p:nvSpPr>
        <p:spPr>
          <a:xfrm>
            <a:off x="4983480" y="1371600"/>
            <a:ext cx="3474720" cy="3200400"/>
          </a:xfrm>
          <a:prstGeom prst="rect">
            <a:avLst/>
          </a:prstGeom>
          <a:noFill/>
          <a:ln/>
        </p:spPr>
        <p:txBody>
          <a:bodyPr wrap="square" lIns="0" tIns="0" rIns="0" bIns="0" rtlCol="0" anchor="ctr"/>
          <a:lstStyle/>
          <a:p>
            <a:pPr marL="0" indent="0">
              <a:buNone/>
            </a:pPr>
            <a:r>
              <a:rPr lang="en-US" sz="1200" b="1" dirty="0">
                <a:solidFill>
                  <a:srgbClr val="D62828"/>
                </a:solidFill>
                <a:latin typeface="Calibri" pitchFamily="34" charset="0"/>
                <a:ea typeface="Calibri" pitchFamily="34" charset="-122"/>
                <a:cs typeface="Calibri" pitchFamily="34" charset="-120"/>
              </a:rPr>
              <a:t>1. OIG structure is vital:</a:t>
            </a: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Recent OIG research is vindicated. The complexity is necessary, not an artifact.</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D62828"/>
                </a:solidFill>
                <a:latin typeface="Calibri" pitchFamily="34" charset="0"/>
                <a:ea typeface="Calibri" pitchFamily="34" charset="-122"/>
                <a:cs typeface="Calibri" pitchFamily="34" charset="-120"/>
              </a:rPr>
              <a:t>2. Training geometry matters:</a:t>
            </a: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Learners MUST inspect the structure of training data, not just test-point complexity. Looking at unlabeled S is essential.</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D62828"/>
                </a:solidFill>
                <a:latin typeface="Calibri" pitchFamily="34" charset="0"/>
                <a:ea typeface="Calibri" pitchFamily="34" charset="-122"/>
                <a:cs typeface="Calibri" pitchFamily="34" charset="-120"/>
              </a:rPr>
              <a:t>3. Complexity barrier:</a:t>
            </a: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There’s a provable limit to how simple multiclass learners can be. Simpler algorithms cannot cross this barrier.</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D62828"/>
                </a:solidFill>
                <a:latin typeface="Calibri" pitchFamily="34" charset="0"/>
                <a:ea typeface="Calibri" pitchFamily="34" charset="-122"/>
                <a:cs typeface="Calibri" pitchFamily="34" charset="-120"/>
              </a:rPr>
              <a:t>4. Defeats the purpose:</a:t>
            </a: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Although we can try different techniques to simplify learning, they ultimately cannot avoid the need for complex structure.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Candidate Counterexample HΔ: Construction</a:t>
            </a:r>
            <a:endParaRPr lang="en-US" sz="2400" dirty="0"/>
          </a:p>
        </p:txBody>
      </p:sp>
      <p:sp>
        <p:nvSpPr>
          <p:cNvPr id="4" name="Shape 2"/>
          <p:cNvSpPr/>
          <p:nvPr/>
        </p:nvSpPr>
        <p:spPr>
          <a:xfrm>
            <a:off x="457200" y="1005840"/>
            <a:ext cx="8229600" cy="9144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457200" y="1005840"/>
            <a:ext cx="54864" cy="914400"/>
          </a:xfrm>
          <a:prstGeom prst="rect">
            <a:avLst/>
          </a:prstGeom>
          <a:solidFill>
            <a:srgbClr val="1B1B2F"/>
          </a:solidFill>
          <a:ln/>
        </p:spPr>
        <p:txBody>
          <a:bodyPr/>
          <a:lstStyle/>
          <a:p>
            <a:endParaRPr lang="en-US"/>
          </a:p>
        </p:txBody>
      </p:sp>
      <p:sp>
        <p:nvSpPr>
          <p:cNvPr id="6" name="Text 4"/>
          <p:cNvSpPr/>
          <p:nvPr/>
        </p:nvSpPr>
        <p:spPr>
          <a:xfrm>
            <a:off x="685800" y="1051560"/>
            <a:ext cx="914400" cy="228600"/>
          </a:xfrm>
          <a:prstGeom prst="rect">
            <a:avLst/>
          </a:prstGeom>
          <a:noFill/>
          <a:ln/>
        </p:spPr>
        <p:txBody>
          <a:bodyPr wrap="square" lIns="0" tIns="0" rIns="0" bIns="0" rtlCol="0" anchor="ctr"/>
          <a:lstStyle/>
          <a:p>
            <a:pPr marL="0" indent="0">
              <a:buNone/>
            </a:pPr>
            <a:r>
              <a:rPr lang="en-US" sz="1300" b="1" dirty="0">
                <a:solidFill>
                  <a:srgbClr val="1B1B2F"/>
                </a:solidFill>
                <a:latin typeface="Georgia" pitchFamily="34" charset="0"/>
                <a:ea typeface="Georgia" pitchFamily="34" charset="-122"/>
                <a:cs typeface="Georgia" pitchFamily="34" charset="-120"/>
              </a:rPr>
              <a:t>Setup</a:t>
            </a:r>
            <a:endParaRPr lang="en-US" sz="1300" dirty="0"/>
          </a:p>
        </p:txBody>
      </p:sp>
      <p:sp>
        <p:nvSpPr>
          <p:cNvPr id="7" name="Text 5"/>
          <p:cNvSpPr/>
          <p:nvPr/>
        </p:nvSpPr>
        <p:spPr>
          <a:xfrm>
            <a:off x="685800" y="1298448"/>
            <a:ext cx="7772400" cy="54864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Domain: 𝒳 = ℕ (natural numbers, infinite)     |     Label set: 𝒴 = {*} ∪ 2^𝒳  (a default * plus ALL subsets of ℕ)</a:t>
            </a:r>
            <a:endParaRPr lang="en-US" sz="1200" dirty="0"/>
          </a:p>
          <a:p>
            <a:pPr marL="0" indent="0">
              <a:buNone/>
            </a:pPr>
            <a:r>
              <a:rPr lang="en-US" sz="1100" i="1" dirty="0">
                <a:solidFill>
                  <a:srgbClr val="6B7280"/>
                </a:solidFill>
                <a:latin typeface="Calibri" pitchFamily="34" charset="0"/>
                <a:ea typeface="Calibri" pitchFamily="34" charset="-122"/>
                <a:cs typeface="Calibri" pitchFamily="34" charset="-120"/>
              </a:rPr>
              <a:t>Labels are actual sets like {1,3,5,7} or {2,4,6,8,...}. The label at a point x tells you WHICH SET x belongs to.</a:t>
            </a:r>
            <a:endParaRPr lang="en-US" sz="1200" dirty="0"/>
          </a:p>
        </p:txBody>
      </p:sp>
      <p:sp>
        <p:nvSpPr>
          <p:cNvPr id="8" name="Shape 6"/>
          <p:cNvSpPr/>
          <p:nvPr/>
        </p:nvSpPr>
        <p:spPr>
          <a:xfrm>
            <a:off x="457200" y="2148840"/>
            <a:ext cx="8229600" cy="14630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457200" y="2148840"/>
            <a:ext cx="54864" cy="1463040"/>
          </a:xfrm>
          <a:prstGeom prst="rect">
            <a:avLst/>
          </a:prstGeom>
          <a:solidFill>
            <a:srgbClr val="1C7293"/>
          </a:solidFill>
          <a:ln/>
        </p:spPr>
        <p:txBody>
          <a:bodyPr/>
          <a:lstStyle/>
          <a:p>
            <a:endParaRPr lang="en-US"/>
          </a:p>
        </p:txBody>
      </p:sp>
      <p:sp>
        <p:nvSpPr>
          <p:cNvPr id="10" name="Text 8"/>
          <p:cNvSpPr/>
          <p:nvPr/>
        </p:nvSpPr>
        <p:spPr>
          <a:xfrm>
            <a:off x="685800" y="2194560"/>
            <a:ext cx="7772400" cy="228600"/>
          </a:xfrm>
          <a:prstGeom prst="rect">
            <a:avLst/>
          </a:prstGeom>
          <a:noFill/>
          <a:ln/>
        </p:spPr>
        <p:txBody>
          <a:bodyPr wrap="square" lIns="0" tIns="0" rIns="0" bIns="0" rtlCol="0" anchor="ctr"/>
          <a:lstStyle/>
          <a:p>
            <a:pPr marL="0" indent="0">
              <a:buNone/>
            </a:pPr>
            <a:r>
              <a:rPr lang="en-US" sz="1300" b="1" dirty="0">
                <a:solidFill>
                  <a:srgbClr val="1C7293"/>
                </a:solidFill>
                <a:latin typeface="Georgia" pitchFamily="34" charset="0"/>
                <a:ea typeface="Georgia" pitchFamily="34" charset="-122"/>
                <a:cs typeface="Georgia" pitchFamily="34" charset="-120"/>
              </a:rPr>
              <a:t>The Triple Collection J</a:t>
            </a:r>
            <a:endParaRPr lang="en-US" sz="1300" dirty="0"/>
          </a:p>
        </p:txBody>
      </p:sp>
      <p:sp>
        <p:nvSpPr>
          <p:cNvPr id="11" name="Text 9"/>
          <p:cNvSpPr/>
          <p:nvPr/>
        </p:nvSpPr>
        <p:spPr>
          <a:xfrm>
            <a:off x="685800" y="2468880"/>
            <a:ext cx="7772400" cy="27432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J ⊆ (2^𝒳)³ is the set of all triples (A, B, C) of finite subsets of ℕ satisfying:</a:t>
            </a:r>
            <a:endParaRPr lang="en-US" sz="1200" dirty="0"/>
          </a:p>
        </p:txBody>
      </p:sp>
      <p:sp>
        <p:nvSpPr>
          <p:cNvPr id="12" name="Shape 10"/>
          <p:cNvSpPr/>
          <p:nvPr/>
        </p:nvSpPr>
        <p:spPr>
          <a:xfrm>
            <a:off x="731520" y="2788920"/>
            <a:ext cx="3474720" cy="365760"/>
          </a:xfrm>
          <a:prstGeom prst="rect">
            <a:avLst/>
          </a:prstGeom>
          <a:solidFill>
            <a:srgbClr val="E8F0FE"/>
          </a:solidFill>
          <a:ln w="12700">
            <a:solidFill>
              <a:srgbClr val="1C7293"/>
            </a:solidFill>
            <a:prstDash val="solid"/>
          </a:ln>
        </p:spPr>
        <p:txBody>
          <a:bodyPr/>
          <a:lstStyle/>
          <a:p>
            <a:endParaRPr lang="en-US"/>
          </a:p>
        </p:txBody>
      </p:sp>
      <p:sp>
        <p:nvSpPr>
          <p:cNvPr id="13" name="Text 11"/>
          <p:cNvSpPr/>
          <p:nvPr/>
        </p:nvSpPr>
        <p:spPr>
          <a:xfrm>
            <a:off x="868680" y="2834640"/>
            <a:ext cx="3200400" cy="274320"/>
          </a:xfrm>
          <a:prstGeom prst="rect">
            <a:avLst/>
          </a:prstGeom>
          <a:noFill/>
          <a:ln/>
        </p:spPr>
        <p:txBody>
          <a:bodyPr wrap="square" lIns="0" tIns="0" rIns="0" bIns="0" rtlCol="0" anchor="ctr"/>
          <a:lstStyle/>
          <a:p>
            <a:pPr marL="0" indent="0" algn="ctr">
              <a:buNone/>
            </a:pPr>
            <a:r>
              <a:rPr lang="en-US" sz="1400" dirty="0">
                <a:solidFill>
                  <a:srgbClr val="1A1A2E"/>
                </a:solidFill>
                <a:latin typeface="Consolas" pitchFamily="34" charset="0"/>
                <a:ea typeface="Consolas" pitchFamily="34" charset="-122"/>
                <a:cs typeface="Consolas" pitchFamily="34" charset="-120"/>
              </a:rPr>
              <a:t>1.  |A| = |B| = |C| = k  (all same size)</a:t>
            </a:r>
            <a:endParaRPr lang="en-US" sz="1400" dirty="0"/>
          </a:p>
        </p:txBody>
      </p:sp>
      <p:sp>
        <p:nvSpPr>
          <p:cNvPr id="14" name="Shape 12"/>
          <p:cNvSpPr/>
          <p:nvPr/>
        </p:nvSpPr>
        <p:spPr>
          <a:xfrm>
            <a:off x="4572000" y="2788920"/>
            <a:ext cx="3931920" cy="365760"/>
          </a:xfrm>
          <a:prstGeom prst="rect">
            <a:avLst/>
          </a:prstGeom>
          <a:solidFill>
            <a:srgbClr val="E8F0FE"/>
          </a:solidFill>
          <a:ln w="12700">
            <a:solidFill>
              <a:srgbClr val="1C7293"/>
            </a:solidFill>
            <a:prstDash val="solid"/>
          </a:ln>
        </p:spPr>
        <p:txBody>
          <a:bodyPr/>
          <a:lstStyle/>
          <a:p>
            <a:endParaRPr lang="en-US"/>
          </a:p>
        </p:txBody>
      </p:sp>
      <p:sp>
        <p:nvSpPr>
          <p:cNvPr id="15" name="Text 13"/>
          <p:cNvSpPr/>
          <p:nvPr/>
        </p:nvSpPr>
        <p:spPr>
          <a:xfrm>
            <a:off x="4709160" y="2834640"/>
            <a:ext cx="3657600" cy="274320"/>
          </a:xfrm>
          <a:prstGeom prst="rect">
            <a:avLst/>
          </a:prstGeom>
          <a:noFill/>
          <a:ln/>
        </p:spPr>
        <p:txBody>
          <a:bodyPr wrap="square" lIns="0" tIns="0" rIns="0" bIns="0" rtlCol="0" anchor="ctr"/>
          <a:lstStyle/>
          <a:p>
            <a:pPr marL="0" indent="0" algn="ctr">
              <a:buNone/>
            </a:pPr>
            <a:r>
              <a:rPr lang="en-US" sz="1400" dirty="0">
                <a:solidFill>
                  <a:srgbClr val="1A1A2E"/>
                </a:solidFill>
                <a:latin typeface="Consolas" pitchFamily="34" charset="0"/>
                <a:ea typeface="Consolas" pitchFamily="34" charset="-122"/>
                <a:cs typeface="Consolas" pitchFamily="34" charset="-120"/>
              </a:rPr>
              <a:t>2.  |A∩B| = |A∩C| = |B∩C| = k/2</a:t>
            </a:r>
            <a:endParaRPr lang="en-US" sz="1400" dirty="0"/>
          </a:p>
        </p:txBody>
      </p:sp>
      <p:sp>
        <p:nvSpPr>
          <p:cNvPr id="16" name="Text 14"/>
          <p:cNvSpPr/>
          <p:nvPr/>
        </p:nvSpPr>
        <p:spPr>
          <a:xfrm>
            <a:off x="685800" y="3246120"/>
            <a:ext cx="7772400" cy="320040"/>
          </a:xfrm>
          <a:prstGeom prst="rect">
            <a:avLst/>
          </a:prstGeom>
          <a:noFill/>
          <a:ln/>
        </p:spPr>
        <p:txBody>
          <a:bodyPr wrap="square" lIns="0" tIns="0" rIns="0" bIns="0" rtlCol="0" anchor="ctr"/>
          <a:lstStyle/>
          <a:p>
            <a:pPr marL="0" indent="0">
              <a:buNone/>
            </a:pPr>
            <a:r>
              <a:rPr lang="en-US" sz="1200" b="1" dirty="0">
                <a:solidFill>
                  <a:srgbClr val="E85D04"/>
                </a:solidFill>
                <a:latin typeface="Calibri" pitchFamily="34" charset="0"/>
                <a:ea typeface="Calibri" pitchFamily="34" charset="-122"/>
                <a:cs typeface="Calibri" pitchFamily="34" charset="-120"/>
              </a:rPr>
              <a:t>AND:  A ∩ B ∩ C = ∅  (empty triple intersection)</a:t>
            </a:r>
            <a:endParaRPr lang="en-US" sz="1200" dirty="0"/>
          </a:p>
          <a:p>
            <a:pPr marL="0" indent="0">
              <a:buNone/>
            </a:pPr>
            <a:r>
              <a:rPr lang="en-US" sz="1100" i="1" dirty="0">
                <a:solidFill>
                  <a:srgbClr val="6B7280"/>
                </a:solidFill>
                <a:latin typeface="Calibri" pitchFamily="34" charset="0"/>
                <a:ea typeface="Calibri" pitchFamily="34" charset="-122"/>
                <a:cs typeface="Calibri" pitchFamily="34" charset="-120"/>
              </a:rPr>
              <a:t>Think: a perfect Venn diagram with 3 regions, pairwise overlaps of half-size, but no point in all 3.</a:t>
            </a:r>
            <a:endParaRPr lang="en-US" sz="1200" dirty="0"/>
          </a:p>
        </p:txBody>
      </p:sp>
      <p:sp>
        <p:nvSpPr>
          <p:cNvPr id="17" name="Shape 15"/>
          <p:cNvSpPr/>
          <p:nvPr/>
        </p:nvSpPr>
        <p:spPr>
          <a:xfrm>
            <a:off x="457200" y="3794760"/>
            <a:ext cx="8229600" cy="10972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8" name="Shape 16"/>
          <p:cNvSpPr/>
          <p:nvPr/>
        </p:nvSpPr>
        <p:spPr>
          <a:xfrm>
            <a:off x="457200" y="3794760"/>
            <a:ext cx="54864" cy="1097280"/>
          </a:xfrm>
          <a:prstGeom prst="rect">
            <a:avLst/>
          </a:prstGeom>
          <a:solidFill>
            <a:srgbClr val="E85D04"/>
          </a:solidFill>
          <a:ln/>
        </p:spPr>
        <p:txBody>
          <a:bodyPr/>
          <a:lstStyle/>
          <a:p>
            <a:endParaRPr lang="en-US"/>
          </a:p>
        </p:txBody>
      </p:sp>
      <p:sp>
        <p:nvSpPr>
          <p:cNvPr id="19" name="Text 17"/>
          <p:cNvSpPr/>
          <p:nvPr/>
        </p:nvSpPr>
        <p:spPr>
          <a:xfrm>
            <a:off x="685800" y="3840480"/>
            <a:ext cx="7772400" cy="228600"/>
          </a:xfrm>
          <a:prstGeom prst="rect">
            <a:avLst/>
          </a:prstGeom>
          <a:noFill/>
          <a:ln/>
        </p:spPr>
        <p:txBody>
          <a:bodyPr wrap="square" lIns="0" tIns="0" rIns="0" bIns="0" rtlCol="0" anchor="ctr"/>
          <a:lstStyle/>
          <a:p>
            <a:pPr marL="0" indent="0">
              <a:buNone/>
            </a:pPr>
            <a:r>
              <a:rPr lang="en-US" sz="1300" b="1" dirty="0">
                <a:solidFill>
                  <a:srgbClr val="E85D04"/>
                </a:solidFill>
                <a:latin typeface="Georgia" pitchFamily="34" charset="0"/>
                <a:ea typeface="Georgia" pitchFamily="34" charset="-122"/>
                <a:cs typeface="Georgia" pitchFamily="34" charset="-120"/>
              </a:rPr>
              <a:t>The 8 Hypotheses per Triple</a:t>
            </a:r>
            <a:endParaRPr lang="en-US" sz="1300" dirty="0"/>
          </a:p>
        </p:txBody>
      </p:sp>
      <p:sp>
        <p:nvSpPr>
          <p:cNvPr id="20" name="Text 18"/>
          <p:cNvSpPr/>
          <p:nvPr/>
        </p:nvSpPr>
        <p:spPr>
          <a:xfrm>
            <a:off x="685800" y="4114800"/>
            <a:ext cx="7772400" cy="73152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For each (A,B,C) ∈ J, define hypotheses h satisfying:</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h(x) = * for all x ∉ A∪B∪C                              (default label outside the triple)</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On A∩B: h is constant, choosing either label A or label B     (2 choices)</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On A∩C: h is constant, choosing either label A or label C     (2 choices)     →  2³ = 8 total</a:t>
            </a:r>
            <a:endParaRPr lang="en-US" sz="1200" dirty="0"/>
          </a:p>
          <a:p>
            <a:pPr marL="0" indent="0">
              <a:buNone/>
            </a:pPr>
            <a:endParaRPr lang="en-US" sz="1200" dirty="0"/>
          </a:p>
          <a:p>
            <a:pPr marL="0" indent="0">
              <a:buNone/>
            </a:pPr>
            <a:r>
              <a:rPr lang="en-US" sz="1100" dirty="0">
                <a:solidFill>
                  <a:srgbClr val="1A1A2E"/>
                </a:solidFill>
                <a:latin typeface="Calibri" pitchFamily="34" charset="0"/>
                <a:ea typeface="Calibri" pitchFamily="34" charset="-122"/>
                <a:cs typeface="Calibri" pitchFamily="34" charset="-120"/>
              </a:rPr>
              <a:t>  • On B∩C: h is constant, choosing either label B or label C     (2 choices)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Geometric Intuition: The Paper-Layering Analogy</a:t>
            </a:r>
            <a:endParaRPr lang="en-US" sz="2400" dirty="0"/>
          </a:p>
        </p:txBody>
      </p:sp>
      <p:sp>
        <p:nvSpPr>
          <p:cNvPr id="4" name="Shape 2"/>
          <p:cNvSpPr/>
          <p:nvPr/>
        </p:nvSpPr>
        <p:spPr>
          <a:xfrm>
            <a:off x="914400" y="1280160"/>
            <a:ext cx="2926080" cy="2377440"/>
          </a:xfrm>
          <a:prstGeom prst="ellipse">
            <a:avLst/>
          </a:prstGeom>
          <a:solidFill>
            <a:srgbClr val="065A82">
              <a:alpha val="22000"/>
            </a:srgbClr>
          </a:solidFill>
          <a:ln w="25400">
            <a:solidFill>
              <a:srgbClr val="065A82"/>
            </a:solidFill>
            <a:prstDash val="solid"/>
          </a:ln>
        </p:spPr>
        <p:txBody>
          <a:bodyPr/>
          <a:lstStyle/>
          <a:p>
            <a:endParaRPr lang="en-US"/>
          </a:p>
        </p:txBody>
      </p:sp>
      <p:sp>
        <p:nvSpPr>
          <p:cNvPr id="5" name="Text 3"/>
          <p:cNvSpPr/>
          <p:nvPr/>
        </p:nvSpPr>
        <p:spPr>
          <a:xfrm>
            <a:off x="1097280" y="1554480"/>
            <a:ext cx="548640" cy="365760"/>
          </a:xfrm>
          <a:prstGeom prst="rect">
            <a:avLst/>
          </a:prstGeom>
          <a:noFill/>
          <a:ln/>
        </p:spPr>
        <p:txBody>
          <a:bodyPr wrap="square" lIns="0" tIns="0" rIns="0" bIns="0" rtlCol="0" anchor="ctr"/>
          <a:lstStyle/>
          <a:p>
            <a:pPr marL="0" indent="0">
              <a:buNone/>
            </a:pPr>
            <a:r>
              <a:rPr lang="en-US" sz="2000" b="1" dirty="0">
                <a:solidFill>
                  <a:srgbClr val="065A82"/>
                </a:solidFill>
                <a:latin typeface="Georgia" pitchFamily="34" charset="0"/>
                <a:ea typeface="Georgia" pitchFamily="34" charset="-122"/>
                <a:cs typeface="Georgia" pitchFamily="34" charset="-120"/>
              </a:rPr>
              <a:t>A</a:t>
            </a:r>
            <a:endParaRPr lang="en-US" sz="2000" dirty="0"/>
          </a:p>
        </p:txBody>
      </p:sp>
      <p:sp>
        <p:nvSpPr>
          <p:cNvPr id="6" name="Shape 4"/>
          <p:cNvSpPr/>
          <p:nvPr/>
        </p:nvSpPr>
        <p:spPr>
          <a:xfrm>
            <a:off x="2286000" y="1280160"/>
            <a:ext cx="2926080" cy="2377440"/>
          </a:xfrm>
          <a:prstGeom prst="ellipse">
            <a:avLst/>
          </a:prstGeom>
          <a:solidFill>
            <a:srgbClr val="1C7293">
              <a:alpha val="22000"/>
            </a:srgbClr>
          </a:solidFill>
          <a:ln w="25400">
            <a:solidFill>
              <a:srgbClr val="1C7293"/>
            </a:solidFill>
            <a:prstDash val="solid"/>
          </a:ln>
        </p:spPr>
        <p:txBody>
          <a:bodyPr/>
          <a:lstStyle/>
          <a:p>
            <a:endParaRPr lang="en-US"/>
          </a:p>
        </p:txBody>
      </p:sp>
      <p:sp>
        <p:nvSpPr>
          <p:cNvPr id="7" name="Text 5"/>
          <p:cNvSpPr/>
          <p:nvPr/>
        </p:nvSpPr>
        <p:spPr>
          <a:xfrm>
            <a:off x="4572000" y="1554480"/>
            <a:ext cx="548640" cy="365760"/>
          </a:xfrm>
          <a:prstGeom prst="rect">
            <a:avLst/>
          </a:prstGeom>
          <a:noFill/>
          <a:ln/>
        </p:spPr>
        <p:txBody>
          <a:bodyPr wrap="square" lIns="0" tIns="0" rIns="0" bIns="0" rtlCol="0" anchor="ctr"/>
          <a:lstStyle/>
          <a:p>
            <a:pPr marL="0" indent="0">
              <a:buNone/>
            </a:pPr>
            <a:r>
              <a:rPr lang="en-US" sz="2000" b="1" dirty="0">
                <a:solidFill>
                  <a:srgbClr val="1C7293"/>
                </a:solidFill>
                <a:latin typeface="Georgia" pitchFamily="34" charset="0"/>
                <a:ea typeface="Georgia" pitchFamily="34" charset="-122"/>
                <a:cs typeface="Georgia" pitchFamily="34" charset="-120"/>
              </a:rPr>
              <a:t>B</a:t>
            </a:r>
            <a:endParaRPr lang="en-US" sz="2000" dirty="0"/>
          </a:p>
        </p:txBody>
      </p:sp>
      <p:sp>
        <p:nvSpPr>
          <p:cNvPr id="8" name="Shape 6"/>
          <p:cNvSpPr/>
          <p:nvPr/>
        </p:nvSpPr>
        <p:spPr>
          <a:xfrm>
            <a:off x="1600200" y="2103120"/>
            <a:ext cx="2926080" cy="2377440"/>
          </a:xfrm>
          <a:prstGeom prst="ellipse">
            <a:avLst/>
          </a:prstGeom>
          <a:solidFill>
            <a:srgbClr val="E85D04">
              <a:alpha val="22000"/>
            </a:srgbClr>
          </a:solidFill>
          <a:ln w="25400">
            <a:solidFill>
              <a:srgbClr val="E85D04"/>
            </a:solidFill>
            <a:prstDash val="solid"/>
          </a:ln>
        </p:spPr>
        <p:txBody>
          <a:bodyPr/>
          <a:lstStyle/>
          <a:p>
            <a:endParaRPr lang="en-US"/>
          </a:p>
        </p:txBody>
      </p:sp>
      <p:sp>
        <p:nvSpPr>
          <p:cNvPr id="9" name="Text 7"/>
          <p:cNvSpPr/>
          <p:nvPr/>
        </p:nvSpPr>
        <p:spPr>
          <a:xfrm>
            <a:off x="2286000" y="3931920"/>
            <a:ext cx="548640" cy="365760"/>
          </a:xfrm>
          <a:prstGeom prst="rect">
            <a:avLst/>
          </a:prstGeom>
          <a:noFill/>
          <a:ln/>
        </p:spPr>
        <p:txBody>
          <a:bodyPr wrap="square" lIns="0" tIns="0" rIns="0" bIns="0" rtlCol="0" anchor="ctr"/>
          <a:lstStyle/>
          <a:p>
            <a:pPr marL="0" indent="0">
              <a:buNone/>
            </a:pPr>
            <a:r>
              <a:rPr lang="en-US" sz="2000" b="1" dirty="0">
                <a:solidFill>
                  <a:srgbClr val="E85D04"/>
                </a:solidFill>
                <a:latin typeface="Georgia" pitchFamily="34" charset="0"/>
                <a:ea typeface="Georgia" pitchFamily="34" charset="-122"/>
                <a:cs typeface="Georgia" pitchFamily="34" charset="-120"/>
              </a:rPr>
              <a:t>C</a:t>
            </a:r>
            <a:endParaRPr lang="en-US" sz="2000" dirty="0"/>
          </a:p>
        </p:txBody>
      </p:sp>
      <p:sp>
        <p:nvSpPr>
          <p:cNvPr id="10" name="Text 8"/>
          <p:cNvSpPr/>
          <p:nvPr/>
        </p:nvSpPr>
        <p:spPr>
          <a:xfrm>
            <a:off x="2651760" y="1783080"/>
            <a:ext cx="914400" cy="457200"/>
          </a:xfrm>
          <a:prstGeom prst="rect">
            <a:avLst/>
          </a:prstGeom>
          <a:noFill/>
          <a:ln/>
        </p:spPr>
        <p:txBody>
          <a:bodyPr wrap="square" lIns="0" tIns="0" rIns="0" bIns="0" rtlCol="0" anchor="ctr"/>
          <a:lstStyle/>
          <a:p>
            <a:pPr marL="0" indent="0" algn="ctr">
              <a:buNone/>
            </a:pPr>
            <a:r>
              <a:rPr lang="en-US" sz="1000" b="1" dirty="0">
                <a:solidFill>
                  <a:srgbClr val="1A1A2E"/>
                </a:solidFill>
                <a:latin typeface="Calibri" pitchFamily="34" charset="0"/>
                <a:ea typeface="Calibri" pitchFamily="34" charset="-122"/>
                <a:cs typeface="Calibri" pitchFamily="34" charset="-120"/>
              </a:rPr>
              <a:t>A∩B</a:t>
            </a:r>
            <a:endParaRPr lang="en-US" sz="1000" dirty="0"/>
          </a:p>
          <a:p>
            <a:pPr marL="0" indent="0" algn="ctr">
              <a:buNone/>
            </a:pPr>
            <a:r>
              <a:rPr lang="en-US" sz="1000" b="1" dirty="0">
                <a:solidFill>
                  <a:srgbClr val="1A1A2E"/>
                </a:solidFill>
                <a:latin typeface="Calibri" pitchFamily="34" charset="0"/>
                <a:ea typeface="Calibri" pitchFamily="34" charset="-122"/>
                <a:cs typeface="Calibri" pitchFamily="34" charset="-120"/>
              </a:rPr>
              <a:t>A or B?</a:t>
            </a:r>
            <a:endParaRPr lang="en-US" sz="1000" dirty="0"/>
          </a:p>
        </p:txBody>
      </p:sp>
      <p:sp>
        <p:nvSpPr>
          <p:cNvPr id="11" name="Text 9"/>
          <p:cNvSpPr/>
          <p:nvPr/>
        </p:nvSpPr>
        <p:spPr>
          <a:xfrm>
            <a:off x="1554480" y="2880360"/>
            <a:ext cx="914400" cy="457200"/>
          </a:xfrm>
          <a:prstGeom prst="rect">
            <a:avLst/>
          </a:prstGeom>
          <a:noFill/>
          <a:ln/>
        </p:spPr>
        <p:txBody>
          <a:bodyPr wrap="square" lIns="0" tIns="0" rIns="0" bIns="0" rtlCol="0" anchor="ctr"/>
          <a:lstStyle/>
          <a:p>
            <a:pPr marL="0" indent="0" algn="ctr">
              <a:buNone/>
            </a:pPr>
            <a:r>
              <a:rPr lang="en-US" sz="1000" b="1" dirty="0">
                <a:solidFill>
                  <a:srgbClr val="1A1A2E"/>
                </a:solidFill>
                <a:latin typeface="Calibri" pitchFamily="34" charset="0"/>
                <a:ea typeface="Calibri" pitchFamily="34" charset="-122"/>
                <a:cs typeface="Calibri" pitchFamily="34" charset="-120"/>
              </a:rPr>
              <a:t>A∩C</a:t>
            </a:r>
            <a:endParaRPr lang="en-US" sz="1000" dirty="0"/>
          </a:p>
          <a:p>
            <a:pPr marL="0" indent="0" algn="ctr">
              <a:buNone/>
            </a:pPr>
            <a:r>
              <a:rPr lang="en-US" sz="1000" b="1" dirty="0">
                <a:solidFill>
                  <a:srgbClr val="1A1A2E"/>
                </a:solidFill>
                <a:latin typeface="Calibri" pitchFamily="34" charset="0"/>
                <a:ea typeface="Calibri" pitchFamily="34" charset="-122"/>
                <a:cs typeface="Calibri" pitchFamily="34" charset="-120"/>
              </a:rPr>
              <a:t>A or C?</a:t>
            </a:r>
            <a:endParaRPr lang="en-US" sz="1000" dirty="0"/>
          </a:p>
        </p:txBody>
      </p:sp>
      <p:sp>
        <p:nvSpPr>
          <p:cNvPr id="12" name="Text 10"/>
          <p:cNvSpPr/>
          <p:nvPr/>
        </p:nvSpPr>
        <p:spPr>
          <a:xfrm>
            <a:off x="3200400" y="2880360"/>
            <a:ext cx="914400" cy="457200"/>
          </a:xfrm>
          <a:prstGeom prst="rect">
            <a:avLst/>
          </a:prstGeom>
          <a:noFill/>
          <a:ln/>
        </p:spPr>
        <p:txBody>
          <a:bodyPr wrap="square" lIns="0" tIns="0" rIns="0" bIns="0" rtlCol="0" anchor="ctr"/>
          <a:lstStyle/>
          <a:p>
            <a:pPr marL="0" indent="0" algn="ctr">
              <a:buNone/>
            </a:pPr>
            <a:r>
              <a:rPr lang="en-US" sz="1000" b="1" dirty="0">
                <a:solidFill>
                  <a:srgbClr val="1A1A2E"/>
                </a:solidFill>
                <a:latin typeface="Calibri" pitchFamily="34" charset="0"/>
                <a:ea typeface="Calibri" pitchFamily="34" charset="-122"/>
                <a:cs typeface="Calibri" pitchFamily="34" charset="-120"/>
              </a:rPr>
              <a:t>B∩C</a:t>
            </a:r>
            <a:endParaRPr lang="en-US" sz="1000" dirty="0"/>
          </a:p>
          <a:p>
            <a:pPr marL="0" indent="0" algn="ctr">
              <a:buNone/>
            </a:pPr>
            <a:r>
              <a:rPr lang="en-US" sz="1000" b="1" dirty="0">
                <a:solidFill>
                  <a:srgbClr val="1A1A2E"/>
                </a:solidFill>
                <a:latin typeface="Calibri" pitchFamily="34" charset="0"/>
                <a:ea typeface="Calibri" pitchFamily="34" charset="-122"/>
                <a:cs typeface="Calibri" pitchFamily="34" charset="-120"/>
              </a:rPr>
              <a:t>B or C?</a:t>
            </a:r>
            <a:endParaRPr lang="en-US" sz="1000" dirty="0"/>
          </a:p>
        </p:txBody>
      </p:sp>
      <p:sp>
        <p:nvSpPr>
          <p:cNvPr id="13" name="Shape 11"/>
          <p:cNvSpPr/>
          <p:nvPr/>
        </p:nvSpPr>
        <p:spPr>
          <a:xfrm>
            <a:off x="5303520" y="1005840"/>
            <a:ext cx="3474720" cy="38404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4" name="Shape 12"/>
          <p:cNvSpPr/>
          <p:nvPr/>
        </p:nvSpPr>
        <p:spPr>
          <a:xfrm>
            <a:off x="5303520" y="1005840"/>
            <a:ext cx="54864" cy="3840480"/>
          </a:xfrm>
          <a:prstGeom prst="rect">
            <a:avLst/>
          </a:prstGeom>
          <a:solidFill>
            <a:srgbClr val="1B1B2F"/>
          </a:solidFill>
          <a:ln/>
        </p:spPr>
        <p:txBody>
          <a:bodyPr/>
          <a:lstStyle/>
          <a:p>
            <a:endParaRPr lang="en-US"/>
          </a:p>
        </p:txBody>
      </p:sp>
      <p:sp>
        <p:nvSpPr>
          <p:cNvPr id="15" name="Text 13"/>
          <p:cNvSpPr/>
          <p:nvPr/>
        </p:nvSpPr>
        <p:spPr>
          <a:xfrm>
            <a:off x="5532120" y="1051560"/>
            <a:ext cx="3017520" cy="274320"/>
          </a:xfrm>
          <a:prstGeom prst="rect">
            <a:avLst/>
          </a:prstGeom>
          <a:noFill/>
          <a:ln/>
        </p:spPr>
        <p:txBody>
          <a:bodyPr wrap="square" lIns="0" tIns="0" rIns="0" bIns="0" rtlCol="0" anchor="ctr"/>
          <a:lstStyle/>
          <a:p>
            <a:pPr marL="0" indent="0">
              <a:buNone/>
            </a:pPr>
            <a:r>
              <a:rPr lang="en-US" sz="1400" b="1" dirty="0">
                <a:solidFill>
                  <a:srgbClr val="1B1B2F"/>
                </a:solidFill>
                <a:latin typeface="Georgia" pitchFamily="34" charset="0"/>
                <a:ea typeface="Georgia" pitchFamily="34" charset="-122"/>
                <a:cs typeface="Georgia" pitchFamily="34" charset="-120"/>
              </a:rPr>
              <a:t>The Layering Analogy</a:t>
            </a:r>
            <a:endParaRPr lang="en-US" sz="1400" dirty="0"/>
          </a:p>
        </p:txBody>
      </p:sp>
      <p:sp>
        <p:nvSpPr>
          <p:cNvPr id="16" name="Text 14"/>
          <p:cNvSpPr/>
          <p:nvPr/>
        </p:nvSpPr>
        <p:spPr>
          <a:xfrm>
            <a:off x="5532120" y="1371600"/>
            <a:ext cx="3017520" cy="320040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Three labeled sheets over A, B, C.</a:t>
            </a:r>
            <a:endParaRPr lang="en-US" sz="1200" dirty="0"/>
          </a:p>
          <a:p>
            <a:pPr marL="0" indent="0">
              <a:buNone/>
            </a:pP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At each overlap, choose which sheet is on top. You see the topmost label.</a:t>
            </a:r>
            <a:endParaRPr lang="en-US" sz="1200" dirty="0"/>
          </a:p>
          <a:p>
            <a:pPr marL="0" indent="0">
              <a:buNone/>
            </a:pPr>
            <a:endParaRPr lang="en-US" sz="1200" dirty="0"/>
          </a:p>
          <a:p>
            <a:pPr marL="0" indent="0">
              <a:buNone/>
            </a:pPr>
            <a:endParaRPr lang="en-US" sz="1200" dirty="0"/>
          </a:p>
          <a:p>
            <a:pPr marL="0" indent="0">
              <a:buNone/>
            </a:pPr>
            <a:r>
              <a:rPr lang="en-US" sz="1400" b="1" dirty="0">
                <a:solidFill>
                  <a:srgbClr val="E85D04"/>
                </a:solidFill>
                <a:latin typeface="Calibri" pitchFamily="34" charset="0"/>
                <a:ea typeface="Calibri" pitchFamily="34" charset="-122"/>
                <a:cs typeface="Calibri" pitchFamily="34" charset="-120"/>
              </a:rPr>
              <a:t>3 overlaps × 2 choices = 2³ = 8</a:t>
            </a: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hypotheses per triple.</a:t>
            </a:r>
            <a:endParaRPr lang="en-US" sz="1200" dirty="0"/>
          </a:p>
          <a:p>
            <a:pPr marL="0" indent="0">
              <a:buNone/>
            </a:pP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Outside A∪B∪C: output = *</a:t>
            </a:r>
            <a:endParaRPr lang="en-US" sz="1200" dirty="0"/>
          </a:p>
          <a:p>
            <a:pPr marL="0" indent="0">
              <a:buNone/>
            </a:pPr>
            <a:endParaRPr lang="en-US" sz="1200" dirty="0"/>
          </a:p>
          <a:p>
            <a:pPr marL="0" indent="0">
              <a:buNone/>
            </a:pPr>
            <a:endParaRPr lang="en-US" sz="1200" dirty="0"/>
          </a:p>
          <a:p>
            <a:pPr marL="0" indent="0">
              <a:buNone/>
            </a:pPr>
            <a:r>
              <a:rPr lang="en-US" sz="1100" i="1" dirty="0">
                <a:solidFill>
                  <a:srgbClr val="6B7280"/>
                </a:solidFill>
                <a:latin typeface="Calibri" pitchFamily="34" charset="0"/>
                <a:ea typeface="Calibri" pitchFamily="34" charset="-122"/>
                <a:cs typeface="Calibri" pitchFamily="34" charset="-120"/>
              </a:rPr>
              <a:t>A ∩ B ∩ C = ∅ means no point has 3 sheets. Each point has at most 2, so the choice is always binary.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Why ERM Fails on HΔ — Step by Step</a:t>
            </a:r>
            <a:endParaRPr lang="en-US" sz="2400" dirty="0"/>
          </a:p>
        </p:txBody>
      </p:sp>
      <p:sp>
        <p:nvSpPr>
          <p:cNvPr id="4" name="Shape 2"/>
          <p:cNvSpPr/>
          <p:nvPr/>
        </p:nvSpPr>
        <p:spPr>
          <a:xfrm>
            <a:off x="457200" y="960120"/>
            <a:ext cx="3931920" cy="9601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457200" y="960120"/>
            <a:ext cx="54864" cy="960120"/>
          </a:xfrm>
          <a:prstGeom prst="rect">
            <a:avLst/>
          </a:prstGeom>
          <a:solidFill>
            <a:srgbClr val="065A82"/>
          </a:solidFill>
          <a:ln/>
        </p:spPr>
        <p:txBody>
          <a:bodyPr/>
          <a:lstStyle/>
          <a:p>
            <a:endParaRPr lang="en-US"/>
          </a:p>
        </p:txBody>
      </p:sp>
      <p:sp>
        <p:nvSpPr>
          <p:cNvPr id="6" name="Text 4"/>
          <p:cNvSpPr/>
          <p:nvPr/>
        </p:nvSpPr>
        <p:spPr>
          <a:xfrm>
            <a:off x="685800" y="1005840"/>
            <a:ext cx="3474720" cy="228600"/>
          </a:xfrm>
          <a:prstGeom prst="rect">
            <a:avLst/>
          </a:prstGeom>
          <a:noFill/>
          <a:ln/>
        </p:spPr>
        <p:txBody>
          <a:bodyPr wrap="square" lIns="0" tIns="0" rIns="0" bIns="0" rtlCol="0" anchor="ctr"/>
          <a:lstStyle/>
          <a:p>
            <a:pPr marL="0" indent="0">
              <a:buNone/>
            </a:pPr>
            <a:r>
              <a:rPr lang="en-US" sz="1200" b="1" dirty="0">
                <a:solidFill>
                  <a:srgbClr val="065A82"/>
                </a:solidFill>
                <a:latin typeface="Georgia" pitchFamily="34" charset="0"/>
                <a:ea typeface="Georgia" pitchFamily="34" charset="-122"/>
                <a:cs typeface="Georgia" pitchFamily="34" charset="-120"/>
              </a:rPr>
              <a:t>Step 1: Choose Distribution</a:t>
            </a:r>
            <a:endParaRPr lang="en-US" sz="1200" dirty="0"/>
          </a:p>
        </p:txBody>
      </p:sp>
      <p:sp>
        <p:nvSpPr>
          <p:cNvPr id="7" name="Text 5"/>
          <p:cNvSpPr/>
          <p:nvPr/>
        </p:nvSpPr>
        <p:spPr>
          <a:xfrm>
            <a:off x="685800" y="1280160"/>
            <a:ext cx="3474720" cy="54864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Fix a LARGE finite set A ⊆ ℕ.</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D = uniform over {(x, A) : x ∈ A}.</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Every point in A gets label A.</a:t>
            </a:r>
            <a:endParaRPr lang="en-US" sz="1100" dirty="0"/>
          </a:p>
        </p:txBody>
      </p:sp>
      <p:sp>
        <p:nvSpPr>
          <p:cNvPr id="8" name="Shape 6"/>
          <p:cNvSpPr/>
          <p:nvPr/>
        </p:nvSpPr>
        <p:spPr>
          <a:xfrm>
            <a:off x="4754880" y="960120"/>
            <a:ext cx="3931920" cy="9601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4754880" y="960120"/>
            <a:ext cx="54864" cy="960120"/>
          </a:xfrm>
          <a:prstGeom prst="rect">
            <a:avLst/>
          </a:prstGeom>
          <a:solidFill>
            <a:srgbClr val="1C7293"/>
          </a:solidFill>
          <a:ln/>
        </p:spPr>
        <p:txBody>
          <a:bodyPr/>
          <a:lstStyle/>
          <a:p>
            <a:endParaRPr lang="en-US"/>
          </a:p>
        </p:txBody>
      </p:sp>
      <p:sp>
        <p:nvSpPr>
          <p:cNvPr id="10" name="Text 8"/>
          <p:cNvSpPr/>
          <p:nvPr/>
        </p:nvSpPr>
        <p:spPr>
          <a:xfrm>
            <a:off x="4983480" y="1005840"/>
            <a:ext cx="3474720" cy="228600"/>
          </a:xfrm>
          <a:prstGeom prst="rect">
            <a:avLst/>
          </a:prstGeom>
          <a:noFill/>
          <a:ln/>
        </p:spPr>
        <p:txBody>
          <a:bodyPr wrap="square" lIns="0" tIns="0" rIns="0" bIns="0" rtlCol="0" anchor="ctr"/>
          <a:lstStyle/>
          <a:p>
            <a:pPr marL="0" indent="0">
              <a:buNone/>
            </a:pPr>
            <a:r>
              <a:rPr lang="en-US" sz="1200" b="1" dirty="0">
                <a:solidFill>
                  <a:srgbClr val="1C7293"/>
                </a:solidFill>
                <a:latin typeface="Georgia" pitchFamily="34" charset="0"/>
                <a:ea typeface="Georgia" pitchFamily="34" charset="-122"/>
                <a:cs typeface="Georgia" pitchFamily="34" charset="-120"/>
              </a:rPr>
              <a:t>Step 2: Incomplete Training Set</a:t>
            </a:r>
            <a:endParaRPr lang="en-US" sz="1200" dirty="0"/>
          </a:p>
        </p:txBody>
      </p:sp>
      <p:sp>
        <p:nvSpPr>
          <p:cNvPr id="11" name="Text 9"/>
          <p:cNvSpPr/>
          <p:nvPr/>
        </p:nvSpPr>
        <p:spPr>
          <a:xfrm>
            <a:off x="4983480" y="1280160"/>
            <a:ext cx="3474720" cy="54864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Draw |S| &lt; |A|/2 samples.</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Many points in A are NOT in S.</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Pr[x_test unseen] &gt; 1/2.</a:t>
            </a:r>
            <a:endParaRPr lang="en-US" sz="1100" dirty="0"/>
          </a:p>
        </p:txBody>
      </p:sp>
      <p:sp>
        <p:nvSpPr>
          <p:cNvPr id="12" name="Shape 10"/>
          <p:cNvSpPr/>
          <p:nvPr/>
        </p:nvSpPr>
        <p:spPr>
          <a:xfrm>
            <a:off x="457200" y="2148840"/>
            <a:ext cx="3931920" cy="11887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3" name="Shape 11"/>
          <p:cNvSpPr/>
          <p:nvPr/>
        </p:nvSpPr>
        <p:spPr>
          <a:xfrm>
            <a:off x="457200" y="2148840"/>
            <a:ext cx="54864" cy="1188720"/>
          </a:xfrm>
          <a:prstGeom prst="rect">
            <a:avLst/>
          </a:prstGeom>
          <a:solidFill>
            <a:srgbClr val="E85D04"/>
          </a:solidFill>
          <a:ln/>
        </p:spPr>
        <p:txBody>
          <a:bodyPr/>
          <a:lstStyle/>
          <a:p>
            <a:endParaRPr lang="en-US"/>
          </a:p>
        </p:txBody>
      </p:sp>
      <p:sp>
        <p:nvSpPr>
          <p:cNvPr id="14" name="Text 12"/>
          <p:cNvSpPr/>
          <p:nvPr/>
        </p:nvSpPr>
        <p:spPr>
          <a:xfrm>
            <a:off x="685800" y="2194560"/>
            <a:ext cx="3474720" cy="228600"/>
          </a:xfrm>
          <a:prstGeom prst="rect">
            <a:avLst/>
          </a:prstGeom>
          <a:noFill/>
          <a:ln/>
        </p:spPr>
        <p:txBody>
          <a:bodyPr wrap="square" lIns="0" tIns="0" rIns="0" bIns="0" rtlCol="0" anchor="ctr"/>
          <a:lstStyle/>
          <a:p>
            <a:pPr marL="0" indent="0">
              <a:buNone/>
            </a:pPr>
            <a:r>
              <a:rPr lang="en-US" sz="1200" b="1" dirty="0">
                <a:solidFill>
                  <a:srgbClr val="E85D04"/>
                </a:solidFill>
                <a:latin typeface="Georgia" pitchFamily="34" charset="0"/>
                <a:ea typeface="Georgia" pitchFamily="34" charset="-122"/>
                <a:cs typeface="Georgia" pitchFamily="34" charset="-120"/>
              </a:rPr>
              <a:t>Step 3: Build a Spoiler</a:t>
            </a:r>
            <a:endParaRPr lang="en-US" sz="1200" dirty="0"/>
          </a:p>
        </p:txBody>
      </p:sp>
      <p:sp>
        <p:nvSpPr>
          <p:cNvPr id="15" name="Text 13"/>
          <p:cNvSpPr/>
          <p:nvPr/>
        </p:nvSpPr>
        <p:spPr>
          <a:xfrm>
            <a:off x="685800" y="2468880"/>
            <a:ext cx="3474720" cy="77724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For unseen x_test, construct B such that:</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  • x_test ∈ B</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  • B avoids all of S</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  • (A,B,C) forms a valid triple in J</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Then ∃ h ∈ HΔ with L_S(h)=0 but h(x_test) = B ≠ A.</a:t>
            </a:r>
            <a:endParaRPr lang="en-US" sz="1100" dirty="0"/>
          </a:p>
        </p:txBody>
      </p:sp>
      <p:sp>
        <p:nvSpPr>
          <p:cNvPr id="16" name="Shape 14"/>
          <p:cNvSpPr/>
          <p:nvPr/>
        </p:nvSpPr>
        <p:spPr>
          <a:xfrm>
            <a:off x="4754880" y="2148840"/>
            <a:ext cx="3931920" cy="11887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7" name="Shape 15"/>
          <p:cNvSpPr/>
          <p:nvPr/>
        </p:nvSpPr>
        <p:spPr>
          <a:xfrm>
            <a:off x="4754880" y="2148840"/>
            <a:ext cx="54864" cy="1188720"/>
          </a:xfrm>
          <a:prstGeom prst="rect">
            <a:avLst/>
          </a:prstGeom>
          <a:solidFill>
            <a:srgbClr val="D62828"/>
          </a:solidFill>
          <a:ln/>
        </p:spPr>
        <p:txBody>
          <a:bodyPr/>
          <a:lstStyle/>
          <a:p>
            <a:endParaRPr lang="en-US"/>
          </a:p>
        </p:txBody>
      </p:sp>
      <p:sp>
        <p:nvSpPr>
          <p:cNvPr id="18" name="Text 16"/>
          <p:cNvSpPr/>
          <p:nvPr/>
        </p:nvSpPr>
        <p:spPr>
          <a:xfrm>
            <a:off x="4983480" y="2194560"/>
            <a:ext cx="3474720" cy="228600"/>
          </a:xfrm>
          <a:prstGeom prst="rect">
            <a:avLst/>
          </a:prstGeom>
          <a:noFill/>
          <a:ln/>
        </p:spPr>
        <p:txBody>
          <a:bodyPr wrap="square" lIns="0" tIns="0" rIns="0" bIns="0" rtlCol="0" anchor="ctr"/>
          <a:lstStyle/>
          <a:p>
            <a:pPr marL="0" indent="0">
              <a:buNone/>
            </a:pPr>
            <a:r>
              <a:rPr lang="en-US" sz="1200" b="1" dirty="0">
                <a:solidFill>
                  <a:srgbClr val="D62828"/>
                </a:solidFill>
                <a:latin typeface="Georgia" pitchFamily="34" charset="0"/>
                <a:ea typeface="Georgia" pitchFamily="34" charset="-122"/>
                <a:cs typeface="Georgia" pitchFamily="34" charset="-120"/>
              </a:rPr>
              <a:t>Step 4: ERM Gets Fooled</a:t>
            </a:r>
            <a:endParaRPr lang="en-US" sz="1200" dirty="0"/>
          </a:p>
        </p:txBody>
      </p:sp>
      <p:sp>
        <p:nvSpPr>
          <p:cNvPr id="19" name="Text 17"/>
          <p:cNvSpPr/>
          <p:nvPr/>
        </p:nvSpPr>
        <p:spPr>
          <a:xfrm>
            <a:off x="4983480" y="2468880"/>
            <a:ext cx="3474720" cy="77724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ERM sees h with zero training error.</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ERM is free to pick h.</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ERM predicts h(x_test) = B instead of A.</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Constant error! And A can be arbitrarily large,</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so this affects arbitrarily large training sets.</a:t>
            </a:r>
            <a:endParaRPr lang="en-US" sz="1100" dirty="0"/>
          </a:p>
        </p:txBody>
      </p:sp>
      <p:sp>
        <p:nvSpPr>
          <p:cNvPr id="20" name="Shape 18"/>
          <p:cNvSpPr/>
          <p:nvPr/>
        </p:nvSpPr>
        <p:spPr>
          <a:xfrm>
            <a:off x="457200" y="3566160"/>
            <a:ext cx="8229600" cy="1325880"/>
          </a:xfrm>
          <a:prstGeom prst="rect">
            <a:avLst/>
          </a:prstGeom>
          <a:solidFill>
            <a:srgbClr val="FFF3CD"/>
          </a:solidFill>
          <a:ln/>
        </p:spPr>
        <p:txBody>
          <a:bodyPr/>
          <a:lstStyle/>
          <a:p>
            <a:endParaRPr lang="en-US"/>
          </a:p>
        </p:txBody>
      </p:sp>
      <p:sp>
        <p:nvSpPr>
          <p:cNvPr id="21" name="Shape 19"/>
          <p:cNvSpPr/>
          <p:nvPr/>
        </p:nvSpPr>
        <p:spPr>
          <a:xfrm>
            <a:off x="457200" y="3566160"/>
            <a:ext cx="54864" cy="1325880"/>
          </a:xfrm>
          <a:prstGeom prst="rect">
            <a:avLst/>
          </a:prstGeom>
          <a:solidFill>
            <a:srgbClr val="E85D04"/>
          </a:solidFill>
          <a:ln/>
        </p:spPr>
        <p:txBody>
          <a:bodyPr/>
          <a:lstStyle/>
          <a:p>
            <a:endParaRPr lang="en-US"/>
          </a:p>
        </p:txBody>
      </p:sp>
      <p:sp>
        <p:nvSpPr>
          <p:cNvPr id="22" name="Text 20"/>
          <p:cNvSpPr/>
          <p:nvPr/>
        </p:nvSpPr>
        <p:spPr>
          <a:xfrm>
            <a:off x="685800" y="3611880"/>
            <a:ext cx="7772400" cy="1188720"/>
          </a:xfrm>
          <a:prstGeom prst="rect">
            <a:avLst/>
          </a:prstGeom>
          <a:noFill/>
          <a:ln/>
        </p:spPr>
        <p:txBody>
          <a:bodyPr wrap="square" lIns="0" tIns="0" rIns="0" bIns="0" rtlCol="0" anchor="ctr"/>
          <a:lstStyle/>
          <a:p>
            <a:pPr marL="0" indent="0">
              <a:buNone/>
            </a:pPr>
            <a:r>
              <a:rPr lang="en-US" sz="1300" b="1" dirty="0">
                <a:solidFill>
                  <a:srgbClr val="E85D04"/>
                </a:solidFill>
                <a:latin typeface="Calibri" pitchFamily="34" charset="0"/>
                <a:ea typeface="Calibri" pitchFamily="34" charset="-122"/>
                <a:cs typeface="Calibri" pitchFamily="34" charset="-120"/>
              </a:rPr>
              <a:t>THE CORE PROBLEM:</a:t>
            </a:r>
            <a:endParaRPr lang="en-US" sz="1300" dirty="0"/>
          </a:p>
          <a:p>
            <a:pPr marL="0" indent="0">
              <a:buNone/>
            </a:pPr>
            <a:endParaRPr lang="en-US" sz="1300" dirty="0"/>
          </a:p>
          <a:p>
            <a:pPr marL="0" indent="0">
              <a:buNone/>
            </a:pPr>
            <a:r>
              <a:rPr lang="en-US" sz="1200" dirty="0">
                <a:solidFill>
                  <a:srgbClr val="1A1A2E"/>
                </a:solidFill>
                <a:latin typeface="Calibri" pitchFamily="34" charset="0"/>
                <a:ea typeface="Calibri" pitchFamily="34" charset="-122"/>
                <a:cs typeface="Calibri" pitchFamily="34" charset="-120"/>
              </a:rPr>
              <a:t>The spoiler set B is invisible to any learner that only sees empirical errors and the test point.</a:t>
            </a:r>
            <a:endParaRPr lang="en-US" sz="1300" dirty="0"/>
          </a:p>
          <a:p>
            <a:pPr marL="0" indent="0">
              <a:buNone/>
            </a:pPr>
            <a:endParaRPr lang="en-US" sz="1300" dirty="0"/>
          </a:p>
          <a:p>
            <a:pPr marL="0" indent="0">
              <a:buNone/>
            </a:pPr>
            <a:endParaRPr lang="en-US" sz="1300" dirty="0"/>
          </a:p>
          <a:p>
            <a:pPr marL="0" indent="0">
              <a:buNone/>
            </a:pPr>
            <a:r>
              <a:rPr lang="en-US" sz="1200" dirty="0">
                <a:solidFill>
                  <a:srgbClr val="1A1A2E"/>
                </a:solidFill>
                <a:latin typeface="Calibri" pitchFamily="34" charset="0"/>
                <a:ea typeface="Calibri" pitchFamily="34" charset="-122"/>
                <a:cs typeface="Calibri" pitchFamily="34" charset="-120"/>
              </a:rPr>
              <a:t>B was constructed to contain x_test (so h(x_test) = B) while avoiding all training points (so L_S(h) = 0).</a:t>
            </a:r>
            <a:endParaRPr lang="en-US" sz="1300" dirty="0"/>
          </a:p>
          <a:p>
            <a:pPr marL="0" indent="0">
              <a:buNone/>
            </a:pPr>
            <a:r>
              <a:rPr lang="en-US" sz="1200" dirty="0">
                <a:solidFill>
                  <a:srgbClr val="1A1A2E"/>
                </a:solidFill>
                <a:latin typeface="Calibri" pitchFamily="34" charset="0"/>
                <a:ea typeface="Calibri" pitchFamily="34" charset="-122"/>
                <a:cs typeface="Calibri" pitchFamily="34" charset="-120"/>
              </a:rPr>
              <a:t>The SYMMETRY of HΔ means A and B look identical from the perspective of (x_test, training errors).</a:t>
            </a:r>
            <a:endParaRPr lang="en-US" sz="1300" dirty="0"/>
          </a:p>
          <a:p>
            <a:pPr marL="0" indent="0">
              <a:buNone/>
            </a:pPr>
            <a:r>
              <a:rPr lang="en-US" sz="1200" b="1" dirty="0">
                <a:solidFill>
                  <a:srgbClr val="1A1A2E"/>
                </a:solidFill>
                <a:latin typeface="Calibri" pitchFamily="34" charset="0"/>
                <a:ea typeface="Calibri" pitchFamily="34" charset="-122"/>
                <a:cs typeface="Calibri" pitchFamily="34" charset="-120"/>
              </a:rPr>
              <a:t>The learner cannot distinguish the correct label A from the spoiler B without inspecting S’s structure.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Why Local Regularization Might Also Fail on HΔ</a:t>
            </a:r>
            <a:endParaRPr lang="en-US" sz="2400" dirty="0"/>
          </a:p>
        </p:txBody>
      </p:sp>
      <p:sp>
        <p:nvSpPr>
          <p:cNvPr id="4" name="Shape 2"/>
          <p:cNvSpPr/>
          <p:nvPr/>
        </p:nvSpPr>
        <p:spPr>
          <a:xfrm>
            <a:off x="457200" y="1005840"/>
            <a:ext cx="8229600" cy="11887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457200" y="1005840"/>
            <a:ext cx="54864" cy="1188720"/>
          </a:xfrm>
          <a:prstGeom prst="rect">
            <a:avLst/>
          </a:prstGeom>
          <a:solidFill>
            <a:srgbClr val="1C7293"/>
          </a:solidFill>
          <a:ln/>
        </p:spPr>
        <p:txBody>
          <a:bodyPr/>
          <a:lstStyle/>
          <a:p>
            <a:endParaRPr lang="en-US"/>
          </a:p>
        </p:txBody>
      </p:sp>
      <p:sp>
        <p:nvSpPr>
          <p:cNvPr id="6" name="Text 4"/>
          <p:cNvSpPr/>
          <p:nvPr/>
        </p:nvSpPr>
        <p:spPr>
          <a:xfrm>
            <a:off x="685800" y="1051560"/>
            <a:ext cx="7772400" cy="274320"/>
          </a:xfrm>
          <a:prstGeom prst="rect">
            <a:avLst/>
          </a:prstGeom>
          <a:noFill/>
          <a:ln/>
        </p:spPr>
        <p:txBody>
          <a:bodyPr wrap="square" lIns="0" tIns="0" rIns="0" bIns="0" rtlCol="0" anchor="ctr"/>
          <a:lstStyle/>
          <a:p>
            <a:pPr marL="0" indent="0">
              <a:buNone/>
            </a:pPr>
            <a:r>
              <a:rPr lang="en-US" sz="1400" b="1" dirty="0">
                <a:solidFill>
                  <a:srgbClr val="1C7293"/>
                </a:solidFill>
                <a:latin typeface="Georgia" pitchFamily="34" charset="0"/>
                <a:ea typeface="Georgia" pitchFamily="34" charset="-122"/>
                <a:cs typeface="Georgia" pitchFamily="34" charset="-120"/>
              </a:rPr>
              <a:t>What Local Regularization “Sees”</a:t>
            </a:r>
            <a:endParaRPr lang="en-US" sz="1400" dirty="0"/>
          </a:p>
        </p:txBody>
      </p:sp>
      <p:sp>
        <p:nvSpPr>
          <p:cNvPr id="7" name="Text 5"/>
          <p:cNvSpPr/>
          <p:nvPr/>
        </p:nvSpPr>
        <p:spPr>
          <a:xfrm>
            <a:off x="685800" y="1371600"/>
            <a:ext cx="7772400" cy="73152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A local regularizer ψ(h, x) can use:</a:t>
            </a: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  • The hypothesis h (its structure, its label function)</a:t>
            </a: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  • The test point x</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D62828"/>
                </a:solidFill>
                <a:latin typeface="Calibri" pitchFamily="34" charset="0"/>
                <a:ea typeface="Calibri" pitchFamily="34" charset="-122"/>
                <a:cs typeface="Calibri" pitchFamily="34" charset="-120"/>
              </a:rPr>
              <a:t>It CANNOT use: the actual training points in S, which labels appeared in S, or the geometry of S.</a:t>
            </a:r>
            <a:endParaRPr lang="en-US" sz="1200" dirty="0"/>
          </a:p>
        </p:txBody>
      </p:sp>
      <p:sp>
        <p:nvSpPr>
          <p:cNvPr id="8" name="Shape 6"/>
          <p:cNvSpPr/>
          <p:nvPr/>
        </p:nvSpPr>
        <p:spPr>
          <a:xfrm>
            <a:off x="457200" y="2423160"/>
            <a:ext cx="8229600" cy="23774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457200" y="2423160"/>
            <a:ext cx="54864" cy="2377440"/>
          </a:xfrm>
          <a:prstGeom prst="rect">
            <a:avLst/>
          </a:prstGeom>
          <a:solidFill>
            <a:srgbClr val="D62828"/>
          </a:solidFill>
          <a:ln/>
        </p:spPr>
        <p:txBody>
          <a:bodyPr/>
          <a:lstStyle/>
          <a:p>
            <a:endParaRPr lang="en-US"/>
          </a:p>
        </p:txBody>
      </p:sp>
      <p:sp>
        <p:nvSpPr>
          <p:cNvPr id="10" name="Text 8"/>
          <p:cNvSpPr/>
          <p:nvPr/>
        </p:nvSpPr>
        <p:spPr>
          <a:xfrm>
            <a:off x="685800" y="2468880"/>
            <a:ext cx="7772400" cy="274320"/>
          </a:xfrm>
          <a:prstGeom prst="rect">
            <a:avLst/>
          </a:prstGeom>
          <a:noFill/>
          <a:ln/>
        </p:spPr>
        <p:txBody>
          <a:bodyPr wrap="square" lIns="0" tIns="0" rIns="0" bIns="0" rtlCol="0" anchor="ctr"/>
          <a:lstStyle/>
          <a:p>
            <a:pPr marL="0" indent="0">
              <a:buNone/>
            </a:pPr>
            <a:r>
              <a:rPr lang="en-US" sz="1400" b="1" dirty="0">
                <a:solidFill>
                  <a:srgbClr val="D62828"/>
                </a:solidFill>
                <a:latin typeface="Georgia" pitchFamily="34" charset="0"/>
                <a:ea typeface="Georgia" pitchFamily="34" charset="-122"/>
                <a:cs typeface="Georgia" pitchFamily="34" charset="-120"/>
              </a:rPr>
              <a:t>The Symmetry Trap</a:t>
            </a:r>
            <a:endParaRPr lang="en-US" sz="1400" dirty="0"/>
          </a:p>
        </p:txBody>
      </p:sp>
      <p:sp>
        <p:nvSpPr>
          <p:cNvPr id="11" name="Text 9"/>
          <p:cNvSpPr/>
          <p:nvPr/>
        </p:nvSpPr>
        <p:spPr>
          <a:xfrm>
            <a:off x="685800" y="2788920"/>
            <a:ext cx="7772400" cy="192024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The correct hypothesis (from triple (A,B,C), outputting A on A∩B):</a:t>
            </a: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  • Zero training error: ✓</a:t>
            </a: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  • Assigns label A at x_test: this is CORRECT</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1A1A2E"/>
                </a:solidFill>
                <a:latin typeface="Calibri" pitchFamily="34" charset="0"/>
                <a:ea typeface="Calibri" pitchFamily="34" charset="-122"/>
                <a:cs typeface="Calibri" pitchFamily="34" charset="-120"/>
              </a:rPr>
              <a:t>The spoiler hypothesis (from triple (A,B’,C’), outputting B’ on A∩B’):</a:t>
            </a: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  • Zero training error: ✓   (B’ avoids S!)</a:t>
            </a: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  • Assigns label B’ at x_test: this is WRONG</a:t>
            </a:r>
            <a:endParaRPr lang="en-US" sz="1200" dirty="0"/>
          </a:p>
          <a:p>
            <a:pPr marL="0" indent="0">
              <a:buNone/>
            </a:pP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From ψ’s perspective: both hypotheses are consistent, both involve a finite set containing x_test,</a:t>
            </a:r>
            <a:endParaRPr lang="en-US" sz="1200" dirty="0"/>
          </a:p>
          <a:p>
            <a:pPr marL="0" indent="0">
              <a:buNone/>
            </a:pPr>
            <a:r>
              <a:rPr lang="en-US" sz="1200" b="1" dirty="0">
                <a:solidFill>
                  <a:srgbClr val="D62828"/>
                </a:solidFill>
                <a:latin typeface="Calibri" pitchFamily="34" charset="0"/>
                <a:ea typeface="Calibri" pitchFamily="34" charset="-122"/>
                <a:cs typeface="Calibri" pitchFamily="34" charset="-120"/>
              </a:rPr>
              <a:t>both have the same structural form. The regularizer has no basis to prefer one over the other!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But HΔ IS Learnable! The Working Algorithm</a:t>
            </a:r>
            <a:endParaRPr lang="en-US" sz="2400" dirty="0"/>
          </a:p>
        </p:txBody>
      </p:sp>
      <p:sp>
        <p:nvSpPr>
          <p:cNvPr id="4" name="Shape 2"/>
          <p:cNvSpPr/>
          <p:nvPr/>
        </p:nvSpPr>
        <p:spPr>
          <a:xfrm>
            <a:off x="457200" y="1005840"/>
            <a:ext cx="8229600" cy="20116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457200" y="1005840"/>
            <a:ext cx="54864" cy="2011680"/>
          </a:xfrm>
          <a:prstGeom prst="rect">
            <a:avLst/>
          </a:prstGeom>
          <a:solidFill>
            <a:srgbClr val="2D6A4F"/>
          </a:solidFill>
          <a:ln/>
        </p:spPr>
        <p:txBody>
          <a:bodyPr/>
          <a:lstStyle/>
          <a:p>
            <a:endParaRPr lang="en-US"/>
          </a:p>
        </p:txBody>
      </p:sp>
      <p:sp>
        <p:nvSpPr>
          <p:cNvPr id="6" name="Text 4"/>
          <p:cNvSpPr/>
          <p:nvPr/>
        </p:nvSpPr>
        <p:spPr>
          <a:xfrm>
            <a:off x="685800" y="1051560"/>
            <a:ext cx="7772400" cy="274320"/>
          </a:xfrm>
          <a:prstGeom prst="rect">
            <a:avLst/>
          </a:prstGeom>
          <a:noFill/>
          <a:ln/>
        </p:spPr>
        <p:txBody>
          <a:bodyPr wrap="square" lIns="0" tIns="0" rIns="0" bIns="0" rtlCol="0" anchor="ctr"/>
          <a:lstStyle/>
          <a:p>
            <a:pPr marL="0" indent="0">
              <a:buNone/>
            </a:pPr>
            <a:r>
              <a:rPr lang="en-US" sz="1400" b="1" dirty="0">
                <a:solidFill>
                  <a:srgbClr val="2D6A4F"/>
                </a:solidFill>
                <a:latin typeface="Georgia" pitchFamily="34" charset="0"/>
                <a:ea typeface="Georgia" pitchFamily="34" charset="-122"/>
                <a:cs typeface="Georgia" pitchFamily="34" charset="-120"/>
              </a:rPr>
              <a:t>A Simple Improper Learner for HΔ</a:t>
            </a:r>
            <a:endParaRPr lang="en-US" sz="1400" dirty="0"/>
          </a:p>
        </p:txBody>
      </p:sp>
      <p:sp>
        <p:nvSpPr>
          <p:cNvPr id="7" name="Text 5"/>
          <p:cNvSpPr/>
          <p:nvPr/>
        </p:nvSpPr>
        <p:spPr>
          <a:xfrm>
            <a:off x="685800" y="1371600"/>
            <a:ext cx="7772400" cy="1554480"/>
          </a:xfrm>
          <a:prstGeom prst="rect">
            <a:avLst/>
          </a:prstGeom>
          <a:noFill/>
          <a:ln/>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Given test point x:</a:t>
            </a:r>
            <a:endParaRPr lang="en-US" sz="1300" dirty="0"/>
          </a:p>
          <a:p>
            <a:pPr marL="0" indent="0">
              <a:buNone/>
            </a:pPr>
            <a:endParaRPr lang="en-US" sz="1300" dirty="0"/>
          </a:p>
          <a:p>
            <a:pPr marL="0" indent="0">
              <a:buNone/>
            </a:pPr>
            <a:endParaRPr lang="en-US" sz="1300" dirty="0"/>
          </a:p>
          <a:p>
            <a:pPr marL="0" indent="0">
              <a:buNone/>
            </a:pPr>
            <a:r>
              <a:rPr lang="en-US" sz="1200" dirty="0">
                <a:solidFill>
                  <a:srgbClr val="1A1A2E"/>
                </a:solidFill>
                <a:latin typeface="Calibri" pitchFamily="34" charset="0"/>
                <a:ea typeface="Calibri" pitchFamily="34" charset="-122"/>
                <a:cs typeface="Calibri" pitchFamily="34" charset="-120"/>
              </a:rPr>
              <a:t>  1.  DEFAULT:  Output * unless you have evidence otherwise.</a:t>
            </a:r>
            <a:endParaRPr lang="en-US" sz="1300" dirty="0"/>
          </a:p>
          <a:p>
            <a:pPr marL="0" indent="0">
              <a:buNone/>
            </a:pPr>
            <a:endParaRPr lang="en-US" sz="1300" dirty="0"/>
          </a:p>
          <a:p>
            <a:pPr marL="0" indent="0">
              <a:buNone/>
            </a:pPr>
            <a:endParaRPr lang="en-US" sz="1300" dirty="0"/>
          </a:p>
          <a:p>
            <a:pPr marL="0" indent="0">
              <a:buNone/>
            </a:pPr>
            <a:r>
              <a:rPr lang="en-US" sz="1200" dirty="0">
                <a:solidFill>
                  <a:srgbClr val="1A1A2E"/>
                </a:solidFill>
                <a:latin typeface="Calibri" pitchFamily="34" charset="0"/>
                <a:ea typeface="Calibri" pitchFamily="34" charset="-122"/>
                <a:cs typeface="Calibri" pitchFamily="34" charset="-120"/>
              </a:rPr>
              <a:t>  2.  CHECK LABELS:  If a label A ∋ x appeared in S (i.e., some training point had label A,</a:t>
            </a:r>
            <a:endParaRPr lang="en-US" sz="1300" dirty="0"/>
          </a:p>
          <a:p>
            <a:pPr marL="0" indent="0">
              <a:buNone/>
            </a:pPr>
            <a:endParaRPr lang="en-US" sz="1300" dirty="0"/>
          </a:p>
          <a:p>
            <a:pPr marL="0" indent="0">
              <a:buNone/>
            </a:pPr>
            <a:r>
              <a:rPr lang="en-US" sz="1200" dirty="0">
                <a:solidFill>
                  <a:srgbClr val="1A1A2E"/>
                </a:solidFill>
                <a:latin typeface="Calibri" pitchFamily="34" charset="0"/>
                <a:ea typeface="Calibri" pitchFamily="34" charset="-122"/>
                <a:cs typeface="Calibri" pitchFamily="34" charset="-120"/>
              </a:rPr>
              <a:t>       and the test point x ∈ A), then output A.</a:t>
            </a:r>
            <a:endParaRPr lang="en-US" sz="1300" dirty="0"/>
          </a:p>
          <a:p>
            <a:pPr marL="0" indent="0">
              <a:buNone/>
            </a:pPr>
            <a:endParaRPr lang="en-US" sz="1300" dirty="0"/>
          </a:p>
          <a:p>
            <a:pPr marL="0" indent="0">
              <a:buNone/>
            </a:pPr>
            <a:endParaRPr lang="en-US" sz="1300" dirty="0"/>
          </a:p>
          <a:p>
            <a:pPr marL="0" indent="0">
              <a:buNone/>
            </a:pPr>
            <a:r>
              <a:rPr lang="en-US" sz="1200" dirty="0">
                <a:solidFill>
                  <a:srgbClr val="1A1A2E"/>
                </a:solidFill>
                <a:latin typeface="Calibri" pitchFamily="34" charset="0"/>
                <a:ea typeface="Calibri" pitchFamily="34" charset="-122"/>
                <a:cs typeface="Calibri" pitchFamily="34" charset="-120"/>
              </a:rPr>
              <a:t>  3.  RESOLVE CONFLICTS:  If two labels A, B both contain x and both appeared in S,</a:t>
            </a:r>
            <a:endParaRPr lang="en-US" sz="1300" dirty="0"/>
          </a:p>
          <a:p>
            <a:pPr marL="0" indent="0">
              <a:buNone/>
            </a:pPr>
            <a:endParaRPr lang="en-US" sz="1300" dirty="0"/>
          </a:p>
          <a:p>
            <a:pPr marL="0" indent="0">
              <a:buNone/>
            </a:pPr>
            <a:r>
              <a:rPr lang="en-US" sz="1200" dirty="0">
                <a:solidFill>
                  <a:srgbClr val="1A1A2E"/>
                </a:solidFill>
                <a:latin typeface="Calibri" pitchFamily="34" charset="0"/>
                <a:ea typeface="Calibri" pitchFamily="34" charset="-122"/>
                <a:cs typeface="Calibri" pitchFamily="34" charset="-120"/>
              </a:rPr>
              <a:t>       use overlap information from A∩B to determine the correct label.</a:t>
            </a:r>
            <a:endParaRPr lang="en-US" sz="1300" dirty="0"/>
          </a:p>
        </p:txBody>
      </p:sp>
      <p:sp>
        <p:nvSpPr>
          <p:cNvPr id="8" name="Shape 6"/>
          <p:cNvSpPr/>
          <p:nvPr/>
        </p:nvSpPr>
        <p:spPr>
          <a:xfrm>
            <a:off x="457200" y="3246120"/>
            <a:ext cx="8229600" cy="16002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457200" y="3246120"/>
            <a:ext cx="54864" cy="1600200"/>
          </a:xfrm>
          <a:prstGeom prst="rect">
            <a:avLst/>
          </a:prstGeom>
          <a:solidFill>
            <a:srgbClr val="065A82"/>
          </a:solidFill>
          <a:ln/>
        </p:spPr>
        <p:txBody>
          <a:bodyPr/>
          <a:lstStyle/>
          <a:p>
            <a:endParaRPr lang="en-US"/>
          </a:p>
        </p:txBody>
      </p:sp>
      <p:sp>
        <p:nvSpPr>
          <p:cNvPr id="10" name="Text 8"/>
          <p:cNvSpPr/>
          <p:nvPr/>
        </p:nvSpPr>
        <p:spPr>
          <a:xfrm>
            <a:off x="685800" y="3291840"/>
            <a:ext cx="7772400" cy="274320"/>
          </a:xfrm>
          <a:prstGeom prst="rect">
            <a:avLst/>
          </a:prstGeom>
          <a:noFill/>
          <a:ln/>
        </p:spPr>
        <p:txBody>
          <a:bodyPr wrap="square" lIns="0" tIns="0" rIns="0" bIns="0" rtlCol="0" anchor="ctr"/>
          <a:lstStyle/>
          <a:p>
            <a:pPr marL="0" indent="0">
              <a:buNone/>
            </a:pPr>
            <a:r>
              <a:rPr lang="en-US" sz="1400" b="1" dirty="0">
                <a:solidFill>
                  <a:srgbClr val="065A82"/>
                </a:solidFill>
                <a:latin typeface="Georgia" pitchFamily="34" charset="0"/>
                <a:ea typeface="Georgia" pitchFamily="34" charset="-122"/>
                <a:cs typeface="Georgia" pitchFamily="34" charset="-120"/>
              </a:rPr>
              <a:t>Why This Works — The Probabilistic Argument</a:t>
            </a:r>
            <a:endParaRPr lang="en-US" sz="1400" dirty="0"/>
          </a:p>
        </p:txBody>
      </p:sp>
      <p:sp>
        <p:nvSpPr>
          <p:cNvPr id="11" name="Text 9"/>
          <p:cNvSpPr/>
          <p:nvPr/>
        </p:nvSpPr>
        <p:spPr>
          <a:xfrm>
            <a:off x="685800" y="3611880"/>
            <a:ext cx="7772400" cy="109728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For any h from (A,B,C) and realizable D with marginal D_X:</a:t>
            </a:r>
            <a:endParaRPr lang="en-US" sz="1200" dirty="0"/>
          </a:p>
          <a:p>
            <a:pPr marL="0" indent="0">
              <a:buNone/>
            </a:pP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  • Each overlap region (A∩B, A∩C, B∩C) either:</a:t>
            </a: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       (a) Has negligible mass under D_X  →  contributes negligible error  →  ignore it</a:t>
            </a: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       (b) Has significant mass  →  training points will be drawn from it quickly  →  correct label revealed</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E85D04"/>
                </a:solidFill>
                <a:latin typeface="Calibri" pitchFamily="34" charset="0"/>
                <a:ea typeface="Calibri" pitchFamily="34" charset="-122"/>
                <a:cs typeface="Calibri" pitchFamily="34" charset="-120"/>
              </a:rPr>
              <a:t>  • Key: This learner looks at WHICH LABELS appear in S, not just empirical errors.</a:t>
            </a:r>
            <a:endParaRPr lang="en-US" sz="1200" dirty="0"/>
          </a:p>
          <a:p>
            <a:pPr marL="0" indent="0">
              <a:buNone/>
            </a:pPr>
            <a:endParaRPr lang="en-US" sz="1200" dirty="0"/>
          </a:p>
          <a:p>
            <a:pPr marL="0" indent="0">
              <a:buNone/>
            </a:pPr>
            <a:r>
              <a:rPr lang="en-US" sz="1200" b="1" dirty="0">
                <a:solidFill>
                  <a:srgbClr val="D62828"/>
                </a:solidFill>
                <a:latin typeface="Calibri" pitchFamily="34" charset="0"/>
                <a:ea typeface="Calibri" pitchFamily="34" charset="-122"/>
                <a:cs typeface="Calibri" pitchFamily="34" charset="-120"/>
              </a:rPr>
              <a:t>  • Local regularization cannot do this — it only sees ψ(h, x), not the content of labels in 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B2F"/>
        </a:solidFill>
        <a:effectLst/>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1E2761">
              <a:alpha val="70000"/>
            </a:srgbClr>
          </a:solidFill>
          <a:ln/>
        </p:spPr>
        <p:txBody>
          <a:bodyPr/>
          <a:lstStyle/>
          <a:p>
            <a:endParaRPr lang="en-US"/>
          </a:p>
        </p:txBody>
      </p:sp>
      <p:sp>
        <p:nvSpPr>
          <p:cNvPr id="3" name="Shape 1"/>
          <p:cNvSpPr/>
          <p:nvPr/>
        </p:nvSpPr>
        <p:spPr>
          <a:xfrm>
            <a:off x="6858000" y="2743200"/>
            <a:ext cx="3657600" cy="3657600"/>
          </a:xfrm>
          <a:prstGeom prst="ellipse">
            <a:avLst/>
          </a:prstGeom>
          <a:solidFill>
            <a:srgbClr val="D62828">
              <a:alpha val="60000"/>
            </a:srgbClr>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023360" y="182880"/>
            <a:ext cx="1097280" cy="1097280"/>
          </a:xfrm>
          <a:prstGeom prst="rect">
            <a:avLst/>
          </a:prstGeom>
        </p:spPr>
      </p:pic>
      <p:sp>
        <p:nvSpPr>
          <p:cNvPr id="5" name="Text 2"/>
          <p:cNvSpPr/>
          <p:nvPr/>
        </p:nvSpPr>
        <p:spPr>
          <a:xfrm>
            <a:off x="457200" y="1280160"/>
            <a:ext cx="8229600" cy="457200"/>
          </a:xfrm>
          <a:prstGeom prst="rect">
            <a:avLst/>
          </a:prstGeom>
          <a:noFill/>
          <a:ln/>
        </p:spPr>
        <p:txBody>
          <a:bodyPr wrap="square" rtlCol="0" anchor="ctr"/>
          <a:lstStyle/>
          <a:p>
            <a:pPr marL="0" indent="0" algn="ctr">
              <a:buNone/>
            </a:pPr>
            <a:r>
              <a:rPr lang="en-US" sz="1600" b="1" kern="0" spc="600" dirty="0">
                <a:solidFill>
                  <a:srgbClr val="F4C430"/>
                </a:solidFill>
                <a:latin typeface="Calibri" pitchFamily="34" charset="0"/>
                <a:ea typeface="Calibri" pitchFamily="34" charset="-122"/>
                <a:cs typeface="Calibri" pitchFamily="34" charset="-120"/>
              </a:rPr>
              <a:t>OPEN PROBLEM 2</a:t>
            </a:r>
            <a:endParaRPr lang="en-US" sz="1600" dirty="0"/>
          </a:p>
        </p:txBody>
      </p:sp>
      <p:sp>
        <p:nvSpPr>
          <p:cNvPr id="6" name="Shape 3"/>
          <p:cNvSpPr/>
          <p:nvPr/>
        </p:nvSpPr>
        <p:spPr>
          <a:xfrm>
            <a:off x="731520" y="1828800"/>
            <a:ext cx="7680960" cy="1097280"/>
          </a:xfrm>
          <a:prstGeom prst="rect">
            <a:avLst/>
          </a:prstGeom>
          <a:solidFill>
            <a:srgbClr val="FFFFFF">
              <a:alpha val="12000"/>
            </a:srgbClr>
          </a:solidFill>
          <a:ln/>
        </p:spPr>
        <p:txBody>
          <a:bodyPr/>
          <a:lstStyle/>
          <a:p>
            <a:endParaRPr lang="en-US"/>
          </a:p>
        </p:txBody>
      </p:sp>
      <p:sp>
        <p:nvSpPr>
          <p:cNvPr id="7" name="Text 4"/>
          <p:cNvSpPr/>
          <p:nvPr/>
        </p:nvSpPr>
        <p:spPr>
          <a:xfrm>
            <a:off x="731520" y="1874520"/>
            <a:ext cx="7680960" cy="1005840"/>
          </a:xfrm>
          <a:prstGeom prst="rect">
            <a:avLst/>
          </a:prstGeom>
          <a:noFill/>
          <a:ln/>
        </p:spPr>
        <p:txBody>
          <a:bodyPr wrap="square" rtlCol="0" anchor="ctr"/>
          <a:lstStyle/>
          <a:p>
            <a:pPr marL="0" indent="0" algn="ctr">
              <a:lnSpc>
                <a:spcPct val="120000"/>
              </a:lnSpc>
              <a:buNone/>
            </a:pPr>
            <a:r>
              <a:rPr lang="en-US" sz="2000" b="1" dirty="0">
                <a:solidFill>
                  <a:srgbClr val="FFFFFF"/>
                </a:solidFill>
                <a:latin typeface="Georgia" pitchFamily="34" charset="0"/>
                <a:ea typeface="Georgia" pitchFamily="34" charset="-122"/>
                <a:cs typeface="Georgia" pitchFamily="34" charset="-120"/>
              </a:rPr>
              <a:t>Can the class HΔ be learned</a:t>
            </a:r>
            <a:endParaRPr lang="en-US" sz="2000" dirty="0"/>
          </a:p>
          <a:p>
            <a:pPr marL="0" indent="0" algn="ctr">
              <a:lnSpc>
                <a:spcPct val="120000"/>
              </a:lnSpc>
              <a:buNone/>
            </a:pPr>
            <a:r>
              <a:rPr lang="en-US" sz="2000" b="1" dirty="0">
                <a:solidFill>
                  <a:srgbClr val="FFFFFF"/>
                </a:solidFill>
                <a:latin typeface="Georgia" pitchFamily="34" charset="0"/>
                <a:ea typeface="Georgia" pitchFamily="34" charset="-122"/>
                <a:cs typeface="Georgia" pitchFamily="34" charset="-120"/>
              </a:rPr>
              <a:t>by a local regularizer?</a:t>
            </a:r>
            <a:endParaRPr lang="en-US" sz="2000" dirty="0"/>
          </a:p>
          <a:p>
            <a:pPr marL="0" indent="0" algn="ctr">
              <a:lnSpc>
                <a:spcPct val="120000"/>
              </a:lnSpc>
              <a:buNone/>
            </a:pPr>
            <a:r>
              <a:rPr lang="en-US" sz="2000" b="1" dirty="0">
                <a:solidFill>
                  <a:srgbClr val="FFFFFF"/>
                </a:solidFill>
                <a:latin typeface="Georgia" pitchFamily="34" charset="0"/>
                <a:ea typeface="Georgia" pitchFamily="34" charset="-122"/>
                <a:cs typeface="Georgia" pitchFamily="34" charset="-120"/>
              </a:rPr>
              <a:t>If so, with optimal (or nearly optimal) sample complexity?</a:t>
            </a:r>
            <a:endParaRPr lang="en-US" sz="2000" dirty="0"/>
          </a:p>
        </p:txBody>
      </p:sp>
      <p:sp>
        <p:nvSpPr>
          <p:cNvPr id="8" name="Text 5"/>
          <p:cNvSpPr/>
          <p:nvPr/>
        </p:nvSpPr>
        <p:spPr>
          <a:xfrm>
            <a:off x="731520" y="3200400"/>
            <a:ext cx="7680960" cy="457200"/>
          </a:xfrm>
          <a:prstGeom prst="rect">
            <a:avLst/>
          </a:prstGeom>
          <a:noFill/>
          <a:ln/>
        </p:spPr>
        <p:txBody>
          <a:bodyPr wrap="square" rtlCol="0" anchor="ctr"/>
          <a:lstStyle/>
          <a:p>
            <a:pPr marL="0" indent="0" algn="ctr">
              <a:buNone/>
            </a:pPr>
            <a:r>
              <a:rPr lang="en-US" sz="1400" i="1" dirty="0">
                <a:solidFill>
                  <a:srgbClr val="F4C430"/>
                </a:solidFill>
                <a:latin typeface="Calibri" pitchFamily="34" charset="0"/>
                <a:ea typeface="Calibri" pitchFamily="34" charset="-122"/>
                <a:cs typeface="Calibri" pitchFamily="34" charset="-120"/>
              </a:rPr>
              <a:t>This is still an open problem. The authors lean toward NO, but it remains unresolved.</a:t>
            </a:r>
            <a:endParaRPr lang="en-US" sz="1400" dirty="0"/>
          </a:p>
        </p:txBody>
      </p:sp>
      <p:sp>
        <p:nvSpPr>
          <p:cNvPr id="9" name="Text 6"/>
          <p:cNvSpPr/>
          <p:nvPr/>
        </p:nvSpPr>
        <p:spPr>
          <a:xfrm>
            <a:off x="1097280" y="3749040"/>
            <a:ext cx="6949440" cy="1097280"/>
          </a:xfrm>
          <a:prstGeom prst="rect">
            <a:avLst/>
          </a:prstGeom>
          <a:noFill/>
          <a:ln/>
        </p:spPr>
        <p:txBody>
          <a:bodyPr wrap="square" rtlCol="0" anchor="ctr"/>
          <a:lstStyle/>
          <a:p>
            <a:pPr marL="0" indent="0" algn="ctr">
              <a:buNone/>
            </a:pPr>
            <a:r>
              <a:rPr lang="en-US" sz="1600" b="1" dirty="0">
                <a:solidFill>
                  <a:srgbClr val="CADCFC"/>
                </a:solidFill>
                <a:latin typeface="Calibri" pitchFamily="34" charset="0"/>
                <a:ea typeface="Calibri" pitchFamily="34" charset="-122"/>
                <a:cs typeface="Calibri" pitchFamily="34" charset="-120"/>
              </a:rPr>
              <a:t>We are still working on this.</a:t>
            </a:r>
            <a:endParaRPr lang="en-US" sz="1600" dirty="0"/>
          </a:p>
          <a:p>
            <a:pPr marL="0" indent="0" algn="ctr">
              <a:buNone/>
            </a:pPr>
            <a:r>
              <a:rPr lang="en-US" sz="1300" dirty="0">
                <a:solidFill>
                  <a:srgbClr val="CADCFC"/>
                </a:solidFill>
                <a:latin typeface="Calibri" pitchFamily="34" charset="0"/>
                <a:ea typeface="Calibri" pitchFamily="34" charset="-122"/>
                <a:cs typeface="Calibri" pitchFamily="34" charset="-120"/>
              </a:rPr>
              <a:t>The symmetry argument is intuitive but a formal proof or disproof remains elusive.</a:t>
            </a:r>
            <a:endParaRPr lang="en-US" sz="1600" dirty="0"/>
          </a:p>
          <a:p>
            <a:pPr marL="0" indent="0" algn="ctr">
              <a:buNone/>
            </a:pPr>
            <a:endParaRPr lang="en-US" sz="1600" dirty="0"/>
          </a:p>
          <a:p>
            <a:pPr marL="0" indent="0" algn="ctr">
              <a:buNone/>
            </a:pPr>
            <a:r>
              <a:rPr lang="en-US" sz="1300" dirty="0">
                <a:solidFill>
                  <a:srgbClr val="CADCFC"/>
                </a:solidFill>
                <a:latin typeface="Calibri" pitchFamily="34" charset="0"/>
                <a:ea typeface="Calibri" pitchFamily="34" charset="-122"/>
                <a:cs typeface="Calibri" pitchFamily="34" charset="-120"/>
              </a:rPr>
              <a:t>Different techniques have been tried, but they ultimately hit the same symmetry barrier.</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Can’t We Just Try Different Techniques?</a:t>
            </a:r>
            <a:endParaRPr lang="en-US" sz="2400" dirty="0"/>
          </a:p>
        </p:txBody>
      </p:sp>
      <p:sp>
        <p:nvSpPr>
          <p:cNvPr id="4" name="Shape 2"/>
          <p:cNvSpPr/>
          <p:nvPr/>
        </p:nvSpPr>
        <p:spPr>
          <a:xfrm>
            <a:off x="457200" y="1005840"/>
            <a:ext cx="8229600" cy="11887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457200" y="1005840"/>
            <a:ext cx="54864" cy="1188720"/>
          </a:xfrm>
          <a:prstGeom prst="rect">
            <a:avLst/>
          </a:prstGeom>
          <a:solidFill>
            <a:srgbClr val="E85D04"/>
          </a:solidFill>
          <a:ln/>
        </p:spPr>
        <p:txBody>
          <a:bodyPr/>
          <a:lstStyle/>
          <a:p>
            <a:endParaRPr lang="en-US"/>
          </a:p>
        </p:txBody>
      </p:sp>
      <p:sp>
        <p:nvSpPr>
          <p:cNvPr id="6" name="Text 4"/>
          <p:cNvSpPr/>
          <p:nvPr/>
        </p:nvSpPr>
        <p:spPr>
          <a:xfrm>
            <a:off x="685800" y="1051560"/>
            <a:ext cx="7772400" cy="274320"/>
          </a:xfrm>
          <a:prstGeom prst="rect">
            <a:avLst/>
          </a:prstGeom>
          <a:noFill/>
          <a:ln/>
        </p:spPr>
        <p:txBody>
          <a:bodyPr wrap="square" lIns="0" tIns="0" rIns="0" bIns="0" rtlCol="0" anchor="ctr"/>
          <a:lstStyle/>
          <a:p>
            <a:pPr marL="0" indent="0">
              <a:buNone/>
            </a:pPr>
            <a:r>
              <a:rPr lang="en-US" sz="1400" b="1" dirty="0">
                <a:solidFill>
                  <a:srgbClr val="E85D04"/>
                </a:solidFill>
                <a:latin typeface="Georgia" pitchFamily="34" charset="0"/>
                <a:ea typeface="Georgia" pitchFamily="34" charset="-122"/>
                <a:cs typeface="Georgia" pitchFamily="34" charset="-120"/>
              </a:rPr>
              <a:t>The Fundamental Tension</a:t>
            </a:r>
            <a:endParaRPr lang="en-US" sz="1400" dirty="0"/>
          </a:p>
        </p:txBody>
      </p:sp>
      <p:sp>
        <p:nvSpPr>
          <p:cNvPr id="7" name="Text 5"/>
          <p:cNvSpPr/>
          <p:nvPr/>
        </p:nvSpPr>
        <p:spPr>
          <a:xfrm>
            <a:off x="685800" y="1371600"/>
            <a:ext cx="7772400" cy="73152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Yes, we can try modifications: give the regularizer more information, make it adaptive, etc.</a:t>
            </a:r>
            <a:endParaRPr lang="en-US" sz="1200" dirty="0"/>
          </a:p>
          <a:p>
            <a:pPr marL="0" indent="0">
              <a:buNone/>
            </a:pPr>
            <a:endParaRPr lang="en-US" sz="1200" dirty="0"/>
          </a:p>
          <a:p>
            <a:pPr marL="0" indent="0">
              <a:buNone/>
            </a:pPr>
            <a:r>
              <a:rPr lang="en-US" sz="1200" b="1" dirty="0">
                <a:solidFill>
                  <a:srgbClr val="D62828"/>
                </a:solidFill>
                <a:latin typeface="Calibri" pitchFamily="34" charset="0"/>
                <a:ea typeface="Calibri" pitchFamily="34" charset="-122"/>
                <a:cs typeface="Calibri" pitchFamily="34" charset="-120"/>
              </a:rPr>
              <a:t>But each modification defeats the purpose of having a SIMPLE, UNIVERSAL template.</a:t>
            </a: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The whole point is to find something as clean as ERM — not to build another complex machinery.</a:t>
            </a:r>
            <a:endParaRPr lang="en-US" sz="1200" dirty="0"/>
          </a:p>
        </p:txBody>
      </p:sp>
      <p:sp>
        <p:nvSpPr>
          <p:cNvPr id="8" name="Shape 6"/>
          <p:cNvSpPr/>
          <p:nvPr/>
        </p:nvSpPr>
        <p:spPr>
          <a:xfrm>
            <a:off x="457200" y="2468880"/>
            <a:ext cx="8229600" cy="5029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457200" y="2468880"/>
            <a:ext cx="54864" cy="502920"/>
          </a:xfrm>
          <a:prstGeom prst="rect">
            <a:avLst/>
          </a:prstGeom>
          <a:solidFill>
            <a:srgbClr val="065A82"/>
          </a:solidFill>
          <a:ln/>
        </p:spPr>
        <p:txBody>
          <a:bodyPr/>
          <a:lstStyle/>
          <a:p>
            <a:endParaRPr lang="en-US"/>
          </a:p>
        </p:txBody>
      </p:sp>
      <p:sp>
        <p:nvSpPr>
          <p:cNvPr id="10" name="Text 8"/>
          <p:cNvSpPr/>
          <p:nvPr/>
        </p:nvSpPr>
        <p:spPr>
          <a:xfrm>
            <a:off x="685800" y="2514600"/>
            <a:ext cx="2286000" cy="18288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Give ψ access to S?</a:t>
            </a:r>
            <a:endParaRPr lang="en-US" sz="1200" dirty="0"/>
          </a:p>
        </p:txBody>
      </p:sp>
      <p:sp>
        <p:nvSpPr>
          <p:cNvPr id="11" name="Text 9"/>
          <p:cNvSpPr/>
          <p:nvPr/>
        </p:nvSpPr>
        <p:spPr>
          <a:xfrm>
            <a:off x="685800" y="2715768"/>
            <a:ext cx="7772400" cy="22860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That’s unsupervised local reg — already shown to work! But the open problem asks about the SIMPLER version without S.</a:t>
            </a:r>
            <a:endParaRPr lang="en-US" sz="1100" dirty="0"/>
          </a:p>
        </p:txBody>
      </p:sp>
      <p:sp>
        <p:nvSpPr>
          <p:cNvPr id="12" name="Shape 10"/>
          <p:cNvSpPr/>
          <p:nvPr/>
        </p:nvSpPr>
        <p:spPr>
          <a:xfrm>
            <a:off x="457200" y="3090672"/>
            <a:ext cx="8229600" cy="5029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3" name="Shape 11"/>
          <p:cNvSpPr/>
          <p:nvPr/>
        </p:nvSpPr>
        <p:spPr>
          <a:xfrm>
            <a:off x="457200" y="3090672"/>
            <a:ext cx="54864" cy="502920"/>
          </a:xfrm>
          <a:prstGeom prst="rect">
            <a:avLst/>
          </a:prstGeom>
          <a:solidFill>
            <a:srgbClr val="1C7293"/>
          </a:solidFill>
          <a:ln/>
        </p:spPr>
        <p:txBody>
          <a:bodyPr/>
          <a:lstStyle/>
          <a:p>
            <a:endParaRPr lang="en-US"/>
          </a:p>
        </p:txBody>
      </p:sp>
      <p:sp>
        <p:nvSpPr>
          <p:cNvPr id="14" name="Text 12"/>
          <p:cNvSpPr/>
          <p:nvPr/>
        </p:nvSpPr>
        <p:spPr>
          <a:xfrm>
            <a:off x="685800" y="3136392"/>
            <a:ext cx="2286000" cy="18288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Use OIG structure?</a:t>
            </a:r>
            <a:endParaRPr lang="en-US" sz="1200" dirty="0"/>
          </a:p>
        </p:txBody>
      </p:sp>
      <p:sp>
        <p:nvSpPr>
          <p:cNvPr id="15" name="Text 13"/>
          <p:cNvSpPr/>
          <p:nvPr/>
        </p:nvSpPr>
        <p:spPr>
          <a:xfrm>
            <a:off x="685800" y="3337560"/>
            <a:ext cx="7772400" cy="22860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Then you’re back to OIG-based learning, which is exactly what we’re trying to avoid.</a:t>
            </a:r>
            <a:endParaRPr lang="en-US" sz="1100" dirty="0"/>
          </a:p>
        </p:txBody>
      </p:sp>
      <p:sp>
        <p:nvSpPr>
          <p:cNvPr id="16" name="Shape 14"/>
          <p:cNvSpPr/>
          <p:nvPr/>
        </p:nvSpPr>
        <p:spPr>
          <a:xfrm>
            <a:off x="457200" y="3712464"/>
            <a:ext cx="8229600" cy="5029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7" name="Shape 15"/>
          <p:cNvSpPr/>
          <p:nvPr/>
        </p:nvSpPr>
        <p:spPr>
          <a:xfrm>
            <a:off x="457200" y="3712464"/>
            <a:ext cx="54864" cy="502920"/>
          </a:xfrm>
          <a:prstGeom prst="rect">
            <a:avLst/>
          </a:prstGeom>
          <a:solidFill>
            <a:srgbClr val="E85D04"/>
          </a:solidFill>
          <a:ln/>
        </p:spPr>
        <p:txBody>
          <a:bodyPr/>
          <a:lstStyle/>
          <a:p>
            <a:endParaRPr lang="en-US"/>
          </a:p>
        </p:txBody>
      </p:sp>
      <p:sp>
        <p:nvSpPr>
          <p:cNvPr id="18" name="Text 16"/>
          <p:cNvSpPr/>
          <p:nvPr/>
        </p:nvSpPr>
        <p:spPr>
          <a:xfrm>
            <a:off x="685800" y="3758184"/>
            <a:ext cx="2286000" cy="182880"/>
          </a:xfrm>
          <a:prstGeom prst="rect">
            <a:avLst/>
          </a:prstGeom>
          <a:noFill/>
          <a:ln/>
        </p:spPr>
        <p:txBody>
          <a:bodyPr wrap="square" lIns="0" tIns="0" rIns="0" bIns="0" rtlCol="0" anchor="ctr"/>
          <a:lstStyle/>
          <a:p>
            <a:pPr marL="0" indent="0">
              <a:buNone/>
            </a:pPr>
            <a:r>
              <a:rPr lang="en-US" sz="1200" b="1" dirty="0">
                <a:solidFill>
                  <a:srgbClr val="E85D04"/>
                </a:solidFill>
                <a:latin typeface="Calibri" pitchFamily="34" charset="0"/>
                <a:ea typeface="Calibri" pitchFamily="34" charset="-122"/>
                <a:cs typeface="Calibri" pitchFamily="34" charset="-120"/>
              </a:rPr>
              <a:t>Encode S implicitly?</a:t>
            </a:r>
            <a:endParaRPr lang="en-US" sz="1200" dirty="0"/>
          </a:p>
        </p:txBody>
      </p:sp>
      <p:sp>
        <p:nvSpPr>
          <p:cNvPr id="19" name="Text 17"/>
          <p:cNvSpPr/>
          <p:nvPr/>
        </p:nvSpPr>
        <p:spPr>
          <a:xfrm>
            <a:off x="685800" y="3959352"/>
            <a:ext cx="7772400" cy="22860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Local reg by definition cannot depend on S. Any “implicit” encoding would change the framework.</a:t>
            </a:r>
            <a:endParaRPr lang="en-US" sz="1100" dirty="0"/>
          </a:p>
        </p:txBody>
      </p:sp>
      <p:sp>
        <p:nvSpPr>
          <p:cNvPr id="20" name="Shape 18"/>
          <p:cNvSpPr/>
          <p:nvPr/>
        </p:nvSpPr>
        <p:spPr>
          <a:xfrm>
            <a:off x="457200" y="4334256"/>
            <a:ext cx="8229600" cy="5029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1" name="Shape 19"/>
          <p:cNvSpPr/>
          <p:nvPr/>
        </p:nvSpPr>
        <p:spPr>
          <a:xfrm>
            <a:off x="457200" y="4334256"/>
            <a:ext cx="54864" cy="502920"/>
          </a:xfrm>
          <a:prstGeom prst="rect">
            <a:avLst/>
          </a:prstGeom>
          <a:solidFill>
            <a:srgbClr val="D62828"/>
          </a:solidFill>
          <a:ln/>
        </p:spPr>
        <p:txBody>
          <a:bodyPr/>
          <a:lstStyle/>
          <a:p>
            <a:endParaRPr lang="en-US"/>
          </a:p>
        </p:txBody>
      </p:sp>
      <p:sp>
        <p:nvSpPr>
          <p:cNvPr id="22" name="Text 20"/>
          <p:cNvSpPr/>
          <p:nvPr/>
        </p:nvSpPr>
        <p:spPr>
          <a:xfrm>
            <a:off x="685800" y="4379976"/>
            <a:ext cx="2286000" cy="182880"/>
          </a:xfrm>
          <a:prstGeom prst="rect">
            <a:avLst/>
          </a:prstGeom>
          <a:noFill/>
          <a:ln/>
        </p:spPr>
        <p:txBody>
          <a:bodyPr wrap="square" lIns="0" tIns="0" rIns="0" bIns="0" rtlCol="0" anchor="ctr"/>
          <a:lstStyle/>
          <a:p>
            <a:pPr marL="0" indent="0">
              <a:buNone/>
            </a:pPr>
            <a:r>
              <a:rPr lang="en-US" sz="1200" b="1" dirty="0">
                <a:solidFill>
                  <a:srgbClr val="D62828"/>
                </a:solidFill>
                <a:latin typeface="Calibri" pitchFamily="34" charset="0"/>
                <a:ea typeface="Calibri" pitchFamily="34" charset="-122"/>
                <a:cs typeface="Calibri" pitchFamily="34" charset="-120"/>
              </a:rPr>
              <a:t>Weaker guarantees?</a:t>
            </a:r>
            <a:endParaRPr lang="en-US" sz="1200" dirty="0"/>
          </a:p>
        </p:txBody>
      </p:sp>
      <p:sp>
        <p:nvSpPr>
          <p:cNvPr id="23" name="Text 21"/>
          <p:cNvSpPr/>
          <p:nvPr/>
        </p:nvSpPr>
        <p:spPr>
          <a:xfrm>
            <a:off x="685800" y="4581144"/>
            <a:ext cx="7772400" cy="22860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We want PAC learning (the standard). Weaker guarantees sidestep the problem without solving it.</a:t>
            </a:r>
            <a:endParaRPr lang="en-US" sz="1100" dirty="0"/>
          </a:p>
        </p:txBody>
      </p:sp>
      <p:sp>
        <p:nvSpPr>
          <p:cNvPr id="24" name="Shape 22"/>
          <p:cNvSpPr/>
          <p:nvPr/>
        </p:nvSpPr>
        <p:spPr>
          <a:xfrm>
            <a:off x="457200" y="4572000"/>
            <a:ext cx="8229600" cy="411480"/>
          </a:xfrm>
          <a:prstGeom prst="rect">
            <a:avLst/>
          </a:prstGeom>
          <a:solidFill>
            <a:srgbClr val="FFF3CD"/>
          </a:solidFill>
          <a:ln/>
        </p:spPr>
        <p:txBody>
          <a:bodyPr/>
          <a:lstStyle/>
          <a:p>
            <a:endParaRPr lang="en-US"/>
          </a:p>
        </p:txBody>
      </p:sp>
      <p:sp>
        <p:nvSpPr>
          <p:cNvPr id="25" name="Text 23"/>
          <p:cNvSpPr/>
          <p:nvPr/>
        </p:nvSpPr>
        <p:spPr>
          <a:xfrm>
            <a:off x="640080" y="4590288"/>
            <a:ext cx="7863840" cy="365760"/>
          </a:xfrm>
          <a:prstGeom prst="rect">
            <a:avLst/>
          </a:prstGeom>
          <a:noFill/>
          <a:ln/>
        </p:spPr>
        <p:txBody>
          <a:bodyPr wrap="square" lIns="0" tIns="0" rIns="0" bIns="0" rtlCol="0" anchor="ctr"/>
          <a:lstStyle/>
          <a:p>
            <a:pPr marL="0" indent="0">
              <a:buNone/>
            </a:pPr>
            <a:r>
              <a:rPr lang="en-US" sz="1200" b="1" dirty="0">
                <a:solidFill>
                  <a:srgbClr val="E85D04"/>
                </a:solidFill>
                <a:latin typeface="Calibri" pitchFamily="34" charset="0"/>
                <a:ea typeface="Calibri" pitchFamily="34" charset="-122"/>
                <a:cs typeface="Calibri" pitchFamily="34" charset="-120"/>
              </a:rPr>
              <a:t>Bottom line: </a:t>
            </a:r>
            <a:r>
              <a:rPr lang="en-US" sz="1200" dirty="0">
                <a:solidFill>
                  <a:srgbClr val="1A1A2E"/>
                </a:solidFill>
                <a:latin typeface="Calibri" pitchFamily="34" charset="0"/>
                <a:ea typeface="Calibri" pitchFamily="34" charset="-122"/>
                <a:cs typeface="Calibri" pitchFamily="34" charset="-120"/>
              </a:rPr>
              <a:t>The constraint on local regularization is precisely what makes the problem interesting and hard.</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1B2F"/>
          </a:solidFill>
          <a:ln/>
        </p:spPr>
        <p:txBody>
          <a:bodyPr/>
          <a:lstStyle/>
          <a:p>
            <a:endParaRPr lang="en-US"/>
          </a:p>
        </p:txBody>
      </p:sp>
      <p:sp>
        <p:nvSpPr>
          <p:cNvPr id="3" name="Text 1"/>
          <p:cNvSpPr/>
          <p:nvPr/>
        </p:nvSpPr>
        <p:spPr>
          <a:xfrm>
            <a:off x="640080" y="45720"/>
            <a:ext cx="7863840" cy="6858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Local Regularization Beyond Classification</a:t>
            </a:r>
            <a:endParaRPr lang="en-US" sz="2400" dirty="0"/>
          </a:p>
        </p:txBody>
      </p:sp>
      <p:sp>
        <p:nvSpPr>
          <p:cNvPr id="4" name="Shape 2"/>
          <p:cNvSpPr/>
          <p:nvPr/>
        </p:nvSpPr>
        <p:spPr>
          <a:xfrm>
            <a:off x="457200" y="1005840"/>
            <a:ext cx="8229600" cy="18288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457200" y="1005840"/>
            <a:ext cx="54864" cy="1828800"/>
          </a:xfrm>
          <a:prstGeom prst="rect">
            <a:avLst/>
          </a:prstGeom>
          <a:solidFill>
            <a:srgbClr val="1C7293"/>
          </a:solidFill>
          <a:ln/>
        </p:spPr>
        <p:txBody>
          <a:bodyPr/>
          <a:lstStyle/>
          <a:p>
            <a:endParaRPr lang="en-US"/>
          </a:p>
        </p:txBody>
      </p:sp>
      <p:sp>
        <p:nvSpPr>
          <p:cNvPr id="6" name="Text 4"/>
          <p:cNvSpPr/>
          <p:nvPr/>
        </p:nvSpPr>
        <p:spPr>
          <a:xfrm>
            <a:off x="685800" y="1051560"/>
            <a:ext cx="7772400" cy="274320"/>
          </a:xfrm>
          <a:prstGeom prst="rect">
            <a:avLst/>
          </a:prstGeom>
          <a:noFill/>
          <a:ln/>
        </p:spPr>
        <p:txBody>
          <a:bodyPr wrap="square" lIns="0" tIns="0" rIns="0" bIns="0" rtlCol="0" anchor="ctr"/>
          <a:lstStyle/>
          <a:p>
            <a:pPr marL="0" indent="0">
              <a:buNone/>
            </a:pPr>
            <a:r>
              <a:rPr lang="en-US" sz="1300" b="1" dirty="0">
                <a:solidFill>
                  <a:srgbClr val="1C7293"/>
                </a:solidFill>
                <a:latin typeface="Georgia" pitchFamily="34" charset="0"/>
                <a:ea typeface="Georgia" pitchFamily="34" charset="-122"/>
                <a:cs typeface="Georgia" pitchFamily="34" charset="-120"/>
              </a:rPr>
              <a:t>Linear Regression: VAW Forecaster (Vaskevičius &amp; Zhivotovskiy, 2023)</a:t>
            </a:r>
            <a:endParaRPr lang="en-US" sz="1300" dirty="0"/>
          </a:p>
        </p:txBody>
      </p:sp>
      <p:sp>
        <p:nvSpPr>
          <p:cNvPr id="7" name="Text 5"/>
          <p:cNvSpPr/>
          <p:nvPr/>
        </p:nvSpPr>
        <p:spPr>
          <a:xfrm>
            <a:off x="685800" y="1371600"/>
            <a:ext cx="7772400" cy="137160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In linear regression with squared loss, a modified Vovk-Azoury-Warmuth forecaster uses exactly a local regularizer:</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1A1A2E"/>
                </a:solidFill>
                <a:latin typeface="Calibri" pitchFamily="34" charset="0"/>
                <a:ea typeface="Calibri" pitchFamily="34" charset="-122"/>
                <a:cs typeface="Calibri" pitchFamily="34" charset="-120"/>
              </a:rPr>
              <a:t>  ψ(h, x) prefers functions whose output h(x) at the test point has small norm.</a:t>
            </a:r>
            <a:endParaRPr lang="en-US" sz="1200" dirty="0"/>
          </a:p>
          <a:p>
            <a:pPr marL="0" indent="0">
              <a:buNone/>
            </a:pP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This local regularizer BEATS all proper learners (those restricted to linear functions).</a:t>
            </a:r>
            <a:endParaRPr lang="en-US" sz="1200" dirty="0"/>
          </a:p>
          <a:p>
            <a:pPr marL="0" indent="0">
              <a:buNone/>
            </a:pPr>
            <a:endParaRPr lang="en-US" sz="1200" dirty="0"/>
          </a:p>
          <a:p>
            <a:pPr marL="0" indent="0">
              <a:buNone/>
            </a:pP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Key takeaway: Local regularization isn’t just a theoretical construct — it appears naturally in other</a:t>
            </a:r>
            <a:endParaRPr lang="en-US" sz="1200" dirty="0"/>
          </a:p>
          <a:p>
            <a:pPr marL="0" indent="0">
              <a:buNone/>
            </a:pPr>
            <a:r>
              <a:rPr lang="en-US" sz="1200" b="1" dirty="0">
                <a:solidFill>
                  <a:srgbClr val="1A1A2E"/>
                </a:solidFill>
                <a:latin typeface="Calibri" pitchFamily="34" charset="0"/>
                <a:ea typeface="Calibri" pitchFamily="34" charset="-122"/>
                <a:cs typeface="Calibri" pitchFamily="34" charset="-120"/>
              </a:rPr>
              <a:t>settings and has proven power over proper learning in practice.</a:t>
            </a:r>
            <a:endParaRPr lang="en-US" sz="1200" dirty="0"/>
          </a:p>
        </p:txBody>
      </p:sp>
      <p:sp>
        <p:nvSpPr>
          <p:cNvPr id="8" name="Shape 6"/>
          <p:cNvSpPr/>
          <p:nvPr/>
        </p:nvSpPr>
        <p:spPr>
          <a:xfrm>
            <a:off x="457200" y="3063240"/>
            <a:ext cx="3931920" cy="17373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457200" y="3063240"/>
            <a:ext cx="54864" cy="1737360"/>
          </a:xfrm>
          <a:prstGeom prst="rect">
            <a:avLst/>
          </a:prstGeom>
          <a:solidFill>
            <a:srgbClr val="065A82"/>
          </a:solidFill>
          <a:ln/>
        </p:spPr>
        <p:txBody>
          <a:bodyPr/>
          <a:lstStyle/>
          <a:p>
            <a:endParaRPr lang="en-US"/>
          </a:p>
        </p:txBody>
      </p:sp>
      <p:sp>
        <p:nvSpPr>
          <p:cNvPr id="10" name="Text 8"/>
          <p:cNvSpPr/>
          <p:nvPr/>
        </p:nvSpPr>
        <p:spPr>
          <a:xfrm>
            <a:off x="685800" y="3108960"/>
            <a:ext cx="3474720" cy="274320"/>
          </a:xfrm>
          <a:prstGeom prst="rect">
            <a:avLst/>
          </a:prstGeom>
          <a:noFill/>
          <a:ln/>
        </p:spPr>
        <p:txBody>
          <a:bodyPr wrap="square" lIns="0" tIns="0" rIns="0" bIns="0" rtlCol="0" anchor="ctr"/>
          <a:lstStyle/>
          <a:p>
            <a:pPr marL="0" indent="0">
              <a:buNone/>
            </a:pPr>
            <a:r>
              <a:rPr lang="en-US" sz="1300" b="1" dirty="0">
                <a:solidFill>
                  <a:srgbClr val="065A82"/>
                </a:solidFill>
                <a:latin typeface="Georgia" pitchFamily="34" charset="0"/>
                <a:ea typeface="Georgia" pitchFamily="34" charset="-122"/>
                <a:cs typeface="Georgia" pitchFamily="34" charset="-120"/>
              </a:rPr>
              <a:t>Sample Compression Connection</a:t>
            </a:r>
            <a:endParaRPr lang="en-US" sz="1300" dirty="0"/>
          </a:p>
        </p:txBody>
      </p:sp>
      <p:sp>
        <p:nvSpPr>
          <p:cNvPr id="11" name="Text 9"/>
          <p:cNvSpPr/>
          <p:nvPr/>
        </p:nvSpPr>
        <p:spPr>
          <a:xfrm>
            <a:off x="685800" y="3429000"/>
            <a:ext cx="3474720" cy="1188720"/>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David et al. (2016):</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 Learning ⇔ sublinear sample compression.</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This structural result may help resolve the open problem. If local reg can be shown to (not) compress, it would (dis)prove the conjecture.</a:t>
            </a:r>
            <a:endParaRPr lang="en-US" sz="1100" dirty="0"/>
          </a:p>
        </p:txBody>
      </p:sp>
      <p:sp>
        <p:nvSpPr>
          <p:cNvPr id="12" name="Shape 10"/>
          <p:cNvSpPr/>
          <p:nvPr/>
        </p:nvSpPr>
        <p:spPr>
          <a:xfrm>
            <a:off x="4754880" y="3063240"/>
            <a:ext cx="3931920" cy="17373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3" name="Shape 11"/>
          <p:cNvSpPr/>
          <p:nvPr/>
        </p:nvSpPr>
        <p:spPr>
          <a:xfrm>
            <a:off x="4754880" y="3063240"/>
            <a:ext cx="54864" cy="1737360"/>
          </a:xfrm>
          <a:prstGeom prst="rect">
            <a:avLst/>
          </a:prstGeom>
          <a:solidFill>
            <a:srgbClr val="E85D04"/>
          </a:solidFill>
          <a:ln/>
        </p:spPr>
        <p:txBody>
          <a:bodyPr/>
          <a:lstStyle/>
          <a:p>
            <a:endParaRPr lang="en-US"/>
          </a:p>
        </p:txBody>
      </p:sp>
      <p:sp>
        <p:nvSpPr>
          <p:cNvPr id="14" name="Text 12"/>
          <p:cNvSpPr/>
          <p:nvPr/>
        </p:nvSpPr>
        <p:spPr>
          <a:xfrm>
            <a:off x="4983480" y="3108960"/>
            <a:ext cx="3474720" cy="274320"/>
          </a:xfrm>
          <a:prstGeom prst="rect">
            <a:avLst/>
          </a:prstGeom>
          <a:noFill/>
          <a:ln/>
        </p:spPr>
        <p:txBody>
          <a:bodyPr wrap="square" lIns="0" tIns="0" rIns="0" bIns="0" rtlCol="0" anchor="ctr"/>
          <a:lstStyle/>
          <a:p>
            <a:pPr marL="0" indent="0">
              <a:buNone/>
            </a:pPr>
            <a:r>
              <a:rPr lang="en-US" sz="1300" b="1" dirty="0">
                <a:solidFill>
                  <a:srgbClr val="E85D04"/>
                </a:solidFill>
                <a:latin typeface="Georgia" pitchFamily="34" charset="0"/>
                <a:ea typeface="Georgia" pitchFamily="34" charset="-122"/>
                <a:cs typeface="Georgia" pitchFamily="34" charset="-120"/>
              </a:rPr>
              <a:t>OIG Research Landscape</a:t>
            </a:r>
            <a:endParaRPr lang="en-US" sz="1300" dirty="0"/>
          </a:p>
        </p:txBody>
      </p:sp>
      <p:sp>
        <p:nvSpPr>
          <p:cNvPr id="15" name="Text 13"/>
          <p:cNvSpPr/>
          <p:nvPr/>
        </p:nvSpPr>
        <p:spPr>
          <a:xfrm>
            <a:off x="4983480" y="3429000"/>
            <a:ext cx="3474720" cy="1188720"/>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Active recent work:</a:t>
            </a:r>
            <a:endParaRPr lang="en-US" sz="1100" dirty="0"/>
          </a:p>
          <a:p>
            <a:pPr marL="0" indent="0">
              <a:buNone/>
            </a:pPr>
            <a:endParaRPr lang="en-US" sz="1100" dirty="0"/>
          </a:p>
          <a:p>
            <a:pPr marL="0" indent="0">
              <a:buNone/>
            </a:pPr>
            <a:r>
              <a:rPr lang="en-US" sz="1000" dirty="0">
                <a:solidFill>
                  <a:srgbClr val="1A1A2E"/>
                </a:solidFill>
                <a:latin typeface="Calibri" pitchFamily="34" charset="0"/>
                <a:ea typeface="Calibri" pitchFamily="34" charset="-122"/>
                <a:cs typeface="Calibri" pitchFamily="34" charset="-120"/>
              </a:rPr>
              <a:t>• Montasser et al. (2022): Adversarial robustness</a:t>
            </a:r>
            <a:endParaRPr lang="en-US" sz="1100" dirty="0"/>
          </a:p>
          <a:p>
            <a:pPr marL="0" indent="0">
              <a:buNone/>
            </a:pPr>
            <a:r>
              <a:rPr lang="en-US" sz="1000" dirty="0">
                <a:solidFill>
                  <a:srgbClr val="1A1A2E"/>
                </a:solidFill>
                <a:latin typeface="Calibri" pitchFamily="34" charset="0"/>
                <a:ea typeface="Calibri" pitchFamily="34" charset="-122"/>
                <a:cs typeface="Calibri" pitchFamily="34" charset="-120"/>
              </a:rPr>
              <a:t>• Aden-Ali et al. (2023): OIG not always optimal</a:t>
            </a:r>
            <a:endParaRPr lang="en-US" sz="1100" dirty="0"/>
          </a:p>
          <a:p>
            <a:pPr marL="0" indent="0">
              <a:buNone/>
            </a:pPr>
            <a:r>
              <a:rPr lang="en-US" sz="1000" dirty="0">
                <a:solidFill>
                  <a:srgbClr val="1A1A2E"/>
                </a:solidFill>
                <a:latin typeface="Calibri" pitchFamily="34" charset="0"/>
                <a:ea typeface="Calibri" pitchFamily="34" charset="-122"/>
                <a:cs typeface="Calibri" pitchFamily="34" charset="-120"/>
              </a:rPr>
              <a:t>• Attias et al. (2023): Regression extensions</a:t>
            </a:r>
            <a:endParaRPr lang="en-US" sz="1100" dirty="0"/>
          </a:p>
          <a:p>
            <a:pPr marL="0" indent="0">
              <a:buNone/>
            </a:pPr>
            <a:r>
              <a:rPr lang="en-US" sz="1000" dirty="0">
                <a:solidFill>
                  <a:srgbClr val="1A1A2E"/>
                </a:solidFill>
                <a:latin typeface="Calibri" pitchFamily="34" charset="0"/>
                <a:ea typeface="Calibri" pitchFamily="34" charset="-122"/>
                <a:cs typeface="Calibri" pitchFamily="34" charset="-120"/>
              </a:rPr>
              <a:t>• Charikar &amp; Pabbaraju (2023): List learning</a:t>
            </a:r>
            <a:endParaRPr lang="en-US" sz="1100" dirty="0"/>
          </a:p>
          <a:p>
            <a:pPr marL="0" indent="0">
              <a:buNone/>
            </a:pPr>
            <a:r>
              <a:rPr lang="en-US" sz="1000" dirty="0">
                <a:solidFill>
                  <a:srgbClr val="1A1A2E"/>
                </a:solidFill>
                <a:latin typeface="Calibri" pitchFamily="34" charset="0"/>
                <a:ea typeface="Calibri" pitchFamily="34" charset="-122"/>
                <a:cs typeface="Calibri" pitchFamily="34" charset="-120"/>
              </a:rPr>
              <a:t>• Dughmi et al. (2024): Transductive learning</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B2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065A82">
              <a:alpha val="60000"/>
            </a:srgbClr>
          </a:solidFill>
          <a:ln/>
        </p:spPr>
        <p:txBody>
          <a:bodyPr/>
          <a:lstStyle/>
          <a:p>
            <a:endParaRPr lang="en-US"/>
          </a:p>
        </p:txBody>
      </p:sp>
      <p:sp>
        <p:nvSpPr>
          <p:cNvPr id="3" name="Shape 1"/>
          <p:cNvSpPr/>
          <p:nvPr/>
        </p:nvSpPr>
        <p:spPr>
          <a:xfrm>
            <a:off x="7315200" y="-914400"/>
            <a:ext cx="3657600" cy="3657600"/>
          </a:xfrm>
          <a:prstGeom prst="ellipse">
            <a:avLst/>
          </a:prstGeom>
          <a:solidFill>
            <a:srgbClr val="1C7293">
              <a:alpha val="60000"/>
            </a:srgbClr>
          </a:solidFill>
          <a:ln/>
        </p:spPr>
        <p:txBody>
          <a:bodyPr/>
          <a:lstStyle/>
          <a:p>
            <a:endParaRPr lang="en-US"/>
          </a:p>
        </p:txBody>
      </p:sp>
      <p:sp>
        <p:nvSpPr>
          <p:cNvPr id="4" name="Text 2"/>
          <p:cNvSpPr/>
          <p:nvPr/>
        </p:nvSpPr>
        <p:spPr>
          <a:xfrm>
            <a:off x="640080" y="228600"/>
            <a:ext cx="7863840" cy="502920"/>
          </a:xfrm>
          <a:prstGeom prst="rect">
            <a:avLst/>
          </a:prstGeom>
          <a:noFill/>
          <a:ln/>
        </p:spPr>
        <p:txBody>
          <a:bodyPr wrap="square" rtlCol="0" anchor="ctr"/>
          <a:lstStyle/>
          <a:p>
            <a:pPr marL="0" indent="0">
              <a:buNone/>
            </a:pPr>
            <a:r>
              <a:rPr lang="en-US" sz="2600" b="1" dirty="0">
                <a:solidFill>
                  <a:srgbClr val="F4C430"/>
                </a:solidFill>
                <a:latin typeface="Georgia" pitchFamily="34" charset="0"/>
                <a:ea typeface="Georgia" pitchFamily="34" charset="-122"/>
                <a:cs typeface="Georgia" pitchFamily="34" charset="-120"/>
              </a:rPr>
              <a:t>Conclusions &amp; Key Takeaways</a:t>
            </a:r>
            <a:endParaRPr lang="en-US" sz="2600" dirty="0"/>
          </a:p>
        </p:txBody>
      </p:sp>
      <p:sp>
        <p:nvSpPr>
          <p:cNvPr id="5" name="Text 3"/>
          <p:cNvSpPr/>
          <p:nvPr/>
        </p:nvSpPr>
        <p:spPr>
          <a:xfrm>
            <a:off x="640080" y="777240"/>
            <a:ext cx="8046720" cy="41148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 The Problem Is Fundamental</a:t>
            </a:r>
            <a:endParaRPr lang="en-US" sz="1400" dirty="0"/>
          </a:p>
          <a:p>
            <a:pPr marL="0" indent="0">
              <a:buNone/>
            </a:pPr>
            <a:endParaRPr lang="en-US" sz="1400" dirty="0"/>
          </a:p>
          <a:p>
            <a:pPr marL="0" indent="0">
              <a:buNone/>
            </a:pPr>
            <a:r>
              <a:rPr lang="en-US" sz="1200" dirty="0">
                <a:solidFill>
                  <a:srgbClr val="CADCFC"/>
                </a:solidFill>
                <a:latin typeface="Calibri" pitchFamily="34" charset="0"/>
                <a:ea typeface="Calibri" pitchFamily="34" charset="-122"/>
                <a:cs typeface="Calibri" pitchFamily="34" charset="-120"/>
              </a:rPr>
              <a:t>   Multiclass is genuinely harder than binary — ERM and SRM provably fail because</a:t>
            </a:r>
            <a:endParaRPr lang="en-US" sz="1400" dirty="0"/>
          </a:p>
          <a:p>
            <a:pPr marL="0" indent="0">
              <a:buNone/>
            </a:pPr>
            <a:endParaRPr lang="en-US" sz="1400" dirty="0"/>
          </a:p>
          <a:p>
            <a:pPr marL="0" indent="0">
              <a:buNone/>
            </a:pPr>
            <a:r>
              <a:rPr lang="en-US" sz="1200" dirty="0">
                <a:solidFill>
                  <a:srgbClr val="CADCFC"/>
                </a:solidFill>
                <a:latin typeface="Calibri" pitchFamily="34" charset="0"/>
                <a:ea typeface="Calibri" pitchFamily="34" charset="-122"/>
                <a:cs typeface="Calibri" pitchFamily="34" charset="-120"/>
              </a:rPr>
              <a:t>   improper learning is necessary. We lack a simple universal algorithm.</a:t>
            </a:r>
            <a:endParaRPr lang="en-US" sz="1400" dirty="0"/>
          </a:p>
          <a:p>
            <a:pPr marL="0" indent="0">
              <a:buNone/>
            </a:pPr>
            <a:endParaRPr lang="en-US" sz="1400" dirty="0"/>
          </a:p>
          <a:p>
            <a:pPr marL="0" indent="0">
              <a:buNone/>
            </a:pP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2. Local Regularization Is the Best Candidate</a:t>
            </a:r>
            <a:endParaRPr lang="en-US" sz="1400" dirty="0"/>
          </a:p>
          <a:p>
            <a:pPr marL="0" indent="0">
              <a:buNone/>
            </a:pPr>
            <a:endParaRPr lang="en-US" sz="1400" dirty="0"/>
          </a:p>
          <a:p>
            <a:pPr marL="0" indent="0">
              <a:buNone/>
            </a:pPr>
            <a:r>
              <a:rPr lang="en-US" sz="1200" dirty="0">
                <a:solidFill>
                  <a:srgbClr val="CADCFC"/>
                </a:solidFill>
                <a:latin typeface="Calibri" pitchFamily="34" charset="0"/>
                <a:ea typeface="Calibri" pitchFamily="34" charset="-122"/>
                <a:cs typeface="Calibri" pitchFamily="34" charset="-120"/>
              </a:rPr>
              <a:t>   ψ(h,x) enables improper learning through “stitching.” Clean formula, clear semantics.</a:t>
            </a:r>
            <a:endParaRPr lang="en-US" sz="1400" dirty="0"/>
          </a:p>
          <a:p>
            <a:pPr marL="0" indent="0">
              <a:buNone/>
            </a:pPr>
            <a:endParaRPr lang="en-US" sz="1400" dirty="0"/>
          </a:p>
          <a:p>
            <a:pPr marL="0" indent="0">
              <a:buNone/>
            </a:pPr>
            <a:r>
              <a:rPr lang="en-US" sz="1200" dirty="0">
                <a:solidFill>
                  <a:srgbClr val="CADCFC"/>
                </a:solidFill>
                <a:latin typeface="Calibri" pitchFamily="34" charset="0"/>
                <a:ea typeface="Calibri" pitchFamily="34" charset="-122"/>
                <a:cs typeface="Calibri" pitchFamily="34" charset="-120"/>
              </a:rPr>
              <a:t>   Unsupervised variant (with access to S) already works. Can we do without S?</a:t>
            </a:r>
            <a:endParaRPr lang="en-US" sz="1400" dirty="0"/>
          </a:p>
          <a:p>
            <a:pPr marL="0" indent="0">
              <a:buNone/>
            </a:pPr>
            <a:endParaRPr lang="en-US" sz="1400" dirty="0"/>
          </a:p>
          <a:p>
            <a:pPr marL="0" indent="0">
              <a:buNone/>
            </a:pP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3. HΔ Is the Key Battleground</a:t>
            </a:r>
            <a:endParaRPr lang="en-US" sz="1400" dirty="0"/>
          </a:p>
          <a:p>
            <a:pPr marL="0" indent="0">
              <a:buNone/>
            </a:pPr>
            <a:endParaRPr lang="en-US" sz="1400" dirty="0"/>
          </a:p>
          <a:p>
            <a:pPr marL="0" indent="0">
              <a:buNone/>
            </a:pPr>
            <a:r>
              <a:rPr lang="en-US" sz="1200" dirty="0">
                <a:solidFill>
                  <a:srgbClr val="CADCFC"/>
                </a:solidFill>
                <a:latin typeface="Calibri" pitchFamily="34" charset="0"/>
                <a:ea typeface="Calibri" pitchFamily="34" charset="-122"/>
                <a:cs typeface="Calibri" pitchFamily="34" charset="-120"/>
              </a:rPr>
              <a:t>   Beautiful symmetric construction. ERM fails. Local reg suspected to fail too.</a:t>
            </a:r>
            <a:endParaRPr lang="en-US" sz="1400" dirty="0"/>
          </a:p>
          <a:p>
            <a:pPr marL="0" indent="0">
              <a:buNone/>
            </a:pPr>
            <a:endParaRPr lang="en-US" sz="1400" dirty="0"/>
          </a:p>
          <a:p>
            <a:pPr marL="0" indent="0">
              <a:buNone/>
            </a:pPr>
            <a:r>
              <a:rPr lang="en-US" sz="1200" dirty="0">
                <a:solidFill>
                  <a:srgbClr val="CADCFC"/>
                </a:solidFill>
                <a:latin typeface="Calibri" pitchFamily="34" charset="0"/>
                <a:ea typeface="Calibri" pitchFamily="34" charset="-122"/>
                <a:cs typeface="Calibri" pitchFamily="34" charset="-120"/>
              </a:rPr>
              <a:t>   But HΔ IS learnable by an algorithm that peeks into S’s label content.</a:t>
            </a:r>
            <a:endParaRPr lang="en-US" sz="1400" dirty="0"/>
          </a:p>
          <a:p>
            <a:pPr marL="0" indent="0">
              <a:buNone/>
            </a:pPr>
            <a:endParaRPr lang="en-US" sz="1400" dirty="0"/>
          </a:p>
          <a:p>
            <a:pPr marL="0" indent="0">
              <a:buNone/>
            </a:pPr>
            <a:endParaRPr lang="en-US" sz="1400" dirty="0"/>
          </a:p>
          <a:p>
            <a:pPr marL="0" indent="0">
              <a:buNone/>
            </a:pPr>
            <a:r>
              <a:rPr lang="en-US" sz="1400" b="1" dirty="0">
                <a:solidFill>
                  <a:srgbClr val="F4C430"/>
                </a:solidFill>
                <a:latin typeface="Calibri" pitchFamily="34" charset="0"/>
                <a:ea typeface="Calibri" pitchFamily="34" charset="-122"/>
                <a:cs typeface="Calibri" pitchFamily="34" charset="-120"/>
              </a:rPr>
              <a:t>4. This Is Still Open — And Either Answer Is Profound</a:t>
            </a:r>
            <a:endParaRPr lang="en-US" sz="1400" dirty="0"/>
          </a:p>
          <a:p>
            <a:pPr marL="0" indent="0">
              <a:buNone/>
            </a:pPr>
            <a:endParaRPr lang="en-US" sz="1400" dirty="0"/>
          </a:p>
          <a:p>
            <a:pPr marL="0" indent="0">
              <a:buNone/>
            </a:pPr>
            <a:r>
              <a:rPr lang="en-US" sz="1200" dirty="0">
                <a:solidFill>
                  <a:srgbClr val="CADCFC"/>
                </a:solidFill>
                <a:latin typeface="Calibri" pitchFamily="34" charset="0"/>
                <a:ea typeface="Calibri" pitchFamily="34" charset="-122"/>
                <a:cs typeface="Calibri" pitchFamily="34" charset="-120"/>
              </a:rPr>
              <a:t>   YES → universal template, OIGs redundant.  NO → training geometry essential, complexity barrier.</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1B2F"/>
        </a:solidFill>
        <a:effectLst/>
      </p:bgPr>
    </p:bg>
    <p:spTree>
      <p:nvGrpSpPr>
        <p:cNvPr id="1" name=""/>
        <p:cNvGrpSpPr/>
        <p:nvPr/>
      </p:nvGrpSpPr>
      <p:grpSpPr>
        <a:xfrm>
          <a:off x="0" y="0"/>
          <a:ext cx="0" cy="0"/>
          <a:chOff x="0" y="0"/>
          <a:chExt cx="0" cy="0"/>
        </a:xfrm>
      </p:grpSpPr>
      <p:sp>
        <p:nvSpPr>
          <p:cNvPr id="2" name="Shape 0"/>
          <p:cNvSpPr/>
          <p:nvPr/>
        </p:nvSpPr>
        <p:spPr>
          <a:xfrm>
            <a:off x="2743200" y="457200"/>
            <a:ext cx="3657600" cy="3657600"/>
          </a:xfrm>
          <a:prstGeom prst="ellipse">
            <a:avLst/>
          </a:prstGeom>
          <a:solidFill>
            <a:srgbClr val="1E2761">
              <a:alpha val="60000"/>
            </a:srgbClr>
          </a:solidFill>
          <a:ln/>
        </p:spPr>
        <p:txBody>
          <a:bodyPr/>
          <a:lstStyle/>
          <a:p>
            <a:endParaRPr lang="en-US"/>
          </a:p>
        </p:txBody>
      </p:sp>
      <p:sp>
        <p:nvSpPr>
          <p:cNvPr id="3" name="Text 1"/>
          <p:cNvSpPr/>
          <p:nvPr/>
        </p:nvSpPr>
        <p:spPr>
          <a:xfrm>
            <a:off x="457200" y="1188720"/>
            <a:ext cx="8229600" cy="914400"/>
          </a:xfrm>
          <a:prstGeom prst="rect">
            <a:avLst/>
          </a:prstGeom>
          <a:noFill/>
          <a:ln/>
        </p:spPr>
        <p:txBody>
          <a:bodyPr wrap="square"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4" name="Text 2"/>
          <p:cNvSpPr/>
          <p:nvPr/>
        </p:nvSpPr>
        <p:spPr>
          <a:xfrm>
            <a:off x="457200" y="2194560"/>
            <a:ext cx="8229600" cy="548640"/>
          </a:xfrm>
          <a:prstGeom prst="rect">
            <a:avLst/>
          </a:prstGeom>
          <a:noFill/>
          <a:ln/>
        </p:spPr>
        <p:txBody>
          <a:bodyPr wrap="square" rtlCol="0" anchor="ctr"/>
          <a:lstStyle/>
          <a:p>
            <a:pPr marL="0" indent="0" algn="ctr">
              <a:buNone/>
            </a:pPr>
            <a:r>
              <a:rPr lang="en-US" sz="2000" dirty="0">
                <a:solidFill>
                  <a:srgbClr val="CADCFC"/>
                </a:solidFill>
                <a:latin typeface="Calibri" pitchFamily="34" charset="0"/>
                <a:ea typeface="Calibri" pitchFamily="34" charset="-122"/>
                <a:cs typeface="Calibri" pitchFamily="34" charset="-120"/>
              </a:rPr>
              <a:t>Questions &amp; Discussion</a:t>
            </a:r>
            <a:endParaRPr lang="en-US" sz="2000" dirty="0"/>
          </a:p>
        </p:txBody>
      </p:sp>
      <p:sp>
        <p:nvSpPr>
          <p:cNvPr id="5" name="Shape 3"/>
          <p:cNvSpPr/>
          <p:nvPr/>
        </p:nvSpPr>
        <p:spPr>
          <a:xfrm>
            <a:off x="3200400" y="2743200"/>
            <a:ext cx="2743200" cy="36576"/>
          </a:xfrm>
          <a:prstGeom prst="rect">
            <a:avLst/>
          </a:prstGeom>
          <a:solidFill>
            <a:srgbClr val="F4C430"/>
          </a:solidFill>
          <a:ln/>
        </p:spPr>
        <p:txBody>
          <a:bodyPr/>
          <a:lstStyle/>
          <a:p>
            <a:endParaRPr lang="en-US"/>
          </a:p>
        </p:txBody>
      </p:sp>
      <p:sp>
        <p:nvSpPr>
          <p:cNvPr id="6" name="Text 4"/>
          <p:cNvSpPr/>
          <p:nvPr/>
        </p:nvSpPr>
        <p:spPr>
          <a:xfrm>
            <a:off x="457200" y="3017520"/>
            <a:ext cx="8229600" cy="731520"/>
          </a:xfrm>
          <a:prstGeom prst="rect">
            <a:avLst/>
          </a:prstGeom>
          <a:noFill/>
          <a:ln/>
        </p:spPr>
        <p:txBody>
          <a:bodyPr wrap="square" rtlCol="0" anchor="ctr"/>
          <a:lstStyle/>
          <a:p>
            <a:pPr marL="0" indent="0" algn="ctr">
              <a:buNone/>
            </a:pPr>
            <a:r>
              <a:rPr lang="en-US" sz="1400" i="1" dirty="0">
                <a:solidFill>
                  <a:srgbClr val="CADCFC"/>
                </a:solidFill>
                <a:latin typeface="Calibri" pitchFamily="34" charset="0"/>
                <a:ea typeface="Calibri" pitchFamily="34" charset="-122"/>
                <a:cs typeface="Calibri" pitchFamily="34" charset="-120"/>
              </a:rPr>
              <a:t>Asilis, Devic, Dughmi, Sharan &amp; Teng</a:t>
            </a:r>
            <a:endParaRPr lang="en-US" sz="1400" dirty="0"/>
          </a:p>
          <a:p>
            <a:pPr marL="0" indent="0" algn="ctr">
              <a:buNone/>
            </a:pPr>
            <a:endParaRPr lang="en-US" sz="1400" dirty="0"/>
          </a:p>
          <a:p>
            <a:pPr marL="0" indent="0" algn="ctr">
              <a:buNone/>
            </a:pPr>
            <a:r>
              <a:rPr lang="en-US" sz="1400" i="1" dirty="0">
                <a:solidFill>
                  <a:srgbClr val="CADCFC"/>
                </a:solidFill>
                <a:latin typeface="Calibri" pitchFamily="34" charset="0"/>
                <a:ea typeface="Calibri" pitchFamily="34" charset="-122"/>
                <a:cs typeface="Calibri" pitchFamily="34" charset="-120"/>
              </a:rPr>
              <a:t>COLT 2024  |  PMLR vol 196  |  pp. 1–5</a:t>
            </a:r>
            <a:endParaRPr lang="en-US" sz="1400" dirty="0"/>
          </a:p>
        </p:txBody>
      </p:sp>
      <p:sp>
        <p:nvSpPr>
          <p:cNvPr id="7" name="Text 5"/>
          <p:cNvSpPr/>
          <p:nvPr/>
        </p:nvSpPr>
        <p:spPr>
          <a:xfrm>
            <a:off x="1371600" y="3840480"/>
            <a:ext cx="6400800" cy="1097280"/>
          </a:xfrm>
          <a:prstGeom prst="rect">
            <a:avLst/>
          </a:prstGeom>
          <a:noFill/>
          <a:ln/>
        </p:spPr>
        <p:txBody>
          <a:bodyPr wrap="square"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Discussion prompts:</a:t>
            </a:r>
            <a:endParaRPr lang="en-US" sz="1100" dirty="0"/>
          </a:p>
          <a:p>
            <a:pPr marL="0" indent="0">
              <a:buNone/>
            </a:pPr>
            <a:endParaRPr lang="en-US" sz="1100" dirty="0"/>
          </a:p>
          <a:p>
            <a:pPr marL="0" indent="0">
              <a:buNone/>
            </a:pPr>
            <a:r>
              <a:rPr lang="en-US" sz="1100" dirty="0">
                <a:solidFill>
                  <a:srgbClr val="CADCFC"/>
                </a:solidFill>
                <a:latin typeface="Calibri" pitchFamily="34" charset="0"/>
                <a:ea typeface="Calibri" pitchFamily="34" charset="-122"/>
                <a:cs typeface="Calibri" pitchFamily="34" charset="-120"/>
              </a:rPr>
              <a:t>• Is HΔ truly a counterexample, or could a clever ψ break the symmetry?</a:t>
            </a:r>
            <a:endParaRPr lang="en-US" sz="1100" dirty="0"/>
          </a:p>
          <a:p>
            <a:pPr marL="0" indent="0">
              <a:buNone/>
            </a:pPr>
            <a:endParaRPr lang="en-US" sz="1100" dirty="0"/>
          </a:p>
          <a:p>
            <a:pPr marL="0" indent="0">
              <a:buNone/>
            </a:pPr>
            <a:r>
              <a:rPr lang="en-US" sz="1100" dirty="0">
                <a:solidFill>
                  <a:srgbClr val="CADCFC"/>
                </a:solidFill>
                <a:latin typeface="Calibri" pitchFamily="34" charset="0"/>
                <a:ea typeface="Calibri" pitchFamily="34" charset="-122"/>
                <a:cs typeface="Calibri" pitchFamily="34" charset="-120"/>
              </a:rPr>
              <a:t>• What practical implications would each resolution have?</a:t>
            </a:r>
            <a:endParaRPr lang="en-US" sz="1100" dirty="0"/>
          </a:p>
          <a:p>
            <a:pPr marL="0" indent="0">
              <a:buNone/>
            </a:pPr>
            <a:endParaRPr lang="en-US" sz="1100" dirty="0"/>
          </a:p>
          <a:p>
            <a:pPr marL="0" indent="0">
              <a:buNone/>
            </a:pPr>
            <a:r>
              <a:rPr lang="en-US" sz="1100" dirty="0">
                <a:solidFill>
                  <a:srgbClr val="CADCFC"/>
                </a:solidFill>
                <a:latin typeface="Calibri" pitchFamily="34" charset="0"/>
                <a:ea typeface="Calibri" pitchFamily="34" charset="-122"/>
                <a:cs typeface="Calibri" pitchFamily="34" charset="-120"/>
              </a:rPr>
              <a:t>• How does this connect to real-world multiclass classifiers (e.g., neural networks)?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8311</Words>
  <Application>Microsoft Office PowerPoint</Application>
  <PresentationFormat>On-screen Show (16:9)</PresentationFormat>
  <Paragraphs>545</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Problem: Can Local Regularization Learn All Multiclass Problems?</dc:title>
  <dc:subject>PptxGenJS Presentation</dc:subject>
  <dc:creator>Student Presenter</dc:creator>
  <cp:lastModifiedBy>Bharadwaj, Mrinal</cp:lastModifiedBy>
  <cp:revision>2</cp:revision>
  <dcterms:created xsi:type="dcterms:W3CDTF">2026-03-10T19:49:28Z</dcterms:created>
  <dcterms:modified xsi:type="dcterms:W3CDTF">2026-03-10T20:02:34Z</dcterms:modified>
</cp:coreProperties>
</file>